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57" r:id="rId3"/>
    <p:sldId id="258" r:id="rId4"/>
    <p:sldId id="259" r:id="rId5"/>
    <p:sldId id="260" r:id="rId6"/>
    <p:sldId id="261" r:id="rId7"/>
    <p:sldId id="262" r:id="rId8"/>
    <p:sldId id="263" r:id="rId9"/>
    <p:sldId id="266" r:id="rId10"/>
    <p:sldId id="265"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94726"/>
  </p:normalViewPr>
  <p:slideViewPr>
    <p:cSldViewPr snapToGrid="0">
      <p:cViewPr>
        <p:scale>
          <a:sx n="102" d="100"/>
          <a:sy n="102" d="100"/>
        </p:scale>
        <p:origin x="1056" y="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9B6C2D2-C58F-5548-A64A-8AD08F679533}" type="datetimeFigureOut">
              <a:rPr lang="en-CN" smtClean="0"/>
              <a:t>2024/9/20</a:t>
            </a:fld>
            <a:endParaRPr lang="en-C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D2947F7-B245-3D42-9440-FA4435798BAB}" type="slidenum">
              <a:rPr lang="en-CN" smtClean="0"/>
              <a:t>‹#›</a:t>
            </a:fld>
            <a:endParaRPr lang="en-C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8124287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2024/9/20</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77260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9B6C2D2-C58F-5548-A64A-8AD08F679533}" type="datetimeFigureOut">
              <a:rPr lang="en-CN" smtClean="0"/>
              <a:t>2024/9/20</a:t>
            </a:fld>
            <a:endParaRPr lang="en-C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258252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B6C2D2-C58F-5548-A64A-8AD08F679533}" type="datetimeFigureOut">
              <a:rPr lang="en-CN" smtClean="0"/>
              <a:t>2024/9/20</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4251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B6C2D2-C58F-5548-A64A-8AD08F679533}" type="datetimeFigureOut">
              <a:rPr lang="en-CN" smtClean="0"/>
              <a:t>2024/9/20</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3855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B6C2D2-C58F-5548-A64A-8AD08F679533}" type="datetimeFigureOut">
              <a:rPr lang="en-CN" smtClean="0"/>
              <a:t>2024/9/20</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50913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6C2D2-C58F-5548-A64A-8AD08F679533}" type="datetimeFigureOut">
              <a:rPr lang="en-CN" smtClean="0"/>
              <a:t>2024/9/20</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11318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2024/9/20</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468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2024/9/20</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9635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2024/9/20</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212609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2024/9/20</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986111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9B6C2D2-C58F-5548-A64A-8AD08F679533}" type="datetimeFigureOut">
              <a:rPr lang="en-CN" smtClean="0"/>
              <a:t>2024/9/20</a:t>
            </a:fld>
            <a:endParaRPr lang="en-C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C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D2947F7-B245-3D42-9440-FA4435798BAB}" type="slidenum">
              <a:rPr lang="en-CN" smtClean="0"/>
              <a:t>‹#›</a:t>
            </a:fld>
            <a:endParaRPr lang="en-C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77172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680CA-58BE-ED2F-DC5F-AFB5A5B47AFC}"/>
              </a:ext>
            </a:extLst>
          </p:cNvPr>
          <p:cNvSpPr>
            <a:spLocks noGrp="1"/>
          </p:cNvSpPr>
          <p:nvPr>
            <p:ph type="ctrTitle"/>
          </p:nvPr>
        </p:nvSpPr>
        <p:spPr>
          <a:xfrm>
            <a:off x="1892745" y="2300180"/>
            <a:ext cx="8406508" cy="2071735"/>
          </a:xfrm>
        </p:spPr>
        <p:txBody>
          <a:bodyPr/>
          <a:lstStyle/>
          <a:p>
            <a:r>
              <a:rPr lang="en-CN" dirty="0">
                <a:latin typeface="Times New Roman" panose="02020603050405020304" pitchFamily="18" charset="0"/>
                <a:cs typeface="Times New Roman" panose="02020603050405020304" pitchFamily="18" charset="0"/>
              </a:rPr>
              <a:t>A Two DoF Self Adaptive Bionic Ankle</a:t>
            </a:r>
          </a:p>
        </p:txBody>
      </p:sp>
      <p:sp>
        <p:nvSpPr>
          <p:cNvPr id="3" name="Subtitle 2">
            <a:extLst>
              <a:ext uri="{FF2B5EF4-FFF2-40B4-BE49-F238E27FC236}">
                <a16:creationId xmlns:a16="http://schemas.microsoft.com/office/drawing/2014/main" id="{C024A849-4908-56D8-64A8-8D1E085090F0}"/>
              </a:ext>
            </a:extLst>
          </p:cNvPr>
          <p:cNvSpPr>
            <a:spLocks noGrp="1"/>
          </p:cNvSpPr>
          <p:nvPr>
            <p:ph type="subTitle" idx="1"/>
          </p:nvPr>
        </p:nvSpPr>
        <p:spPr>
          <a:xfrm>
            <a:off x="2680163" y="4371915"/>
            <a:ext cx="6831673" cy="1086237"/>
          </a:xfrm>
        </p:spPr>
        <p:txBody>
          <a:bodyPr/>
          <a:lstStyle/>
          <a:p>
            <a:r>
              <a:rPr lang="en-CN" dirty="0">
                <a:latin typeface="Times New Roman" panose="02020603050405020304" pitchFamily="18" charset="0"/>
                <a:cs typeface="Times New Roman" panose="02020603050405020304" pitchFamily="18" charset="0"/>
              </a:rPr>
              <a:t>Shanghai High School International Division</a:t>
            </a:r>
          </a:p>
          <a:p>
            <a:r>
              <a:rPr lang="en-CN" dirty="0">
                <a:latin typeface="Times New Roman" panose="02020603050405020304" pitchFamily="18" charset="0"/>
                <a:cs typeface="Times New Roman" panose="02020603050405020304" pitchFamily="18" charset="0"/>
              </a:rPr>
              <a:t>Justin Guo</a:t>
            </a:r>
          </a:p>
        </p:txBody>
      </p:sp>
    </p:spTree>
    <p:extLst>
      <p:ext uri="{BB962C8B-B14F-4D97-AF65-F5344CB8AC3E}">
        <p14:creationId xmlns:p14="http://schemas.microsoft.com/office/powerpoint/2010/main" val="337070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98CA5AE-F2E4-4A6F-B986-89804B1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F5595E-CA13-D84C-033B-2FFEC4D8BA72}"/>
              </a:ext>
            </a:extLst>
          </p:cNvPr>
          <p:cNvSpPr>
            <a:spLocks noGrp="1"/>
          </p:cNvSpPr>
          <p:nvPr>
            <p:ph type="title"/>
          </p:nvPr>
        </p:nvSpPr>
        <p:spPr>
          <a:xfrm>
            <a:off x="784743" y="685800"/>
            <a:ext cx="5793475" cy="1485900"/>
          </a:xfrm>
        </p:spPr>
        <p:txBody>
          <a:bodyPr>
            <a:normAutofit/>
          </a:bodyPr>
          <a:lstStyle/>
          <a:p>
            <a:r>
              <a:rPr lang="en-CN" dirty="0">
                <a:latin typeface="Times New Roman" panose="02020603050405020304" pitchFamily="18" charset="0"/>
                <a:cs typeface="Times New Roman" panose="02020603050405020304" pitchFamily="18" charset="0"/>
              </a:rPr>
              <a:t>Background Signficance and Proposal</a:t>
            </a:r>
          </a:p>
        </p:txBody>
      </p:sp>
      <p:sp>
        <p:nvSpPr>
          <p:cNvPr id="3" name="Content Placeholder 2">
            <a:extLst>
              <a:ext uri="{FF2B5EF4-FFF2-40B4-BE49-F238E27FC236}">
                <a16:creationId xmlns:a16="http://schemas.microsoft.com/office/drawing/2014/main" id="{8EF00257-F331-F55C-5BE3-A7383AE94B3A}"/>
              </a:ext>
            </a:extLst>
          </p:cNvPr>
          <p:cNvSpPr>
            <a:spLocks noGrp="1"/>
          </p:cNvSpPr>
          <p:nvPr>
            <p:ph idx="1"/>
          </p:nvPr>
        </p:nvSpPr>
        <p:spPr>
          <a:xfrm>
            <a:off x="784743" y="2016691"/>
            <a:ext cx="5793475" cy="4850766"/>
          </a:xfrm>
        </p:spPr>
        <p:txBody>
          <a:bodyPr>
            <a:normAutofit/>
          </a:bodyPr>
          <a:lstStyle/>
          <a:p>
            <a:r>
              <a:rPr lang="en-US" sz="1400" dirty="0">
                <a:latin typeface="Times New Roman" panose="02020603050405020304" pitchFamily="18" charset="0"/>
                <a:cs typeface="Times New Roman" panose="02020603050405020304" pitchFamily="18" charset="0"/>
              </a:rPr>
              <a:t>For a human robot, any part of the system needs careful consideration. For robots that focuses more on movement ability, including needing the ability to move through rough terrain and great vertical distance. These robots may take the role to traverse through mountain area, rescue people in a building, or going on a mission to Mars. Using humanoid robots on Mars gives it unchallenged flexibility on exploring and traversing the landscape on Mars.</a:t>
            </a:r>
          </a:p>
          <a:p>
            <a:r>
              <a:rPr lang="en-US" sz="1400" b="1" u="sng" dirty="0">
                <a:latin typeface="Times New Roman" panose="02020603050405020304" pitchFamily="18" charset="0"/>
                <a:cs typeface="Times New Roman" panose="02020603050405020304" pitchFamily="18" charset="0"/>
              </a:rPr>
              <a:t>Proposal: A good leg, or more specific, a good ankle will help the robots to traverse better in complex environments.</a:t>
            </a:r>
          </a:p>
          <a:p>
            <a:r>
              <a:rPr lang="en-US" sz="1400" dirty="0">
                <a:latin typeface="Times New Roman" panose="02020603050405020304" pitchFamily="18" charset="0"/>
                <a:cs typeface="Times New Roman" panose="02020603050405020304" pitchFamily="18" charset="0"/>
              </a:rPr>
              <a:t>Which will include: </a:t>
            </a:r>
          </a:p>
          <a:p>
            <a:r>
              <a:rPr lang="en-US" sz="1400" dirty="0">
                <a:latin typeface="Times New Roman" panose="02020603050405020304" pitchFamily="18" charset="0"/>
                <a:cs typeface="Times New Roman" panose="02020603050405020304" pitchFamily="18" charset="0"/>
              </a:rPr>
              <a:t>an additional motor to control not only the leg's dorsiflexion and plantar flexion, but also </a:t>
            </a:r>
            <a:r>
              <a:rPr lang="en-US" sz="1400" b="1" dirty="0">
                <a:latin typeface="Times New Roman" panose="02020603050405020304" pitchFamily="18" charset="0"/>
                <a:cs typeface="Times New Roman" panose="02020603050405020304" pitchFamily="18" charset="0"/>
              </a:rPr>
              <a:t>inversion and eversion movement </a:t>
            </a:r>
            <a:r>
              <a:rPr lang="en-US" sz="1400" dirty="0">
                <a:latin typeface="Times New Roman" panose="02020603050405020304" pitchFamily="18" charset="0"/>
                <a:cs typeface="Times New Roman" panose="02020603050405020304" pitchFamily="18" charset="0"/>
              </a:rPr>
              <a:t>of an ankle. </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a self adaptive program </a:t>
            </a:r>
            <a:r>
              <a:rPr lang="en-US" sz="1400" dirty="0">
                <a:latin typeface="Times New Roman" panose="02020603050405020304" pitchFamily="18" charset="0"/>
                <a:cs typeface="Times New Roman" panose="02020603050405020304" pitchFamily="18" charset="0"/>
              </a:rPr>
              <a:t>for it to aid walking using the combination of IMU and laser distance sensors. </a:t>
            </a:r>
          </a:p>
          <a:p>
            <a:r>
              <a:rPr lang="en-US" sz="1400" b="1" dirty="0">
                <a:latin typeface="Times New Roman" panose="02020603050405020304" pitchFamily="18" charset="0"/>
                <a:cs typeface="Times New Roman" panose="02020603050405020304" pitchFamily="18" charset="0"/>
              </a:rPr>
              <a:t>the usage of strings and motor </a:t>
            </a:r>
            <a:r>
              <a:rPr lang="en-US" sz="1400" dirty="0">
                <a:latin typeface="Times New Roman" panose="02020603050405020304" pitchFamily="18" charset="0"/>
                <a:cs typeface="Times New Roman" panose="02020603050405020304" pitchFamily="18" charset="0"/>
              </a:rPr>
              <a:t>to simulate the muscles in human leg</a:t>
            </a:r>
          </a:p>
          <a:p>
            <a:r>
              <a:rPr lang="en-US" sz="1400" b="1" dirty="0">
                <a:latin typeface="Times New Roman" panose="02020603050405020304" pitchFamily="18" charset="0"/>
                <a:cs typeface="Times New Roman" panose="02020603050405020304" pitchFamily="18" charset="0"/>
              </a:rPr>
              <a:t>the usage of springs</a:t>
            </a:r>
            <a:r>
              <a:rPr lang="en-US" sz="1400" dirty="0">
                <a:latin typeface="Times New Roman" panose="02020603050405020304" pitchFamily="18" charset="0"/>
                <a:cs typeface="Times New Roman" panose="02020603050405020304" pitchFamily="18" charset="0"/>
              </a:rPr>
              <a:t> to simulate the shock absorption mechanics in human leg</a:t>
            </a:r>
            <a:endParaRPr lang="en-CN" sz="1400" dirty="0"/>
          </a:p>
          <a:p>
            <a:endParaRPr lang="en-CN" sz="1400" dirty="0"/>
          </a:p>
        </p:txBody>
      </p:sp>
      <p:pic>
        <p:nvPicPr>
          <p:cNvPr id="4" name="Picture 3">
            <a:extLst>
              <a:ext uri="{FF2B5EF4-FFF2-40B4-BE49-F238E27FC236}">
                <a16:creationId xmlns:a16="http://schemas.microsoft.com/office/drawing/2014/main" id="{8BE09806-1C31-8A97-E609-E71A477603B6}"/>
              </a:ext>
            </a:extLst>
          </p:cNvPr>
          <p:cNvPicPr>
            <a:picLocks noChangeAspect="1"/>
          </p:cNvPicPr>
          <p:nvPr/>
        </p:nvPicPr>
        <p:blipFill>
          <a:blip r:embed="rId2"/>
          <a:srcRect l="18101" r="7312"/>
          <a:stretch/>
        </p:blipFill>
        <p:spPr>
          <a:xfrm>
            <a:off x="7612260" y="-1"/>
            <a:ext cx="4579739" cy="3438457"/>
          </a:xfrm>
          <a:prstGeom prst="rect">
            <a:avLst/>
          </a:prstGeom>
        </p:spPr>
      </p:pic>
      <p:sp>
        <p:nvSpPr>
          <p:cNvPr id="20" name="Rectangle 19">
            <a:extLst>
              <a:ext uri="{FF2B5EF4-FFF2-40B4-BE49-F238E27FC236}">
                <a16:creationId xmlns:a16="http://schemas.microsoft.com/office/drawing/2014/main" id="{E67E3959-D0D8-49DB-A48B-CE4FC3687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a:extLst>
              <a:ext uri="{FF2B5EF4-FFF2-40B4-BE49-F238E27FC236}">
                <a16:creationId xmlns:a16="http://schemas.microsoft.com/office/drawing/2014/main" id="{1E390260-62AD-B13A-0359-02F63C3AF5EF}"/>
              </a:ext>
            </a:extLst>
          </p:cNvPr>
          <p:cNvPicPr>
            <a:picLocks noChangeAspect="1"/>
          </p:cNvPicPr>
          <p:nvPr/>
        </p:nvPicPr>
        <p:blipFill>
          <a:blip r:embed="rId3"/>
          <a:srcRect l="8332" r="-3" b="-3"/>
          <a:stretch/>
        </p:blipFill>
        <p:spPr>
          <a:xfrm>
            <a:off x="7612260" y="3438457"/>
            <a:ext cx="4579739" cy="3429000"/>
          </a:xfrm>
          <a:prstGeom prst="rect">
            <a:avLst/>
          </a:prstGeom>
        </p:spPr>
      </p:pic>
    </p:spTree>
    <p:extLst>
      <p:ext uri="{BB962C8B-B14F-4D97-AF65-F5344CB8AC3E}">
        <p14:creationId xmlns:p14="http://schemas.microsoft.com/office/powerpoint/2010/main" val="595308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8C110B4-D26A-44C6-8576-236CA24E9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1021750" y="4278245"/>
            <a:ext cx="4913384" cy="1762969"/>
          </a:xfrm>
        </p:spPr>
        <p:txBody>
          <a:bodyPr vert="horz" lIns="91440" tIns="45720" rIns="91440" bIns="45720" rtlCol="0" anchor="t">
            <a:normAutofit/>
          </a:bodyPr>
          <a:lstStyle/>
          <a:p>
            <a:r>
              <a:rPr lang="en-US" dirty="0">
                <a:latin typeface="Times New Roman" panose="02020603050405020304" pitchFamily="18" charset="0"/>
                <a:cs typeface="Times New Roman" panose="02020603050405020304" pitchFamily="18" charset="0"/>
              </a:rPr>
              <a:t>Theoretical Design</a:t>
            </a:r>
          </a:p>
        </p:txBody>
      </p:sp>
      <p:pic>
        <p:nvPicPr>
          <p:cNvPr id="10" name="Picture 9" descr="A chart of a body parts&#10;&#10;Description automatically generated with medium confidence">
            <a:extLst>
              <a:ext uri="{FF2B5EF4-FFF2-40B4-BE49-F238E27FC236}">
                <a16:creationId xmlns:a16="http://schemas.microsoft.com/office/drawing/2014/main" id="{46D96340-BE9A-0A83-CB13-EE16FA11E15A}"/>
              </a:ext>
            </a:extLst>
          </p:cNvPr>
          <p:cNvPicPr>
            <a:picLocks noChangeAspect="1"/>
          </p:cNvPicPr>
          <p:nvPr/>
        </p:nvPicPr>
        <p:blipFill>
          <a:blip r:embed="rId2"/>
          <a:stretch>
            <a:fillRect/>
          </a:stretch>
        </p:blipFill>
        <p:spPr>
          <a:xfrm>
            <a:off x="643466" y="823119"/>
            <a:ext cx="5291668" cy="2553229"/>
          </a:xfrm>
          <a:prstGeom prst="rect">
            <a:avLst/>
          </a:prstGeom>
        </p:spPr>
      </p:pic>
      <p:pic>
        <p:nvPicPr>
          <p:cNvPr id="8" name="Content Placeholder 7" descr="A diagram of a human body&#10;&#10;Description automatically generated">
            <a:extLst>
              <a:ext uri="{FF2B5EF4-FFF2-40B4-BE49-F238E27FC236}">
                <a16:creationId xmlns:a16="http://schemas.microsoft.com/office/drawing/2014/main" id="{D29CC4A4-3E8E-CEFB-403C-C872E7B59016}"/>
              </a:ext>
            </a:extLst>
          </p:cNvPr>
          <p:cNvPicPr>
            <a:picLocks noGrp="1" noChangeAspect="1"/>
          </p:cNvPicPr>
          <p:nvPr>
            <p:ph idx="1"/>
          </p:nvPr>
        </p:nvPicPr>
        <p:blipFill>
          <a:blip r:embed="rId3"/>
          <a:stretch>
            <a:fillRect/>
          </a:stretch>
        </p:blipFill>
        <p:spPr>
          <a:xfrm>
            <a:off x="6256865" y="717286"/>
            <a:ext cx="5291667" cy="2764895"/>
          </a:xfrm>
          <a:prstGeom prst="rect">
            <a:avLst/>
          </a:prstGeom>
        </p:spPr>
      </p:pic>
      <p:sp>
        <p:nvSpPr>
          <p:cNvPr id="17" name="Freeform: Shape 16">
            <a:extLst>
              <a:ext uri="{FF2B5EF4-FFF2-40B4-BE49-F238E27FC236}">
                <a16:creationId xmlns:a16="http://schemas.microsoft.com/office/drawing/2014/main" id="{5BFD4DBB-3229-4DF6-A68A-CD91F8325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434936" y="3856976"/>
            <a:ext cx="1957171" cy="1103687"/>
          </a:xfrm>
          <a:custGeom>
            <a:avLst/>
            <a:gdLst>
              <a:gd name="connsiteX0" fmla="*/ 2017702 w 2017702"/>
              <a:gd name="connsiteY0" fmla="*/ 1137821 h 1137821"/>
              <a:gd name="connsiteX1" fmla="*/ 404 w 2017702"/>
              <a:gd name="connsiteY1" fmla="*/ 1137821 h 1137821"/>
              <a:gd name="connsiteX2" fmla="*/ 0 w 2017702"/>
              <a:gd name="connsiteY2" fmla="*/ 900216 h 1137821"/>
              <a:gd name="connsiteX3" fmla="*/ 1767759 w 2017702"/>
              <a:gd name="connsiteY3" fmla="*/ 901031 h 1137821"/>
              <a:gd name="connsiteX4" fmla="*/ 1767759 w 2017702"/>
              <a:gd name="connsiteY4" fmla="*/ 0 h 1137821"/>
              <a:gd name="connsiteX5" fmla="*/ 2017702 w 2017702"/>
              <a:gd name="connsiteY5" fmla="*/ 0 h 113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7702" h="1137821">
                <a:moveTo>
                  <a:pt x="2017702" y="1137821"/>
                </a:moveTo>
                <a:lnTo>
                  <a:pt x="404" y="1137821"/>
                </a:lnTo>
                <a:cubicBezTo>
                  <a:pt x="-404" y="1055814"/>
                  <a:pt x="807" y="982224"/>
                  <a:pt x="0" y="900216"/>
                </a:cubicBezTo>
                <a:lnTo>
                  <a:pt x="1767759" y="901031"/>
                </a:lnTo>
                <a:lnTo>
                  <a:pt x="1767759" y="0"/>
                </a:lnTo>
                <a:lnTo>
                  <a:pt x="2017702" y="0"/>
                </a:lnTo>
                <a:close/>
              </a:path>
            </a:pathLst>
          </a:custGeom>
          <a:solidFill>
            <a:schemeClr val="tx2">
              <a:alpha val="80000"/>
            </a:schemeClr>
          </a:solidFill>
          <a:ln w="0">
            <a:noFill/>
            <a:prstDash val="solid"/>
            <a:round/>
            <a:headEnd/>
            <a:tailEnd/>
          </a:ln>
        </p:spPr>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1B118D9-16BB-01D2-57C9-96C4AA1A44DE}"/>
                  </a:ext>
                </a:extLst>
              </p:cNvPr>
              <p:cNvSpPr txBox="1"/>
              <p:nvPr/>
            </p:nvSpPr>
            <p:spPr>
              <a:xfrm>
                <a:off x="6166946" y="3969327"/>
                <a:ext cx="5291667" cy="2389766"/>
              </a:xfrm>
              <a:prstGeom prst="rect">
                <a:avLst/>
              </a:prstGeom>
            </p:spPr>
            <p:txBody>
              <a:bodyPr vert="horz" lIns="91440" tIns="45720" rIns="91440" bIns="45720" rtlCol="0">
                <a:normAutofit fontScale="70000" lnSpcReduction="20000"/>
              </a:bodyPr>
              <a:lstStyle/>
              <a:p>
                <a:pPr marL="384048" indent="-384048" defTabSz="914400">
                  <a:lnSpc>
                    <a:spcPct val="94000"/>
                  </a:lnSpc>
                  <a:spcBef>
                    <a:spcPts val="1000"/>
                  </a:spcBef>
                  <a:spcAft>
                    <a:spcPts val="200"/>
                  </a:spcAft>
                  <a:buFont typeface="Franklin Gothic Book" panose="020B05030201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bionic ankle mimics a human ankle in many ways, including joint, muscles, ligaments, and bones. </a:t>
                </a:r>
              </a:p>
              <a:p>
                <a:pPr marL="384048" indent="-384048" defTabSz="914400">
                  <a:lnSpc>
                    <a:spcPct val="94000"/>
                  </a:lnSpc>
                  <a:spcBef>
                    <a:spcPts val="1000"/>
                  </a:spcBef>
                  <a:spcAft>
                    <a:spcPts val="200"/>
                  </a:spcAft>
                  <a:buFont typeface="Franklin Gothic Book" panose="020B05030201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torque of the ankle can be calculated as </a:t>
                </a:r>
                <a14:m>
                  <m:oMath xmlns:m="http://schemas.openxmlformats.org/officeDocument/2006/math">
                    <m:sSub>
                      <m:sSubPr>
                        <m:ctrlPr>
                          <a:rPr lang="en-US" sz="2000" i="1">
                            <a:solidFill>
                              <a:schemeClr val="tx2"/>
                            </a:solidFill>
                            <a:latin typeface="Cambria Math" panose="02040503050406030204" pitchFamily="18" charset="0"/>
                          </a:rPr>
                        </m:ctrlPr>
                      </m:sSubPr>
                      <m:e>
                        <m:r>
                          <a:rPr lang="en-US" sz="2000" b="0" i="1">
                            <a:solidFill>
                              <a:schemeClr val="tx2"/>
                            </a:solidFill>
                            <a:latin typeface="Cambria Math" panose="02040503050406030204" pitchFamily="18" charset="0"/>
                          </a:rPr>
                          <m:t>𝑇</m:t>
                        </m:r>
                      </m:e>
                      <m:sub>
                        <m:r>
                          <a:rPr lang="en-US" sz="2000" b="0" i="1">
                            <a:solidFill>
                              <a:schemeClr val="tx2"/>
                            </a:solidFill>
                            <a:latin typeface="Cambria Math" panose="02040503050406030204" pitchFamily="18" charset="0"/>
                          </a:rPr>
                          <m:t>𝑚𝑜𝑡𝑜𝑟</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r>
                          <a:rPr lang="en-US" sz="2000" b="0" i="1">
                            <a:solidFill>
                              <a:schemeClr val="tx2"/>
                            </a:solidFill>
                            <a:latin typeface="Cambria Math" panose="02040503050406030204" pitchFamily="18" charset="0"/>
                          </a:rPr>
                          <m:t>𝑑</m:t>
                        </m:r>
                        <m:r>
                          <a:rPr lang="en-US" sz="2000" b="0" i="1">
                            <a:solidFill>
                              <a:schemeClr val="tx2"/>
                            </a:solidFill>
                            <a:latin typeface="Cambria Math" panose="02040503050406030204" pitchFamily="18" charset="0"/>
                          </a:rPr>
                          <m:t>1+</m:t>
                        </m:r>
                        <m:r>
                          <a:rPr lang="en-US" sz="2000" b="0" i="1">
                            <a:solidFill>
                              <a:schemeClr val="tx2"/>
                            </a:solidFill>
                            <a:latin typeface="Cambria Math" panose="02040503050406030204" pitchFamily="18" charset="0"/>
                          </a:rPr>
                          <m:t>𝑑</m:t>
                        </m:r>
                        <m:r>
                          <a:rPr lang="en-US" sz="2000" b="0" i="1">
                            <a:solidFill>
                              <a:schemeClr val="tx2"/>
                            </a:solidFill>
                            <a:latin typeface="Cambria Math" panose="02040503050406030204" pitchFamily="18" charset="0"/>
                          </a:rPr>
                          <m:t>2</m:t>
                        </m:r>
                      </m:num>
                      <m:den>
                        <m:r>
                          <a:rPr lang="en-US" sz="2000" b="0" i="1">
                            <a:solidFill>
                              <a:schemeClr val="tx2"/>
                            </a:solidFill>
                            <a:latin typeface="Cambria Math" panose="02040503050406030204" pitchFamily="18" charset="0"/>
                          </a:rPr>
                          <m:t>𝑟</m:t>
                        </m:r>
                      </m:den>
                    </m:f>
                  </m:oMath>
                </a14:m>
                <a:endParaRPr lang="en-US" sz="2000" dirty="0">
                  <a:solidFill>
                    <a:schemeClr val="tx2"/>
                  </a:solidFill>
                  <a:latin typeface="Times New Roman" panose="02020603050405020304" pitchFamily="18" charset="0"/>
                  <a:cs typeface="Times New Roman" panose="02020603050405020304" pitchFamily="18" charset="0"/>
                </a:endParaRPr>
              </a:p>
              <a:p>
                <a:pPr marL="384048" indent="-384048" defTabSz="914400">
                  <a:lnSpc>
                    <a:spcPct val="94000"/>
                  </a:lnSpc>
                  <a:spcBef>
                    <a:spcPts val="1000"/>
                  </a:spcBef>
                  <a:spcAft>
                    <a:spcPts val="200"/>
                  </a:spcAft>
                  <a:buFont typeface="Franklin Gothic Book" panose="020B05030201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Where d1 is the distance of the front string to the ankle, d2 is the distance of the back string to the ankle, T is the torque of the motor, and r is the radius of the axle.</a:t>
                </a:r>
              </a:p>
              <a:p>
                <a:pPr marL="384048" indent="-384048" defTabSz="914400">
                  <a:lnSpc>
                    <a:spcPct val="94000"/>
                  </a:lnSpc>
                  <a:spcBef>
                    <a:spcPts val="1000"/>
                  </a:spcBef>
                  <a:spcAft>
                    <a:spcPts val="200"/>
                  </a:spcAft>
                  <a:buFont typeface="Franklin Gothic Book" panose="020B05030201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height of the whole ankle should be 500 mm, which is human’s knee down length.</a:t>
                </a:r>
              </a:p>
              <a:p>
                <a:pPr marL="384048" indent="-384048" defTabSz="914400">
                  <a:lnSpc>
                    <a:spcPct val="94000"/>
                  </a:lnSpc>
                  <a:spcBef>
                    <a:spcPts val="1000"/>
                  </a:spcBef>
                  <a:spcAft>
                    <a:spcPts val="200"/>
                  </a:spcAft>
                  <a:buFont typeface="Franklin Gothic Book" panose="020B05030201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maximum angle of ankle should generally be close to the actual numbers</a:t>
                </a:r>
              </a:p>
              <a:p>
                <a:pPr marL="384048" indent="-384048" defTabSz="914400">
                  <a:lnSpc>
                    <a:spcPct val="94000"/>
                  </a:lnSpc>
                  <a:spcBef>
                    <a:spcPts val="1000"/>
                  </a:spcBef>
                  <a:spcAft>
                    <a:spcPts val="200"/>
                  </a:spcAft>
                  <a:buFont typeface="Franklin Gothic Book" panose="020B0503020102020204" pitchFamily="34" charset="0"/>
                  <a:buChar char="•"/>
                </a:pPr>
                <a:endParaRPr lang="en-US" sz="900" dirty="0">
                  <a:solidFill>
                    <a:schemeClr val="tx2"/>
                  </a:solidFill>
                </a:endParaRPr>
              </a:p>
            </p:txBody>
          </p:sp>
        </mc:Choice>
        <mc:Fallback>
          <p:sp>
            <p:nvSpPr>
              <p:cNvPr id="6" name="TextBox 5">
                <a:extLst>
                  <a:ext uri="{FF2B5EF4-FFF2-40B4-BE49-F238E27FC236}">
                    <a16:creationId xmlns:a16="http://schemas.microsoft.com/office/drawing/2014/main" id="{31B118D9-16BB-01D2-57C9-96C4AA1A44DE}"/>
                  </a:ext>
                </a:extLst>
              </p:cNvPr>
              <p:cNvSpPr txBox="1">
                <a:spLocks noRot="1" noChangeAspect="1" noMove="1" noResize="1" noEditPoints="1" noAdjustHandles="1" noChangeArrowheads="1" noChangeShapeType="1" noTextEdit="1"/>
              </p:cNvSpPr>
              <p:nvPr/>
            </p:nvSpPr>
            <p:spPr>
              <a:xfrm>
                <a:off x="6166946" y="3969327"/>
                <a:ext cx="5291667" cy="2389766"/>
              </a:xfrm>
              <a:prstGeom prst="rect">
                <a:avLst/>
              </a:prstGeom>
              <a:blipFill>
                <a:blip r:embed="rId4"/>
                <a:stretch>
                  <a:fillRect l="-239" t="-3175" b="-1587"/>
                </a:stretch>
              </a:blipFill>
            </p:spPr>
            <p:txBody>
              <a:bodyPr/>
              <a:lstStyle/>
              <a:p>
                <a:r>
                  <a:rPr lang="en-CN">
                    <a:noFill/>
                  </a:rPr>
                  <a:t> </a:t>
                </a:r>
              </a:p>
            </p:txBody>
          </p:sp>
        </mc:Fallback>
      </mc:AlternateContent>
      <p:sp>
        <p:nvSpPr>
          <p:cNvPr id="12" name="Freeform: Shape 18">
            <a:extLst>
              <a:ext uri="{FF2B5EF4-FFF2-40B4-BE49-F238E27FC236}">
                <a16:creationId xmlns:a16="http://schemas.microsoft.com/office/drawing/2014/main" id="{792979E5-1F93-4CE3-975E-3CAEC618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796837" y="5311230"/>
            <a:ext cx="2042265" cy="1213486"/>
          </a:xfrm>
          <a:custGeom>
            <a:avLst/>
            <a:gdLst>
              <a:gd name="connsiteX0" fmla="*/ 1844618 w 2105428"/>
              <a:gd name="connsiteY0" fmla="*/ 0 h 1251016"/>
              <a:gd name="connsiteX1" fmla="*/ 2105428 w 2105428"/>
              <a:gd name="connsiteY1" fmla="*/ 0 h 1251016"/>
              <a:gd name="connsiteX2" fmla="*/ 2105428 w 2105428"/>
              <a:gd name="connsiteY2" fmla="*/ 1251016 h 1251016"/>
              <a:gd name="connsiteX3" fmla="*/ 421 w 2105428"/>
              <a:gd name="connsiteY3" fmla="*/ 1251016 h 1251016"/>
              <a:gd name="connsiteX4" fmla="*/ 0 w 2105428"/>
              <a:gd name="connsiteY4" fmla="*/ 1003081 h 1251016"/>
              <a:gd name="connsiteX5" fmla="*/ 1844618 w 2105428"/>
              <a:gd name="connsiteY5" fmla="*/ 1003931 h 12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5428" h="1251016">
                <a:moveTo>
                  <a:pt x="1844618" y="0"/>
                </a:moveTo>
                <a:lnTo>
                  <a:pt x="2105428" y="0"/>
                </a:lnTo>
                <a:lnTo>
                  <a:pt x="2105428" y="1251016"/>
                </a:lnTo>
                <a:lnTo>
                  <a:pt x="421" y="1251016"/>
                </a:lnTo>
                <a:cubicBezTo>
                  <a:pt x="-421" y="1165443"/>
                  <a:pt x="842" y="1088654"/>
                  <a:pt x="0" y="1003081"/>
                </a:cubicBezTo>
                <a:lnTo>
                  <a:pt x="1844618" y="1003931"/>
                </a:lnTo>
                <a:close/>
              </a:path>
            </a:pathLst>
          </a:custGeom>
          <a:solidFill>
            <a:schemeClr val="tx2">
              <a:alpha val="80000"/>
            </a:schemeClr>
          </a:solidFill>
          <a:ln w="0">
            <a:noFill/>
            <a:prstDash val="solid"/>
            <a:round/>
            <a:headEnd/>
            <a:tailEnd/>
          </a:ln>
        </p:spPr>
      </p:sp>
    </p:spTree>
    <p:extLst>
      <p:ext uri="{BB962C8B-B14F-4D97-AF65-F5344CB8AC3E}">
        <p14:creationId xmlns:p14="http://schemas.microsoft.com/office/powerpoint/2010/main" val="117884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16">
            <a:extLst>
              <a:ext uri="{FF2B5EF4-FFF2-40B4-BE49-F238E27FC236}">
                <a16:creationId xmlns:a16="http://schemas.microsoft.com/office/drawing/2014/main" id="{D9D9D0AB-1E2F-44A8-B9C6-FA4098301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0A620B-E66B-5957-16A5-2E952D8FFD01}"/>
              </a:ext>
            </a:extLst>
          </p:cNvPr>
          <p:cNvSpPr>
            <a:spLocks noGrp="1"/>
          </p:cNvSpPr>
          <p:nvPr>
            <p:ph type="title"/>
          </p:nvPr>
        </p:nvSpPr>
        <p:spPr>
          <a:xfrm>
            <a:off x="903514" y="3665054"/>
            <a:ext cx="9697586" cy="1048459"/>
          </a:xfrm>
        </p:spPr>
        <p:txBody>
          <a:bodyPr anchor="ctr">
            <a:normAutofit/>
          </a:bodyPr>
          <a:lstStyle/>
          <a:p>
            <a:r>
              <a:rPr lang="en-CN" dirty="0">
                <a:latin typeface="Times New Roman" panose="02020603050405020304" pitchFamily="18" charset="0"/>
                <a:cs typeface="Times New Roman" panose="02020603050405020304" pitchFamily="18" charset="0"/>
              </a:rPr>
              <a:t>Structural Design</a:t>
            </a:r>
          </a:p>
        </p:txBody>
      </p:sp>
      <p:pic>
        <p:nvPicPr>
          <p:cNvPr id="7" name="Picture 6" descr="A drawing of a mechanical arm&#10;&#10;Description automatically generated">
            <a:extLst>
              <a:ext uri="{FF2B5EF4-FFF2-40B4-BE49-F238E27FC236}">
                <a16:creationId xmlns:a16="http://schemas.microsoft.com/office/drawing/2014/main" id="{09556657-CFE1-AD27-61FD-7B13098A3780}"/>
              </a:ext>
            </a:extLst>
          </p:cNvPr>
          <p:cNvPicPr>
            <a:picLocks noChangeAspect="1"/>
          </p:cNvPicPr>
          <p:nvPr/>
        </p:nvPicPr>
        <p:blipFill>
          <a:blip r:embed="rId2"/>
          <a:srcRect l="5008" r="4542" b="-8"/>
          <a:stretch/>
        </p:blipFill>
        <p:spPr>
          <a:xfrm>
            <a:off x="1013620" y="1120458"/>
            <a:ext cx="1918488" cy="2331009"/>
          </a:xfrm>
          <a:prstGeom prst="rect">
            <a:avLst/>
          </a:prstGeom>
        </p:spPr>
      </p:pic>
      <p:sp>
        <p:nvSpPr>
          <p:cNvPr id="30" name="Freeform: Shape 18">
            <a:extLst>
              <a:ext uri="{FF2B5EF4-FFF2-40B4-BE49-F238E27FC236}">
                <a16:creationId xmlns:a16="http://schemas.microsoft.com/office/drawing/2014/main" id="{00106F80-B138-4C27-AEAE-350D5506E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611062" y="710273"/>
            <a:ext cx="2308583" cy="2084882"/>
          </a:xfrm>
          <a:custGeom>
            <a:avLst/>
            <a:gdLst>
              <a:gd name="connsiteX0" fmla="*/ 462 w 2308583"/>
              <a:gd name="connsiteY0" fmla="*/ 2084882 h 2084882"/>
              <a:gd name="connsiteX1" fmla="*/ 2308583 w 2308583"/>
              <a:gd name="connsiteY1" fmla="*/ 2084882 h 2084882"/>
              <a:gd name="connsiteX2" fmla="*/ 2308583 w 2308583"/>
              <a:gd name="connsiteY2" fmla="*/ 0 h 2084882"/>
              <a:gd name="connsiteX3" fmla="*/ 2022607 w 2308583"/>
              <a:gd name="connsiteY3" fmla="*/ 0 h 2084882"/>
              <a:gd name="connsiteX4" fmla="*/ 2022607 w 2308583"/>
              <a:gd name="connsiteY4" fmla="*/ 1813955 h 2084882"/>
              <a:gd name="connsiteX5" fmla="*/ 0 w 2308583"/>
              <a:gd name="connsiteY5" fmla="*/ 1813023 h 2084882"/>
              <a:gd name="connsiteX6" fmla="*/ 462 w 2308583"/>
              <a:gd name="connsiteY6" fmla="*/ 2084882 h 208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8583" h="2084882">
                <a:moveTo>
                  <a:pt x="462" y="2084882"/>
                </a:moveTo>
                <a:lnTo>
                  <a:pt x="2308583" y="2084882"/>
                </a:lnTo>
                <a:lnTo>
                  <a:pt x="2308583" y="0"/>
                </a:lnTo>
                <a:lnTo>
                  <a:pt x="2022607" y="0"/>
                </a:lnTo>
                <a:lnTo>
                  <a:pt x="2022607" y="1813955"/>
                </a:lnTo>
                <a:lnTo>
                  <a:pt x="0" y="1813023"/>
                </a:lnTo>
                <a:cubicBezTo>
                  <a:pt x="923" y="1906853"/>
                  <a:pt x="-462" y="1991052"/>
                  <a:pt x="462" y="2084882"/>
                </a:cubicBezTo>
                <a:close/>
              </a:path>
            </a:pathLst>
          </a:custGeom>
          <a:solidFill>
            <a:schemeClr val="tx1">
              <a:lumMod val="75000"/>
              <a:lumOff val="25000"/>
            </a:schemeClr>
          </a:solidFill>
          <a:ln w="0">
            <a:noFill/>
            <a:prstDash val="solid"/>
            <a:round/>
            <a:headEnd/>
            <a:tailEnd/>
          </a:ln>
        </p:spPr>
      </p:sp>
      <p:pic>
        <p:nvPicPr>
          <p:cNvPr id="12" name="Picture 11" descr="A table of text and numbers&#10;&#10;Description automatically generated with medium confidence">
            <a:extLst>
              <a:ext uri="{FF2B5EF4-FFF2-40B4-BE49-F238E27FC236}">
                <a16:creationId xmlns:a16="http://schemas.microsoft.com/office/drawing/2014/main" id="{3F48C47A-537A-F398-A243-2BF1930271CD}"/>
              </a:ext>
            </a:extLst>
          </p:cNvPr>
          <p:cNvPicPr>
            <a:picLocks noChangeAspect="1"/>
          </p:cNvPicPr>
          <p:nvPr/>
        </p:nvPicPr>
        <p:blipFill>
          <a:blip r:embed="rId3"/>
          <a:stretch>
            <a:fillRect/>
          </a:stretch>
        </p:blipFill>
        <p:spPr>
          <a:xfrm>
            <a:off x="4690894" y="701818"/>
            <a:ext cx="2833435" cy="2727182"/>
          </a:xfrm>
          <a:prstGeom prst="rect">
            <a:avLst/>
          </a:prstGeom>
        </p:spPr>
      </p:pic>
      <p:sp>
        <p:nvSpPr>
          <p:cNvPr id="21" name="Freeform: Shape 20">
            <a:extLst>
              <a:ext uri="{FF2B5EF4-FFF2-40B4-BE49-F238E27FC236}">
                <a16:creationId xmlns:a16="http://schemas.microsoft.com/office/drawing/2014/main" id="{DABC7F38-C8B8-4C20-82BE-82A52FF9C7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292517" y="1071683"/>
            <a:ext cx="2308583" cy="2379788"/>
          </a:xfrm>
          <a:custGeom>
            <a:avLst/>
            <a:gdLst>
              <a:gd name="connsiteX0" fmla="*/ 2308583 w 2308583"/>
              <a:gd name="connsiteY0" fmla="*/ 0 h 2379788"/>
              <a:gd name="connsiteX1" fmla="*/ 2022607 w 2308583"/>
              <a:gd name="connsiteY1" fmla="*/ 0 h 2379788"/>
              <a:gd name="connsiteX2" fmla="*/ 2022607 w 2308583"/>
              <a:gd name="connsiteY2" fmla="*/ 2108861 h 2379788"/>
              <a:gd name="connsiteX3" fmla="*/ 0 w 2308583"/>
              <a:gd name="connsiteY3" fmla="*/ 2107929 h 2379788"/>
              <a:gd name="connsiteX4" fmla="*/ 462 w 2308583"/>
              <a:gd name="connsiteY4" fmla="*/ 2379788 h 2379788"/>
              <a:gd name="connsiteX5" fmla="*/ 2308583 w 2308583"/>
              <a:gd name="connsiteY5" fmla="*/ 2379788 h 237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2379788">
                <a:moveTo>
                  <a:pt x="2308583" y="0"/>
                </a:moveTo>
                <a:lnTo>
                  <a:pt x="2022607" y="0"/>
                </a:lnTo>
                <a:lnTo>
                  <a:pt x="2022607" y="2108861"/>
                </a:lnTo>
                <a:lnTo>
                  <a:pt x="0" y="2107929"/>
                </a:lnTo>
                <a:cubicBezTo>
                  <a:pt x="923" y="2201759"/>
                  <a:pt x="-462" y="2285958"/>
                  <a:pt x="462" y="2379788"/>
                </a:cubicBezTo>
                <a:lnTo>
                  <a:pt x="2308583" y="2379788"/>
                </a:lnTo>
                <a:close/>
              </a:path>
            </a:pathLst>
          </a:custGeom>
          <a:solidFill>
            <a:schemeClr val="tx1">
              <a:lumMod val="65000"/>
              <a:lumOff val="35000"/>
            </a:schemeClr>
          </a:solidFill>
          <a:ln w="0">
            <a:noFill/>
            <a:prstDash val="solid"/>
            <a:round/>
            <a:headEnd/>
            <a:tailEnd/>
          </a:ln>
        </p:spPr>
      </p:sp>
      <p:sp>
        <p:nvSpPr>
          <p:cNvPr id="3" name="Content Placeholder 2">
            <a:extLst>
              <a:ext uri="{FF2B5EF4-FFF2-40B4-BE49-F238E27FC236}">
                <a16:creationId xmlns:a16="http://schemas.microsoft.com/office/drawing/2014/main" id="{BEE4DB61-D531-7AD3-10C6-2CB864814BF4}"/>
              </a:ext>
            </a:extLst>
          </p:cNvPr>
          <p:cNvSpPr>
            <a:spLocks noGrp="1"/>
          </p:cNvSpPr>
          <p:nvPr>
            <p:ph idx="1"/>
          </p:nvPr>
        </p:nvSpPr>
        <p:spPr>
          <a:xfrm>
            <a:off x="903514" y="4735983"/>
            <a:ext cx="7118268" cy="1538527"/>
          </a:xfrm>
        </p:spPr>
        <p:txBody>
          <a:bodyPr>
            <a:normAutofit/>
          </a:bodyPr>
          <a:lstStyle/>
          <a:p>
            <a:r>
              <a:rPr lang="en-US" sz="1400" dirty="0">
                <a:latin typeface="Times New Roman" panose="02020603050405020304" pitchFamily="18" charset="0"/>
                <a:cs typeface="Times New Roman" panose="02020603050405020304" pitchFamily="18" charset="0"/>
              </a:rPr>
              <a:t>U</a:t>
            </a:r>
            <a:r>
              <a:rPr lang="en-CN" sz="1400" dirty="0">
                <a:latin typeface="Times New Roman" panose="02020603050405020304" pitchFamily="18" charset="0"/>
                <a:cs typeface="Times New Roman" panose="02020603050405020304" pitchFamily="18" charset="0"/>
              </a:rPr>
              <a:t>se Solidworks to plan out the whole structure and record the parts needed to build the whole structure.</a:t>
            </a:r>
          </a:p>
          <a:p>
            <a:r>
              <a:rPr lang="en-CN" sz="1400" dirty="0">
                <a:latin typeface="Times New Roman" panose="02020603050405020304" pitchFamily="18" charset="0"/>
                <a:cs typeface="Times New Roman" panose="02020603050405020304" pitchFamily="18" charset="0"/>
              </a:rPr>
              <a:t>The whole leg’s proportions close to human statistics. (The height of the bionic ankle is 500mm).</a:t>
            </a:r>
          </a:p>
          <a:p>
            <a:endParaRPr lang="en-CN" sz="1500" dirty="0"/>
          </a:p>
          <a:p>
            <a:endParaRPr lang="en-CN" sz="1500" dirty="0"/>
          </a:p>
          <a:p>
            <a:endParaRPr lang="en-CN" dirty="0"/>
          </a:p>
        </p:txBody>
      </p:sp>
      <p:sp useBgFill="1">
        <p:nvSpPr>
          <p:cNvPr id="23" name="Rectangle 22">
            <a:extLst>
              <a:ext uri="{FF2B5EF4-FFF2-40B4-BE49-F238E27FC236}">
                <a16:creationId xmlns:a16="http://schemas.microsoft.com/office/drawing/2014/main" id="{D8968742-1D40-4F6B-9272-064FD1631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0486" y="6453386"/>
            <a:ext cx="573314" cy="4046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close-up of a machine&#10;&#10;Description automatically generated">
            <a:extLst>
              <a:ext uri="{FF2B5EF4-FFF2-40B4-BE49-F238E27FC236}">
                <a16:creationId xmlns:a16="http://schemas.microsoft.com/office/drawing/2014/main" id="{9FE50FF6-86E7-A278-C83A-1DADEF10B3A4}"/>
              </a:ext>
            </a:extLst>
          </p:cNvPr>
          <p:cNvPicPr>
            <a:picLocks noChangeAspect="1"/>
          </p:cNvPicPr>
          <p:nvPr/>
        </p:nvPicPr>
        <p:blipFill>
          <a:blip r:embed="rId4"/>
          <a:stretch>
            <a:fillRect/>
          </a:stretch>
        </p:blipFill>
        <p:spPr>
          <a:xfrm>
            <a:off x="8885750" y="885874"/>
            <a:ext cx="2352097" cy="1909281"/>
          </a:xfrm>
          <a:prstGeom prst="rect">
            <a:avLst/>
          </a:prstGeom>
        </p:spPr>
      </p:pic>
      <p:pic>
        <p:nvPicPr>
          <p:cNvPr id="5" name="Picture 4">
            <a:extLst>
              <a:ext uri="{FF2B5EF4-FFF2-40B4-BE49-F238E27FC236}">
                <a16:creationId xmlns:a16="http://schemas.microsoft.com/office/drawing/2014/main" id="{45437F8A-65DC-58E1-1094-0452860CCF9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0508" t="21283" r="26324" b="6941"/>
          <a:stretch/>
        </p:blipFill>
        <p:spPr bwMode="auto">
          <a:xfrm>
            <a:off x="4687833" y="710273"/>
            <a:ext cx="2873129" cy="3014267"/>
          </a:xfrm>
          <a:prstGeom prst="rect">
            <a:avLst/>
          </a:prstGeom>
          <a:ln>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52364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CD5322C4-F75C-437F-A239-D2E23FD4E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97FFB-4FE0-9A33-EA02-9F8B80BD87BA}"/>
              </a:ext>
            </a:extLst>
          </p:cNvPr>
          <p:cNvSpPr>
            <a:spLocks noGrp="1"/>
          </p:cNvSpPr>
          <p:nvPr>
            <p:ph type="title"/>
          </p:nvPr>
        </p:nvSpPr>
        <p:spPr>
          <a:xfrm>
            <a:off x="6694712" y="685800"/>
            <a:ext cx="4760685" cy="1485900"/>
          </a:xfrm>
        </p:spPr>
        <p:txBody>
          <a:bodyPr vert="horz" lIns="91440" tIns="45720" rIns="91440" bIns="45720" rtlCol="0">
            <a:normAutofit/>
          </a:bodyPr>
          <a:lstStyle/>
          <a:p>
            <a:r>
              <a:rPr lang="en-US" cap="all" dirty="0">
                <a:latin typeface="Times New Roman" panose="02020603050405020304" pitchFamily="18" charset="0"/>
                <a:cs typeface="Times New Roman" panose="02020603050405020304" pitchFamily="18" charset="0"/>
              </a:rPr>
              <a:t>Hardware Design</a:t>
            </a:r>
          </a:p>
        </p:txBody>
      </p:sp>
      <p:sp>
        <p:nvSpPr>
          <p:cNvPr id="48" name="Freeform: Shape 47">
            <a:extLst>
              <a:ext uri="{FF2B5EF4-FFF2-40B4-BE49-F238E27FC236}">
                <a16:creationId xmlns:a16="http://schemas.microsoft.com/office/drawing/2014/main" id="{9BEEA9C9-EE31-4A53-B812-CDFE913A4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67832" cy="6858000"/>
          </a:xfrm>
          <a:custGeom>
            <a:avLst/>
            <a:gdLst>
              <a:gd name="connsiteX0" fmla="*/ 2222074 w 6167832"/>
              <a:gd name="connsiteY0" fmla="*/ 0 h 6858000"/>
              <a:gd name="connsiteX1" fmla="*/ 2313514 w 6167832"/>
              <a:gd name="connsiteY1" fmla="*/ 0 h 6858000"/>
              <a:gd name="connsiteX2" fmla="*/ 2313514 w 6167832"/>
              <a:gd name="connsiteY2" fmla="*/ 1289050 h 6858000"/>
              <a:gd name="connsiteX3" fmla="*/ 2315124 w 6167832"/>
              <a:gd name="connsiteY3" fmla="*/ 1289050 h 6858000"/>
              <a:gd name="connsiteX4" fmla="*/ 2315124 w 6167832"/>
              <a:gd name="connsiteY4" fmla="*/ 3064146 h 6858000"/>
              <a:gd name="connsiteX5" fmla="*/ 4113801 w 6167832"/>
              <a:gd name="connsiteY5" fmla="*/ 3064146 h 6858000"/>
              <a:gd name="connsiteX6" fmla="*/ 4113801 w 6167832"/>
              <a:gd name="connsiteY6" fmla="*/ 3991970 h 6858000"/>
              <a:gd name="connsiteX7" fmla="*/ 6097611 w 6167832"/>
              <a:gd name="connsiteY7" fmla="*/ 3991970 h 6858000"/>
              <a:gd name="connsiteX8" fmla="*/ 6097611 w 6167832"/>
              <a:gd name="connsiteY8" fmla="*/ 401294 h 6858000"/>
              <a:gd name="connsiteX9" fmla="*/ 6096001 w 6167832"/>
              <a:gd name="connsiteY9" fmla="*/ 401294 h 6858000"/>
              <a:gd name="connsiteX10" fmla="*/ 6096001 w 6167832"/>
              <a:gd name="connsiteY10" fmla="*/ 0 h 6858000"/>
              <a:gd name="connsiteX11" fmla="*/ 6167832 w 6167832"/>
              <a:gd name="connsiteY11" fmla="*/ 0 h 6858000"/>
              <a:gd name="connsiteX12" fmla="*/ 6167832 w 6167832"/>
              <a:gd name="connsiteY12" fmla="*/ 6858000 h 6858000"/>
              <a:gd name="connsiteX13" fmla="*/ 6096000 w 6167832"/>
              <a:gd name="connsiteY13" fmla="*/ 6858000 h 6858000"/>
              <a:gd name="connsiteX14" fmla="*/ 6096000 w 6167832"/>
              <a:gd name="connsiteY14" fmla="*/ 4070350 h 6858000"/>
              <a:gd name="connsiteX15" fmla="*/ 4099283 w 6167832"/>
              <a:gd name="connsiteY15" fmla="*/ 4070350 h 6858000"/>
              <a:gd name="connsiteX16" fmla="*/ 4099283 w 6167832"/>
              <a:gd name="connsiteY16" fmla="*/ 6858000 h 6858000"/>
              <a:gd name="connsiteX17" fmla="*/ 4023084 w 6167832"/>
              <a:gd name="connsiteY17" fmla="*/ 6858000 h 6858000"/>
              <a:gd name="connsiteX18" fmla="*/ 4023084 w 6167832"/>
              <a:gd name="connsiteY18" fmla="*/ 3142771 h 6858000"/>
              <a:gd name="connsiteX19" fmla="*/ 0 w 6167832"/>
              <a:gd name="connsiteY19" fmla="*/ 3142771 h 6858000"/>
              <a:gd name="connsiteX20" fmla="*/ 0 w 6167832"/>
              <a:gd name="connsiteY20" fmla="*/ 3051330 h 6858000"/>
              <a:gd name="connsiteX21" fmla="*/ 2222074 w 6167832"/>
              <a:gd name="connsiteY21" fmla="*/ 305133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67832" h="6858000">
                <a:moveTo>
                  <a:pt x="2222074" y="0"/>
                </a:moveTo>
                <a:lnTo>
                  <a:pt x="2313514" y="0"/>
                </a:lnTo>
                <a:lnTo>
                  <a:pt x="2313514" y="1289050"/>
                </a:lnTo>
                <a:lnTo>
                  <a:pt x="2315124" y="1289050"/>
                </a:lnTo>
                <a:lnTo>
                  <a:pt x="2315124" y="3064146"/>
                </a:lnTo>
                <a:lnTo>
                  <a:pt x="4113801" y="3064146"/>
                </a:lnTo>
                <a:lnTo>
                  <a:pt x="4113801" y="3991970"/>
                </a:lnTo>
                <a:lnTo>
                  <a:pt x="6097611" y="3991970"/>
                </a:lnTo>
                <a:lnTo>
                  <a:pt x="6097611" y="401294"/>
                </a:lnTo>
                <a:lnTo>
                  <a:pt x="6096001" y="401294"/>
                </a:lnTo>
                <a:lnTo>
                  <a:pt x="6096001" y="0"/>
                </a:lnTo>
                <a:lnTo>
                  <a:pt x="6167832" y="0"/>
                </a:lnTo>
                <a:lnTo>
                  <a:pt x="6167832" y="6858000"/>
                </a:lnTo>
                <a:lnTo>
                  <a:pt x="6096000" y="6858000"/>
                </a:lnTo>
                <a:lnTo>
                  <a:pt x="6096000" y="4070350"/>
                </a:lnTo>
                <a:lnTo>
                  <a:pt x="4099283" y="4070350"/>
                </a:lnTo>
                <a:lnTo>
                  <a:pt x="4099283" y="6858000"/>
                </a:lnTo>
                <a:lnTo>
                  <a:pt x="4023084" y="6858000"/>
                </a:lnTo>
                <a:lnTo>
                  <a:pt x="4023084" y="3142771"/>
                </a:lnTo>
                <a:lnTo>
                  <a:pt x="0" y="3142771"/>
                </a:lnTo>
                <a:lnTo>
                  <a:pt x="0" y="3051330"/>
                </a:lnTo>
                <a:lnTo>
                  <a:pt x="2222074" y="305133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hand holding a circuit board&#10;&#10;Description automatically generated">
            <a:extLst>
              <a:ext uri="{FF2B5EF4-FFF2-40B4-BE49-F238E27FC236}">
                <a16:creationId xmlns:a16="http://schemas.microsoft.com/office/drawing/2014/main" id="{407F5C47-E103-779F-AE6B-E07DBABE9C44}"/>
              </a:ext>
            </a:extLst>
          </p:cNvPr>
          <p:cNvPicPr>
            <a:picLocks noChangeAspect="1"/>
          </p:cNvPicPr>
          <p:nvPr/>
        </p:nvPicPr>
        <p:blipFill>
          <a:blip r:embed="rId2"/>
          <a:stretch>
            <a:fillRect/>
          </a:stretch>
        </p:blipFill>
        <p:spPr>
          <a:xfrm>
            <a:off x="349453" y="486941"/>
            <a:ext cx="1648250" cy="2197666"/>
          </a:xfrm>
          <a:prstGeom prst="rect">
            <a:avLst/>
          </a:prstGeom>
        </p:spPr>
      </p:pic>
      <p:pic>
        <p:nvPicPr>
          <p:cNvPr id="12" name="Picture 11" descr="A machine with wires and wires&#10;&#10;Description automatically generated">
            <a:extLst>
              <a:ext uri="{FF2B5EF4-FFF2-40B4-BE49-F238E27FC236}">
                <a16:creationId xmlns:a16="http://schemas.microsoft.com/office/drawing/2014/main" id="{5624A843-5D56-D088-F283-F48287D63459}"/>
              </a:ext>
            </a:extLst>
          </p:cNvPr>
          <p:cNvPicPr>
            <a:picLocks noChangeAspect="1"/>
          </p:cNvPicPr>
          <p:nvPr/>
        </p:nvPicPr>
        <p:blipFill>
          <a:blip r:embed="rId3"/>
          <a:stretch>
            <a:fillRect/>
          </a:stretch>
        </p:blipFill>
        <p:spPr>
          <a:xfrm>
            <a:off x="2570415" y="344045"/>
            <a:ext cx="3311275" cy="2483456"/>
          </a:xfrm>
          <a:prstGeom prst="rect">
            <a:avLst/>
          </a:prstGeom>
        </p:spPr>
      </p:pic>
      <p:pic>
        <p:nvPicPr>
          <p:cNvPr id="7" name="Picture 6" descr="A grey device with wires&#10;&#10;Description automatically generated">
            <a:extLst>
              <a:ext uri="{FF2B5EF4-FFF2-40B4-BE49-F238E27FC236}">
                <a16:creationId xmlns:a16="http://schemas.microsoft.com/office/drawing/2014/main" id="{AD7FBA4A-8AF3-C1F3-4C47-8D10F8EDE55D}"/>
              </a:ext>
            </a:extLst>
          </p:cNvPr>
          <p:cNvPicPr>
            <a:picLocks noChangeAspect="1"/>
          </p:cNvPicPr>
          <p:nvPr/>
        </p:nvPicPr>
        <p:blipFill>
          <a:blip r:embed="rId4"/>
          <a:stretch>
            <a:fillRect/>
          </a:stretch>
        </p:blipFill>
        <p:spPr>
          <a:xfrm>
            <a:off x="398742" y="3672080"/>
            <a:ext cx="3311276" cy="2483457"/>
          </a:xfrm>
          <a:prstGeom prst="rect">
            <a:avLst/>
          </a:prstGeom>
        </p:spPr>
      </p:pic>
      <p:sp>
        <p:nvSpPr>
          <p:cNvPr id="9" name="Content Placeholder 8">
            <a:extLst>
              <a:ext uri="{FF2B5EF4-FFF2-40B4-BE49-F238E27FC236}">
                <a16:creationId xmlns:a16="http://schemas.microsoft.com/office/drawing/2014/main" id="{4C03DDCD-FE03-2612-CD6E-1D4D2723B26A}"/>
              </a:ext>
            </a:extLst>
          </p:cNvPr>
          <p:cNvSpPr>
            <a:spLocks noGrp="1"/>
          </p:cNvSpPr>
          <p:nvPr>
            <p:ph idx="1"/>
          </p:nvPr>
        </p:nvSpPr>
        <p:spPr>
          <a:xfrm>
            <a:off x="6694714" y="2968668"/>
            <a:ext cx="4760683" cy="3067162"/>
          </a:xfrm>
        </p:spPr>
        <p:txBody>
          <a:bodyPr vert="horz" lIns="91440" tIns="45720" rIns="91440" bIns="45720" rtlCol="0">
            <a:normAutofit/>
          </a:bodyPr>
          <a:lstStyle/>
          <a:p>
            <a:pPr marL="0" indent="0">
              <a:spcBef>
                <a:spcPts val="0"/>
              </a:spcBef>
              <a:spcAft>
                <a:spcPts val="600"/>
              </a:spcAft>
              <a:buNone/>
            </a:pPr>
            <a:r>
              <a:rPr lang="en-US" sz="1400" dirty="0">
                <a:latin typeface="Times New Roman" panose="02020603050405020304" pitchFamily="18" charset="0"/>
                <a:cs typeface="Times New Roman" panose="02020603050405020304" pitchFamily="18" charset="0"/>
              </a:rPr>
              <a:t>For IMU, distance sensor, and motors, I choose the most accurate one to use. </a:t>
            </a:r>
          </a:p>
          <a:p>
            <a:pPr marL="0" indent="0">
              <a:spcBef>
                <a:spcPts val="0"/>
              </a:spcBef>
              <a:spcAft>
                <a:spcPts val="600"/>
              </a:spcAft>
              <a:buNone/>
            </a:pPr>
            <a:endParaRPr lang="en-US" sz="1400" dirty="0">
              <a:latin typeface="Times New Roman" panose="02020603050405020304" pitchFamily="18" charset="0"/>
              <a:cs typeface="Times New Roman" panose="02020603050405020304" pitchFamily="18" charset="0"/>
            </a:endParaRPr>
          </a:p>
          <a:p>
            <a:pPr marL="0" indent="0">
              <a:spcBef>
                <a:spcPts val="0"/>
              </a:spcBef>
              <a:spcAft>
                <a:spcPts val="600"/>
              </a:spcAft>
              <a:buNone/>
            </a:pPr>
            <a:r>
              <a:rPr lang="en-US" sz="1400" dirty="0">
                <a:latin typeface="Times New Roman" panose="02020603050405020304" pitchFamily="18" charset="0"/>
                <a:cs typeface="Times New Roman" panose="02020603050405020304" pitchFamily="18" charset="0"/>
              </a:rPr>
              <a:t>I connected the components using wires, and the esp32’s wireless connection. </a:t>
            </a:r>
          </a:p>
          <a:p>
            <a:pPr marL="0" indent="0">
              <a:spcBef>
                <a:spcPts val="0"/>
              </a:spcBef>
              <a:spcAft>
                <a:spcPts val="600"/>
              </a:spcAft>
              <a:buNone/>
            </a:pPr>
            <a:endParaRPr lang="en-US" sz="1400" dirty="0">
              <a:latin typeface="Times New Roman" panose="02020603050405020304" pitchFamily="18" charset="0"/>
              <a:cs typeface="Times New Roman" panose="02020603050405020304" pitchFamily="18" charset="0"/>
            </a:endParaRPr>
          </a:p>
          <a:p>
            <a:pPr marL="0" indent="0">
              <a:spcBef>
                <a:spcPts val="0"/>
              </a:spcBef>
              <a:spcAft>
                <a:spcPts val="600"/>
              </a:spcAft>
              <a:buNone/>
            </a:pPr>
            <a:r>
              <a:rPr lang="en-US" sz="1400" dirty="0">
                <a:latin typeface="Times New Roman" panose="02020603050405020304" pitchFamily="18" charset="0"/>
                <a:cs typeface="Times New Roman" panose="02020603050405020304" pitchFamily="18" charset="0"/>
              </a:rPr>
              <a:t>Also, through calculating the statistics of the motor, and the springs, I choose the ones that best fit the need of a bionic ankle.</a:t>
            </a:r>
          </a:p>
          <a:p>
            <a:pPr marL="0" indent="0">
              <a:spcBef>
                <a:spcPts val="0"/>
              </a:spcBef>
              <a:spcAft>
                <a:spcPts val="600"/>
              </a:spcAft>
              <a:buNone/>
            </a:pPr>
            <a:endParaRPr lang="en-US" dirty="0">
              <a:latin typeface="Times New Roman" panose="02020603050405020304" pitchFamily="18" charset="0"/>
              <a:cs typeface="Times New Roman" panose="02020603050405020304" pitchFamily="18" charset="0"/>
            </a:endParaRPr>
          </a:p>
          <a:p>
            <a:pPr marL="0" indent="0">
              <a:spcBef>
                <a:spcPts val="0"/>
              </a:spcBef>
              <a:spcAft>
                <a:spcPts val="600"/>
              </a:spcAft>
              <a:buNone/>
            </a:pPr>
            <a:endParaRPr lang="en-US" dirty="0"/>
          </a:p>
          <a:p>
            <a:pPr marL="0" indent="0">
              <a:spcBef>
                <a:spcPts val="0"/>
              </a:spcBef>
              <a:spcAft>
                <a:spcPts val="600"/>
              </a:spcAft>
              <a:buNone/>
            </a:pPr>
            <a:endParaRPr lang="en-US" dirty="0"/>
          </a:p>
        </p:txBody>
      </p:sp>
      <p:pic>
        <p:nvPicPr>
          <p:cNvPr id="10" name="Picture 9" descr="A circuit board with colorful wires&#10;&#10;Description automatically generated">
            <a:extLst>
              <a:ext uri="{FF2B5EF4-FFF2-40B4-BE49-F238E27FC236}">
                <a16:creationId xmlns:a16="http://schemas.microsoft.com/office/drawing/2014/main" id="{465B9587-CA18-8B49-CE3F-599D1461B013}"/>
              </a:ext>
            </a:extLst>
          </p:cNvPr>
          <p:cNvPicPr>
            <a:picLocks noChangeAspect="1"/>
          </p:cNvPicPr>
          <p:nvPr/>
        </p:nvPicPr>
        <p:blipFill>
          <a:blip r:embed="rId5"/>
          <a:stretch>
            <a:fillRect/>
          </a:stretch>
        </p:blipFill>
        <p:spPr>
          <a:xfrm>
            <a:off x="4313791" y="4377689"/>
            <a:ext cx="1608667" cy="2144889"/>
          </a:xfrm>
          <a:prstGeom prst="rect">
            <a:avLst/>
          </a:prstGeom>
        </p:spPr>
      </p:pic>
    </p:spTree>
    <p:extLst>
      <p:ext uri="{BB962C8B-B14F-4D97-AF65-F5344CB8AC3E}">
        <p14:creationId xmlns:p14="http://schemas.microsoft.com/office/powerpoint/2010/main" val="3683748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3503ACF-2B55-7A22-7477-E0664DF193B9}"/>
              </a:ext>
            </a:extLst>
          </p:cNvPr>
          <p:cNvSpPr>
            <a:spLocks noGrp="1"/>
          </p:cNvSpPr>
          <p:nvPr>
            <p:ph type="title"/>
          </p:nvPr>
        </p:nvSpPr>
        <p:spPr>
          <a:xfrm>
            <a:off x="640081" y="631373"/>
            <a:ext cx="4470538" cy="2035628"/>
          </a:xfrm>
        </p:spPr>
        <p:txBody>
          <a:bodyPr vert="horz" lIns="91440" tIns="45720" rIns="91440" bIns="45720" rtlCol="0" anchor="t">
            <a:normAutofit/>
          </a:bodyPr>
          <a:lstStyle/>
          <a:p>
            <a:r>
              <a:rPr lang="en-US" cap="all" dirty="0">
                <a:latin typeface="Times New Roman" panose="02020603050405020304" pitchFamily="18" charset="0"/>
                <a:cs typeface="Times New Roman" panose="02020603050405020304" pitchFamily="18" charset="0"/>
              </a:rPr>
              <a:t>Software Programming</a:t>
            </a:r>
          </a:p>
        </p:txBody>
      </p:sp>
      <p:sp>
        <p:nvSpPr>
          <p:cNvPr id="3" name="TextBox 2">
            <a:extLst>
              <a:ext uri="{FF2B5EF4-FFF2-40B4-BE49-F238E27FC236}">
                <a16:creationId xmlns:a16="http://schemas.microsoft.com/office/drawing/2014/main" id="{000E0117-C5A0-1AB4-F1E1-972889344F3D}"/>
              </a:ext>
            </a:extLst>
          </p:cNvPr>
          <p:cNvSpPr txBox="1"/>
          <p:nvPr/>
        </p:nvSpPr>
        <p:spPr>
          <a:xfrm>
            <a:off x="640081" y="2479355"/>
            <a:ext cx="4340229" cy="2404997"/>
          </a:xfrm>
          <a:prstGeom prst="rect">
            <a:avLst/>
          </a:prstGeom>
        </p:spPr>
        <p:txBody>
          <a:bodyPr vert="horz" lIns="91440" tIns="45720" rIns="91440" bIns="45720" rtlCol="0">
            <a:normAutofit/>
          </a:bodyPr>
          <a:lstStyle/>
          <a:p>
            <a:pPr indent="-384048" defTabSz="914400">
              <a:lnSpc>
                <a:spcPct val="94000"/>
              </a:lnSpc>
              <a:spcAft>
                <a:spcPts val="200"/>
              </a:spcAft>
              <a:buFont typeface="Franklin Gothic Book" panose="020B0503020102020204" pitchFamily="34" charset="0"/>
            </a:pPr>
            <a:r>
              <a:rPr lang="en-US" sz="1400" dirty="0">
                <a:solidFill>
                  <a:schemeClr val="tx2"/>
                </a:solidFill>
                <a:latin typeface="Times New Roman" panose="02020603050405020304" pitchFamily="18" charset="0"/>
                <a:cs typeface="Times New Roman" panose="02020603050405020304" pitchFamily="18" charset="0"/>
              </a:rPr>
              <a:t>To control the foot, making it parallel to the ground, the angle between the foot and ground is calculated using distance sensors</a:t>
            </a:r>
          </a:p>
          <a:p>
            <a:pPr indent="-384048" defTabSz="914400">
              <a:lnSpc>
                <a:spcPct val="94000"/>
              </a:lnSpc>
              <a:spcAft>
                <a:spcPts val="200"/>
              </a:spcAft>
              <a:buFont typeface="Franklin Gothic Book" panose="020B0503020102020204" pitchFamily="34" charset="0"/>
            </a:pPr>
            <a:r>
              <a:rPr lang="en-US" sz="1400" dirty="0">
                <a:solidFill>
                  <a:schemeClr val="tx2"/>
                </a:solidFill>
                <a:latin typeface="Times New Roman" panose="02020603050405020304" pitchFamily="18" charset="0"/>
                <a:cs typeface="Times New Roman" panose="02020603050405020304" pitchFamily="18" charset="0"/>
              </a:rPr>
              <a:t>Next, the PID controller will self-adjust the two angles, roll and pitch, using the three components, proportional, integral, and derivative, to quickly and efficiently adjust the angle of the foot, making it parallel to the ground.</a:t>
            </a:r>
          </a:p>
          <a:p>
            <a:pPr indent="-384048" defTabSz="914400">
              <a:lnSpc>
                <a:spcPct val="94000"/>
              </a:lnSpc>
              <a:spcAft>
                <a:spcPts val="200"/>
              </a:spcAft>
              <a:buFont typeface="Franklin Gothic Book" panose="020B0503020102020204" pitchFamily="34" charset="0"/>
            </a:pPr>
            <a:endParaRPr lang="en-US"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p:txBody>
      </p:sp>
      <p:sp>
        <p:nvSpPr>
          <p:cNvPr id="73" name="Rectangle 72">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Content Placeholder 4" descr="A diagram of a box&#10;&#10;Description automatically generated">
            <a:extLst>
              <a:ext uri="{FF2B5EF4-FFF2-40B4-BE49-F238E27FC236}">
                <a16:creationId xmlns:a16="http://schemas.microsoft.com/office/drawing/2014/main" id="{5FE7FA65-BBDD-C26D-E54D-2656E0A26743}"/>
              </a:ext>
            </a:extLst>
          </p:cNvPr>
          <p:cNvPicPr>
            <a:picLocks noChangeAspect="1"/>
          </p:cNvPicPr>
          <p:nvPr/>
        </p:nvPicPr>
        <p:blipFill>
          <a:blip r:embed="rId2"/>
          <a:stretch>
            <a:fillRect/>
          </a:stretch>
        </p:blipFill>
        <p:spPr>
          <a:xfrm>
            <a:off x="6096000" y="393026"/>
            <a:ext cx="5384074" cy="2086329"/>
          </a:xfrm>
          <a:prstGeom prst="rect">
            <a:avLst/>
          </a:prstGeom>
        </p:spPr>
      </p:pic>
      <p:pic>
        <p:nvPicPr>
          <p:cNvPr id="10" name="Content Placeholder 9" descr="A diagram of a flowchart&#10;&#10;Description automatically generated">
            <a:extLst>
              <a:ext uri="{FF2B5EF4-FFF2-40B4-BE49-F238E27FC236}">
                <a16:creationId xmlns:a16="http://schemas.microsoft.com/office/drawing/2014/main" id="{FB1DF090-C9F4-2FE9-E0C6-15FCA5CB53C4}"/>
              </a:ext>
            </a:extLst>
          </p:cNvPr>
          <p:cNvPicPr>
            <a:picLocks noGrp="1" noChangeAspect="1"/>
          </p:cNvPicPr>
          <p:nvPr>
            <p:ph idx="1"/>
          </p:nvPr>
        </p:nvPicPr>
        <p:blipFill>
          <a:blip r:embed="rId3"/>
          <a:stretch>
            <a:fillRect/>
          </a:stretch>
        </p:blipFill>
        <p:spPr>
          <a:xfrm>
            <a:off x="5855330" y="2877535"/>
            <a:ext cx="5886710" cy="3002221"/>
          </a:xfrm>
          <a:prstGeom prst="rect">
            <a:avLst/>
          </a:prstGeom>
        </p:spPr>
      </p:pic>
    </p:spTree>
    <p:extLst>
      <p:ext uri="{BB962C8B-B14F-4D97-AF65-F5344CB8AC3E}">
        <p14:creationId xmlns:p14="http://schemas.microsoft.com/office/powerpoint/2010/main" val="334619481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2516E-9763-0B3D-66D9-9C6800BD1396}"/>
              </a:ext>
            </a:extLst>
          </p:cNvPr>
          <p:cNvSpPr>
            <a:spLocks noGrp="1"/>
          </p:cNvSpPr>
          <p:nvPr>
            <p:ph type="title"/>
          </p:nvPr>
        </p:nvSpPr>
        <p:spPr>
          <a:xfrm>
            <a:off x="5100824" y="685800"/>
            <a:ext cx="6176776"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Maximum Angle Experiment</a:t>
            </a:r>
          </a:p>
        </p:txBody>
      </p:sp>
      <p:pic>
        <p:nvPicPr>
          <p:cNvPr id="5" name="Content Placeholder 4" descr="A collage of different types of objects&#10;&#10;Description automatically generated">
            <a:extLst>
              <a:ext uri="{FF2B5EF4-FFF2-40B4-BE49-F238E27FC236}">
                <a16:creationId xmlns:a16="http://schemas.microsoft.com/office/drawing/2014/main" id="{7C097249-F200-5C99-80F5-042C0E478C78}"/>
              </a:ext>
            </a:extLst>
          </p:cNvPr>
          <p:cNvPicPr>
            <a:picLocks noChangeAspect="1"/>
          </p:cNvPicPr>
          <p:nvPr/>
        </p:nvPicPr>
        <p:blipFill>
          <a:blip r:embed="rId2"/>
          <a:stretch>
            <a:fillRect/>
          </a:stretch>
        </p:blipFill>
        <p:spPr>
          <a:xfrm>
            <a:off x="321733" y="769754"/>
            <a:ext cx="3730079" cy="2452526"/>
          </a:xfrm>
          <a:prstGeom prst="rect">
            <a:avLst/>
          </a:prstGeom>
          <a:ln>
            <a:noFill/>
          </a:ln>
          <a:effectLst/>
        </p:spPr>
      </p:pic>
      <p:pic>
        <p:nvPicPr>
          <p:cNvPr id="7" name="Picture 6" descr="A table with text and numbers&#10;&#10;Description automatically generated">
            <a:extLst>
              <a:ext uri="{FF2B5EF4-FFF2-40B4-BE49-F238E27FC236}">
                <a16:creationId xmlns:a16="http://schemas.microsoft.com/office/drawing/2014/main" id="{37E37A86-9E4A-D36A-E53C-BCCD75EC5901}"/>
              </a:ext>
            </a:extLst>
          </p:cNvPr>
          <p:cNvPicPr>
            <a:picLocks noChangeAspect="1"/>
          </p:cNvPicPr>
          <p:nvPr/>
        </p:nvPicPr>
        <p:blipFill>
          <a:blip r:embed="rId3"/>
          <a:stretch>
            <a:fillRect/>
          </a:stretch>
        </p:blipFill>
        <p:spPr>
          <a:xfrm>
            <a:off x="321733" y="4457700"/>
            <a:ext cx="3661857" cy="823917"/>
          </a:xfrm>
          <a:prstGeom prst="rect">
            <a:avLst/>
          </a:prstGeom>
          <a:ln>
            <a:noFill/>
          </a:ln>
          <a:effectLst/>
        </p:spPr>
      </p:pic>
      <p:sp>
        <p:nvSpPr>
          <p:cNvPr id="16" name="Rectangle 15">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Content Placeholder 10">
            <a:extLst>
              <a:ext uri="{FF2B5EF4-FFF2-40B4-BE49-F238E27FC236}">
                <a16:creationId xmlns:a16="http://schemas.microsoft.com/office/drawing/2014/main" id="{B6CAEFE4-5E4C-28F2-8FBA-AE33AF8581E1}"/>
              </a:ext>
            </a:extLst>
          </p:cNvPr>
          <p:cNvSpPr>
            <a:spLocks noGrp="1"/>
          </p:cNvSpPr>
          <p:nvPr>
            <p:ph idx="1"/>
          </p:nvPr>
        </p:nvSpPr>
        <p:spPr>
          <a:xfrm>
            <a:off x="5100824" y="2286000"/>
            <a:ext cx="6176776" cy="3581400"/>
          </a:xfrm>
        </p:spPr>
        <p:txBody>
          <a:bodyPr>
            <a:normAutofit/>
          </a:bodyPr>
          <a:lstStyle/>
          <a:p>
            <a:r>
              <a:rPr lang="en-US" sz="1400" dirty="0">
                <a:latin typeface="Times New Roman" panose="02020603050405020304" pitchFamily="18" charset="0"/>
                <a:cs typeface="Times New Roman" panose="02020603050405020304" pitchFamily="18" charset="0"/>
              </a:rPr>
              <a:t>I use my hands to turn the motor such that the foot is in the extreme position. Even if the foot can still move further, it is unnecessary because the strings are too strained to be stable and safe.</a:t>
            </a:r>
          </a:p>
          <a:p>
            <a:r>
              <a:rPr lang="en-US" sz="1400" dirty="0">
                <a:latin typeface="Times New Roman" panose="02020603050405020304" pitchFamily="18" charset="0"/>
                <a:cs typeface="Times New Roman" panose="02020603050405020304" pitchFamily="18" charset="0"/>
              </a:rPr>
              <a:t>I take a picture of the lower part of the foot with the bottom face of the supporting leg perpendicular to the photo frame, and the bottom face of the foot perpendicular to the photo frame.</a:t>
            </a:r>
          </a:p>
          <a:p>
            <a:r>
              <a:rPr lang="en-US" sz="1400" dirty="0">
                <a:latin typeface="Times New Roman" panose="02020603050405020304" pitchFamily="18" charset="0"/>
                <a:cs typeface="Times New Roman" panose="02020603050405020304" pitchFamily="18" charset="0"/>
              </a:rPr>
              <a:t>I use Tracker to analyze the photo:</a:t>
            </a:r>
          </a:p>
          <a:p>
            <a:pPr lvl="1"/>
            <a:r>
              <a:rPr lang="en-US" sz="1400" dirty="0">
                <a:latin typeface="Times New Roman" panose="02020603050405020304" pitchFamily="18" charset="0"/>
                <a:cs typeface="Times New Roman" panose="02020603050405020304" pitchFamily="18" charset="0"/>
              </a:rPr>
              <a:t>Take the bottom of the supporting leg as the x-axis, since it is perpendicular to the photo frame, the bottom of the supporting leg is represented by a line.</a:t>
            </a:r>
          </a:p>
          <a:p>
            <a:pPr lvl="1"/>
            <a:r>
              <a:rPr lang="en-US" sz="1400" dirty="0">
                <a:latin typeface="Times New Roman" panose="02020603050405020304" pitchFamily="18" charset="0"/>
                <a:cs typeface="Times New Roman" panose="02020603050405020304" pitchFamily="18" charset="0"/>
              </a:rPr>
              <a:t>Use the bottom of the foot as the other ray that locks the angle with the x-axis. The intersection between the line formed by the bottom of the foot and x-axis is the center of the protractor.</a:t>
            </a:r>
          </a:p>
        </p:txBody>
      </p:sp>
    </p:spTree>
    <p:extLst>
      <p:ext uri="{BB962C8B-B14F-4D97-AF65-F5344CB8AC3E}">
        <p14:creationId xmlns:p14="http://schemas.microsoft.com/office/powerpoint/2010/main" val="354141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66CEE1E-352A-70BC-D688-7F439B564171}"/>
              </a:ext>
            </a:extLst>
          </p:cNvPr>
          <p:cNvSpPr>
            <a:spLocks noGrp="1"/>
          </p:cNvSpPr>
          <p:nvPr>
            <p:ph type="title"/>
          </p:nvPr>
        </p:nvSpPr>
        <p:spPr>
          <a:xfrm>
            <a:off x="640081" y="631373"/>
            <a:ext cx="4018839" cy="2035628"/>
          </a:xfrm>
        </p:spPr>
        <p:txBody>
          <a:bodyPr>
            <a:normAutofit/>
          </a:bodyPr>
          <a:lstStyle/>
          <a:p>
            <a:r>
              <a:rPr lang="en-CN" dirty="0">
                <a:latin typeface="Times New Roman" panose="02020603050405020304" pitchFamily="18" charset="0"/>
                <a:cs typeface="Times New Roman" panose="02020603050405020304" pitchFamily="18" charset="0"/>
              </a:rPr>
              <a:t>Self Adaptive Experinment</a:t>
            </a:r>
          </a:p>
        </p:txBody>
      </p:sp>
      <p:sp>
        <p:nvSpPr>
          <p:cNvPr id="3" name="Content Placeholder 2">
            <a:extLst>
              <a:ext uri="{FF2B5EF4-FFF2-40B4-BE49-F238E27FC236}">
                <a16:creationId xmlns:a16="http://schemas.microsoft.com/office/drawing/2014/main" id="{CB97EC8E-B096-E62B-36DF-619AA367EA63}"/>
              </a:ext>
            </a:extLst>
          </p:cNvPr>
          <p:cNvSpPr>
            <a:spLocks noGrp="1"/>
          </p:cNvSpPr>
          <p:nvPr>
            <p:ph idx="1"/>
          </p:nvPr>
        </p:nvSpPr>
        <p:spPr>
          <a:xfrm>
            <a:off x="640081" y="2764971"/>
            <a:ext cx="4010296" cy="3472543"/>
          </a:xfrm>
        </p:spPr>
        <p:txBody>
          <a:bodyPr>
            <a:normAutofit/>
          </a:bodyPr>
          <a:lstStyle/>
          <a:p>
            <a:pPr marL="0" indent="0">
              <a:buNone/>
            </a:pPr>
            <a:endParaRPr lang="en-CN" sz="1800" dirty="0"/>
          </a:p>
          <a:p>
            <a:r>
              <a:rPr lang="en-US" sz="1400" dirty="0">
                <a:latin typeface="Times New Roman" panose="02020603050405020304" pitchFamily="18" charset="0"/>
                <a:cs typeface="Times New Roman" panose="02020603050405020304" pitchFamily="18" charset="0"/>
              </a:rPr>
              <a:t>To test the capability of the foot, I build a frame to hang the bionic ankle and oscillating it back and forth using a putter.</a:t>
            </a:r>
          </a:p>
          <a:p>
            <a:r>
              <a:rPr lang="en-US" sz="1400" dirty="0">
                <a:latin typeface="Times New Roman" panose="02020603050405020304" pitchFamily="18" charset="0"/>
                <a:cs typeface="Times New Roman" panose="02020603050405020304" pitchFamily="18" charset="0"/>
              </a:rPr>
              <a:t>As shown below, the foot can adapt to uneven ground.</a:t>
            </a:r>
          </a:p>
          <a:p>
            <a:r>
              <a:rPr lang="en-US" sz="1400" dirty="0">
                <a:latin typeface="Times New Roman" panose="02020603050405020304" pitchFamily="18" charset="0"/>
                <a:cs typeface="Times New Roman" panose="02020603050405020304" pitchFamily="18" charset="0"/>
              </a:rPr>
              <a:t>The Graph displays the enclosing of the foot’s pitch and roll to the ground’s pitch and roll. The time is in milliseconds, which is very fast</a:t>
            </a:r>
            <a:r>
              <a:rPr lang="en-US" sz="1800" dirty="0">
                <a:latin typeface="Times New Roman" panose="02020603050405020304" pitchFamily="18" charset="0"/>
                <a:cs typeface="Times New Roman" panose="02020603050405020304" pitchFamily="18" charset="0"/>
              </a:rPr>
              <a:t>. </a:t>
            </a:r>
          </a:p>
          <a:p>
            <a:endParaRPr lang="en-CN" sz="1800" dirty="0">
              <a:latin typeface="Times New Roman" panose="02020603050405020304" pitchFamily="18" charset="0"/>
              <a:cs typeface="Times New Roman" panose="02020603050405020304" pitchFamily="18" charset="0"/>
            </a:endParaRPr>
          </a:p>
        </p:txBody>
      </p:sp>
      <p:sp>
        <p:nvSpPr>
          <p:cNvPr id="38" name="Rectangle 37">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descr="A blue mat with foam on it&#10;&#10;Description automatically generated">
            <a:extLst>
              <a:ext uri="{FF2B5EF4-FFF2-40B4-BE49-F238E27FC236}">
                <a16:creationId xmlns:a16="http://schemas.microsoft.com/office/drawing/2014/main" id="{B8549147-0267-6B24-FF2F-54378C1F08D4}"/>
              </a:ext>
            </a:extLst>
          </p:cNvPr>
          <p:cNvPicPr>
            <a:picLocks noChangeAspect="1"/>
          </p:cNvPicPr>
          <p:nvPr/>
        </p:nvPicPr>
        <p:blipFill>
          <a:blip r:embed="rId2"/>
          <a:stretch>
            <a:fillRect/>
          </a:stretch>
        </p:blipFill>
        <p:spPr>
          <a:xfrm>
            <a:off x="5835274" y="455238"/>
            <a:ext cx="5973151" cy="1314093"/>
          </a:xfrm>
          <a:prstGeom prst="rect">
            <a:avLst/>
          </a:prstGeom>
        </p:spPr>
      </p:pic>
      <p:pic>
        <p:nvPicPr>
          <p:cNvPr id="10" name="Picture 9">
            <a:extLst>
              <a:ext uri="{FF2B5EF4-FFF2-40B4-BE49-F238E27FC236}">
                <a16:creationId xmlns:a16="http://schemas.microsoft.com/office/drawing/2014/main" id="{01ECDAC0-CD03-843D-1C06-45724212A353}"/>
              </a:ext>
            </a:extLst>
          </p:cNvPr>
          <p:cNvPicPr>
            <a:picLocks noChangeAspect="1"/>
          </p:cNvPicPr>
          <p:nvPr/>
        </p:nvPicPr>
        <p:blipFill>
          <a:blip r:embed="rId3"/>
          <a:stretch>
            <a:fillRect/>
          </a:stretch>
        </p:blipFill>
        <p:spPr>
          <a:xfrm>
            <a:off x="6096000" y="2517032"/>
            <a:ext cx="2309039" cy="1731779"/>
          </a:xfrm>
          <a:prstGeom prst="rect">
            <a:avLst/>
          </a:prstGeom>
        </p:spPr>
      </p:pic>
      <p:pic>
        <p:nvPicPr>
          <p:cNvPr id="8" name="Picture 7">
            <a:extLst>
              <a:ext uri="{FF2B5EF4-FFF2-40B4-BE49-F238E27FC236}">
                <a16:creationId xmlns:a16="http://schemas.microsoft.com/office/drawing/2014/main" id="{7BD5EF49-23C0-AC9D-4CDC-9B0FE468B241}"/>
              </a:ext>
            </a:extLst>
          </p:cNvPr>
          <p:cNvPicPr>
            <a:picLocks noChangeAspect="1"/>
          </p:cNvPicPr>
          <p:nvPr/>
        </p:nvPicPr>
        <p:blipFill>
          <a:blip r:embed="rId4"/>
          <a:stretch>
            <a:fillRect/>
          </a:stretch>
        </p:blipFill>
        <p:spPr>
          <a:xfrm>
            <a:off x="9788783" y="2066794"/>
            <a:ext cx="1636513" cy="2182017"/>
          </a:xfrm>
          <a:prstGeom prst="rect">
            <a:avLst/>
          </a:prstGeom>
        </p:spPr>
      </p:pic>
      <p:pic>
        <p:nvPicPr>
          <p:cNvPr id="11" name="Picture 10">
            <a:extLst>
              <a:ext uri="{FF2B5EF4-FFF2-40B4-BE49-F238E27FC236}">
                <a16:creationId xmlns:a16="http://schemas.microsoft.com/office/drawing/2014/main" id="{2F32AEB1-539A-0912-E08A-FAA1F87BC6DE}"/>
              </a:ext>
            </a:extLst>
          </p:cNvPr>
          <p:cNvPicPr>
            <a:picLocks noChangeAspect="1"/>
          </p:cNvPicPr>
          <p:nvPr/>
        </p:nvPicPr>
        <p:blipFill>
          <a:blip r:embed="rId5"/>
          <a:stretch>
            <a:fillRect/>
          </a:stretch>
        </p:blipFill>
        <p:spPr>
          <a:xfrm>
            <a:off x="6667742" y="4546274"/>
            <a:ext cx="4308213" cy="1951653"/>
          </a:xfrm>
          <a:prstGeom prst="rect">
            <a:avLst/>
          </a:prstGeom>
        </p:spPr>
      </p:pic>
    </p:spTree>
    <p:extLst>
      <p:ext uri="{BB962C8B-B14F-4D97-AF65-F5344CB8AC3E}">
        <p14:creationId xmlns:p14="http://schemas.microsoft.com/office/powerpoint/2010/main" val="311953166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9D9D0AB-1E2F-44A8-B9C6-FA4098301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CBE369-EC08-129B-B420-BAD18F004A1E}"/>
              </a:ext>
            </a:extLst>
          </p:cNvPr>
          <p:cNvSpPr>
            <a:spLocks noGrp="1"/>
          </p:cNvSpPr>
          <p:nvPr>
            <p:ph type="title"/>
          </p:nvPr>
        </p:nvSpPr>
        <p:spPr>
          <a:xfrm>
            <a:off x="903514" y="3897087"/>
            <a:ext cx="7417207" cy="838898"/>
          </a:xfrm>
        </p:spPr>
        <p:txBody>
          <a:bodyPr anchor="ctr">
            <a:normAutofit/>
          </a:bodyPr>
          <a:lstStyle/>
          <a:p>
            <a:r>
              <a:rPr lang="en-CN" sz="3600">
                <a:latin typeface="Times New Roman" panose="02020603050405020304" pitchFamily="18" charset="0"/>
                <a:cs typeface="Times New Roman" panose="02020603050405020304" pitchFamily="18" charset="0"/>
              </a:rPr>
              <a:t>Conclusion</a:t>
            </a:r>
          </a:p>
        </p:txBody>
      </p:sp>
      <p:sp>
        <p:nvSpPr>
          <p:cNvPr id="16" name="Rectangle 15">
            <a:extLst>
              <a:ext uri="{FF2B5EF4-FFF2-40B4-BE49-F238E27FC236}">
                <a16:creationId xmlns:a16="http://schemas.microsoft.com/office/drawing/2014/main" id="{50E2AEF9-3220-4407-B76B-1B6E3952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0142"/>
            <a:ext cx="3860771" cy="2932144"/>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machine with wires and wires&#10;&#10;Description automatically generated with medium confidence">
            <a:extLst>
              <a:ext uri="{FF2B5EF4-FFF2-40B4-BE49-F238E27FC236}">
                <a16:creationId xmlns:a16="http://schemas.microsoft.com/office/drawing/2014/main" id="{B69C5966-F246-FC59-72E9-BD74E7E22577}"/>
              </a:ext>
            </a:extLst>
          </p:cNvPr>
          <p:cNvPicPr>
            <a:picLocks noChangeAspect="1"/>
          </p:cNvPicPr>
          <p:nvPr/>
        </p:nvPicPr>
        <p:blipFill>
          <a:blip r:embed="rId2"/>
          <a:srcRect t="24701" r="-1" b="22003"/>
          <a:stretch/>
        </p:blipFill>
        <p:spPr>
          <a:xfrm>
            <a:off x="5" y="824735"/>
            <a:ext cx="3664827" cy="2604266"/>
          </a:xfrm>
          <a:prstGeom prst="rect">
            <a:avLst/>
          </a:prstGeom>
        </p:spPr>
      </p:pic>
      <p:sp>
        <p:nvSpPr>
          <p:cNvPr id="18" name="Rectangle 17">
            <a:extLst>
              <a:ext uri="{FF2B5EF4-FFF2-40B4-BE49-F238E27FC236}">
                <a16:creationId xmlns:a16="http://schemas.microsoft.com/office/drawing/2014/main" id="{2CAFBD32-D3B9-4AA1-8A52-E7788A955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2885" y="0"/>
            <a:ext cx="4332545" cy="3131604"/>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machine with wires and wires&#10;&#10;Description automatically generated">
            <a:extLst>
              <a:ext uri="{FF2B5EF4-FFF2-40B4-BE49-F238E27FC236}">
                <a16:creationId xmlns:a16="http://schemas.microsoft.com/office/drawing/2014/main" id="{84CC0113-2F3D-B796-6BAF-3B7315E2E40F}"/>
              </a:ext>
            </a:extLst>
          </p:cNvPr>
          <p:cNvPicPr>
            <a:picLocks noChangeAspect="1"/>
          </p:cNvPicPr>
          <p:nvPr/>
        </p:nvPicPr>
        <p:blipFill>
          <a:blip r:embed="rId3"/>
          <a:srcRect t="31167" r="-3" b="12999"/>
          <a:stretch/>
        </p:blipFill>
        <p:spPr>
          <a:xfrm>
            <a:off x="4354281" y="10"/>
            <a:ext cx="3966436" cy="2952719"/>
          </a:xfrm>
          <a:prstGeom prst="rect">
            <a:avLst/>
          </a:prstGeom>
        </p:spPr>
      </p:pic>
      <p:sp>
        <p:nvSpPr>
          <p:cNvPr id="3" name="Content Placeholder 2">
            <a:extLst>
              <a:ext uri="{FF2B5EF4-FFF2-40B4-BE49-F238E27FC236}">
                <a16:creationId xmlns:a16="http://schemas.microsoft.com/office/drawing/2014/main" id="{AF778A0A-654B-7DE7-7E83-89634A53B29A}"/>
              </a:ext>
            </a:extLst>
          </p:cNvPr>
          <p:cNvSpPr>
            <a:spLocks noGrp="1"/>
          </p:cNvSpPr>
          <p:nvPr>
            <p:ph idx="1"/>
          </p:nvPr>
        </p:nvSpPr>
        <p:spPr>
          <a:xfrm>
            <a:off x="903514" y="4849005"/>
            <a:ext cx="7417207" cy="1508251"/>
          </a:xfrm>
        </p:spPr>
        <p:txBody>
          <a:bodyPr>
            <a:normAutofit/>
          </a:bodyPr>
          <a:lstStyle/>
          <a:p>
            <a:r>
              <a:rPr lang="en-CN" sz="1400" dirty="0">
                <a:latin typeface="Times New Roman" panose="02020603050405020304" pitchFamily="18" charset="0"/>
                <a:cs typeface="Times New Roman" panose="02020603050405020304" pitchFamily="18" charset="0"/>
              </a:rPr>
              <a:t>This bionic ankle has a 2 DoF, and a self-adpative program to help it transverse through complex environments which search and rescue robots will benefit from. </a:t>
            </a:r>
          </a:p>
          <a:p>
            <a:pPr marL="0" indent="0">
              <a:buNone/>
            </a:pPr>
            <a:endParaRPr lang="en-CN"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7B1FFF1B-D8E7-43C1-963D-013BA4049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00" y="660142"/>
            <a:ext cx="3429000" cy="5054857"/>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machine with wires and wires&#10;&#10;Description automatically generated">
            <a:extLst>
              <a:ext uri="{FF2B5EF4-FFF2-40B4-BE49-F238E27FC236}">
                <a16:creationId xmlns:a16="http://schemas.microsoft.com/office/drawing/2014/main" id="{7E445DA4-14FA-7DD3-5F8E-519831FEFE27}"/>
              </a:ext>
            </a:extLst>
          </p:cNvPr>
          <p:cNvPicPr>
            <a:picLocks noChangeAspect="1"/>
          </p:cNvPicPr>
          <p:nvPr/>
        </p:nvPicPr>
        <p:blipFill>
          <a:blip r:embed="rId4"/>
          <a:srcRect l="5034" r="3294" b="-4"/>
          <a:stretch/>
        </p:blipFill>
        <p:spPr>
          <a:xfrm>
            <a:off x="8942136" y="824734"/>
            <a:ext cx="3249864" cy="4726979"/>
          </a:xfrm>
          <a:prstGeom prst="rect">
            <a:avLst/>
          </a:prstGeom>
        </p:spPr>
      </p:pic>
      <p:sp useBgFill="1">
        <p:nvSpPr>
          <p:cNvPr id="22" name="Rectangle 21">
            <a:extLst>
              <a:ext uri="{FF2B5EF4-FFF2-40B4-BE49-F238E27FC236}">
                <a16:creationId xmlns:a16="http://schemas.microsoft.com/office/drawing/2014/main" id="{D8968742-1D40-4F6B-9272-064FD1631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0486" y="6453386"/>
            <a:ext cx="573314" cy="4046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081128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49BC34D-9C23-4D6D-8213-1F471AF85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1" name="Freeform 6">
              <a:extLst>
                <a:ext uri="{FF2B5EF4-FFF2-40B4-BE49-F238E27FC236}">
                  <a16:creationId xmlns:a16="http://schemas.microsoft.com/office/drawing/2014/main" id="{FA0F5D6C-5025-4D7E-82DD-C2C6FDA1E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2" name="Freeform 6">
              <a:extLst>
                <a:ext uri="{FF2B5EF4-FFF2-40B4-BE49-F238E27FC236}">
                  <a16:creationId xmlns:a16="http://schemas.microsoft.com/office/drawing/2014/main" id="{E2AF2C17-4AB4-4402-B84B-129EF95D1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useBgFill="1">
        <p:nvSpPr>
          <p:cNvPr id="14" name="Rectangle 13">
            <a:extLst>
              <a:ext uri="{FF2B5EF4-FFF2-40B4-BE49-F238E27FC236}">
                <a16:creationId xmlns:a16="http://schemas.microsoft.com/office/drawing/2014/main" id="{1F9A0C1C-8ABC-401B-8FE9-AC9327C4C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47975-8933-FE45-9ECE-3314CCF6E15E}"/>
              </a:ext>
            </a:extLst>
          </p:cNvPr>
          <p:cNvSpPr>
            <a:spLocks noGrp="1"/>
          </p:cNvSpPr>
          <p:nvPr>
            <p:ph type="title"/>
          </p:nvPr>
        </p:nvSpPr>
        <p:spPr>
          <a:xfrm>
            <a:off x="8110276" y="3138937"/>
            <a:ext cx="3741131" cy="779318"/>
          </a:xfrm>
        </p:spPr>
        <p:txBody>
          <a:bodyPr vert="horz" lIns="91440" tIns="45720" rIns="91440" bIns="45720" rtlCol="0" anchor="b">
            <a:normAutofit/>
          </a:bodyPr>
          <a:lstStyle/>
          <a:p>
            <a:pPr algn="ctr"/>
            <a:r>
              <a:rPr lang="en-US" cap="all" dirty="0">
                <a:latin typeface="Times New Roman" panose="02020603050405020304" pitchFamily="18" charset="0"/>
                <a:cs typeface="Times New Roman" panose="02020603050405020304" pitchFamily="18" charset="0"/>
              </a:rPr>
              <a:t>References</a:t>
            </a:r>
          </a:p>
        </p:txBody>
      </p:sp>
      <p:sp>
        <p:nvSpPr>
          <p:cNvPr id="16" name="Freeform 6">
            <a:extLst>
              <a:ext uri="{FF2B5EF4-FFF2-40B4-BE49-F238E27FC236}">
                <a16:creationId xmlns:a16="http://schemas.microsoft.com/office/drawing/2014/main" id="{BA5783C3-2F96-40A7-A24F-30CB07AA3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649163" y="634028"/>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sp>
        <p:nvSpPr>
          <p:cNvPr id="18" name="Freeform 6">
            <a:extLst>
              <a:ext uri="{FF2B5EF4-FFF2-40B4-BE49-F238E27FC236}">
                <a16:creationId xmlns:a16="http://schemas.microsoft.com/office/drawing/2014/main" id="{A9D08DBA-0326-4C4E-ACFB-576F3ABDD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94670" y="2016617"/>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pic>
        <p:nvPicPr>
          <p:cNvPr id="5" name="Content Placeholder 4" descr="A screenshot of a paper&#10;&#10;Description automatically generated">
            <a:extLst>
              <a:ext uri="{FF2B5EF4-FFF2-40B4-BE49-F238E27FC236}">
                <a16:creationId xmlns:a16="http://schemas.microsoft.com/office/drawing/2014/main" id="{5EE1A7F7-B9E5-8090-9E5C-2289BA8DD0FE}"/>
              </a:ext>
            </a:extLst>
          </p:cNvPr>
          <p:cNvPicPr>
            <a:picLocks noGrp="1" noChangeAspect="1"/>
          </p:cNvPicPr>
          <p:nvPr>
            <p:ph idx="1"/>
          </p:nvPr>
        </p:nvPicPr>
        <p:blipFill>
          <a:blip r:embed="rId2"/>
          <a:stretch>
            <a:fillRect/>
          </a:stretch>
        </p:blipFill>
        <p:spPr>
          <a:xfrm>
            <a:off x="2031818" y="1340841"/>
            <a:ext cx="4353631" cy="4375510"/>
          </a:xfrm>
          <a:prstGeom prst="rect">
            <a:avLst/>
          </a:prstGeom>
        </p:spPr>
      </p:pic>
    </p:spTree>
    <p:extLst>
      <p:ext uri="{BB962C8B-B14F-4D97-AF65-F5344CB8AC3E}">
        <p14:creationId xmlns:p14="http://schemas.microsoft.com/office/powerpoint/2010/main" val="2826524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49BC34D-9C23-4D6D-8213-1F471AF85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1" name="Freeform 6">
              <a:extLst>
                <a:ext uri="{FF2B5EF4-FFF2-40B4-BE49-F238E27FC236}">
                  <a16:creationId xmlns:a16="http://schemas.microsoft.com/office/drawing/2014/main" id="{FA0F5D6C-5025-4D7E-82DD-C2C6FDA1E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2" name="Freeform 6">
              <a:extLst>
                <a:ext uri="{FF2B5EF4-FFF2-40B4-BE49-F238E27FC236}">
                  <a16:creationId xmlns:a16="http://schemas.microsoft.com/office/drawing/2014/main" id="{E2AF2C17-4AB4-4402-B84B-129EF95D1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useBgFill="1">
        <p:nvSpPr>
          <p:cNvPr id="14" name="Rectangle 13">
            <a:extLst>
              <a:ext uri="{FF2B5EF4-FFF2-40B4-BE49-F238E27FC236}">
                <a16:creationId xmlns:a16="http://schemas.microsoft.com/office/drawing/2014/main" id="{CB73C468-D875-4A8E-A540-E43BF8232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26C2A5-6272-4A10-71E8-B08D4C4D5DAB}"/>
              </a:ext>
            </a:extLst>
          </p:cNvPr>
          <p:cNvSpPr>
            <a:spLocks noGrp="1"/>
          </p:cNvSpPr>
          <p:nvPr>
            <p:ph type="title"/>
          </p:nvPr>
        </p:nvSpPr>
        <p:spPr>
          <a:xfrm>
            <a:off x="6711885" y="634028"/>
            <a:ext cx="4798243" cy="3732835"/>
          </a:xfrm>
        </p:spPr>
        <p:txBody>
          <a:bodyPr vert="horz" lIns="91440" tIns="45720" rIns="91440" bIns="45720" rtlCol="0" anchor="b">
            <a:normAutofit/>
          </a:bodyPr>
          <a:lstStyle/>
          <a:p>
            <a:pPr algn="ctr"/>
            <a:r>
              <a:rPr lang="en-US" sz="7200" cap="all" dirty="0">
                <a:latin typeface="Times New Roman" panose="02020603050405020304" pitchFamily="18" charset="0"/>
                <a:cs typeface="Times New Roman" panose="02020603050405020304" pitchFamily="18" charset="0"/>
              </a:rPr>
              <a:t>Thank You</a:t>
            </a:r>
          </a:p>
        </p:txBody>
      </p:sp>
      <p:sp>
        <p:nvSpPr>
          <p:cNvPr id="16" name="Freeform 6">
            <a:extLst>
              <a:ext uri="{FF2B5EF4-FFF2-40B4-BE49-F238E27FC236}">
                <a16:creationId xmlns:a16="http://schemas.microsoft.com/office/drawing/2014/main" id="{B4734F2F-19FC-4D35-9BDE-5CEAD57D9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27878" y="2016617"/>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8" name="Freeform 6">
            <a:extLst>
              <a:ext uri="{FF2B5EF4-FFF2-40B4-BE49-F238E27FC236}">
                <a16:creationId xmlns:a16="http://schemas.microsoft.com/office/drawing/2014/main" id="{D97A8A26-FD96-4968-A34A-727382AC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649163" y="634028"/>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pic>
        <p:nvPicPr>
          <p:cNvPr id="7" name="Graphic 6" descr="Smiling Face with No Fill">
            <a:extLst>
              <a:ext uri="{FF2B5EF4-FFF2-40B4-BE49-F238E27FC236}">
                <a16:creationId xmlns:a16="http://schemas.microsoft.com/office/drawing/2014/main" id="{E08AB75A-973E-33EF-072C-B835FFD10C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71403" y="1425173"/>
            <a:ext cx="4207669" cy="4207669"/>
          </a:xfrm>
          <a:prstGeom prst="rect">
            <a:avLst/>
          </a:prstGeom>
        </p:spPr>
      </p:pic>
    </p:spTree>
    <p:extLst>
      <p:ext uri="{BB962C8B-B14F-4D97-AF65-F5344CB8AC3E}">
        <p14:creationId xmlns:p14="http://schemas.microsoft.com/office/powerpoint/2010/main" val="71711176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{D7266DEF-B306-F248-B2C7-F955E1044753}tf10001072</Template>
  <TotalTime>1029</TotalTime>
  <Words>743</Words>
  <Application>Microsoft Macintosh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Cambria Math</vt:lpstr>
      <vt:lpstr>Franklin Gothic Book</vt:lpstr>
      <vt:lpstr>Times New Roman</vt:lpstr>
      <vt:lpstr>Crop</vt:lpstr>
      <vt:lpstr>A Two DoF Self Adaptive Bionic Ankle</vt:lpstr>
      <vt:lpstr>Background Signficance and Proposal</vt:lpstr>
      <vt:lpstr>Theoretical Design</vt:lpstr>
      <vt:lpstr>Structural Design</vt:lpstr>
      <vt:lpstr>Hardware Design</vt:lpstr>
      <vt:lpstr>Software Programming</vt:lpstr>
      <vt:lpstr>Maximum Angle Experiment</vt:lpstr>
      <vt:lpstr>Self Adaptive Experinment</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 DoF Self Adaptive Bionic Ankle</dc:title>
  <dc:creator>Zhaohua Guo</dc:creator>
  <cp:lastModifiedBy>Zhaohua Guo</cp:lastModifiedBy>
  <cp:revision>21</cp:revision>
  <dcterms:created xsi:type="dcterms:W3CDTF">2024-08-10T03:12:19Z</dcterms:created>
  <dcterms:modified xsi:type="dcterms:W3CDTF">2024-09-20T09:46:06Z</dcterms:modified>
</cp:coreProperties>
</file>