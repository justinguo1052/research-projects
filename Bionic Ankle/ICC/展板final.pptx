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254" r:id="rId1"/>
  </p:sldMasterIdLst>
  <p:notesMasterIdLst>
    <p:notesMasterId r:id="rId3"/>
  </p:notesMasterIdLst>
  <p:sldIdLst>
    <p:sldId id="257" r:id="rId2"/>
  </p:sldIdLst>
  <p:sldSz cx="43200638" cy="32399288"/>
  <p:notesSz cx="6858000" cy="9144000"/>
  <p:custDataLst>
    <p:tags r:id="rId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03F2"/>
    <a:srgbClr val="204A55"/>
    <a:srgbClr val="C00000"/>
    <a:srgbClr val="4FC150"/>
    <a:srgbClr val="0331A0"/>
    <a:srgbClr val="767171"/>
    <a:srgbClr val="92D1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14" autoAdjust="0"/>
    <p:restoredTop sz="94335" autoAdjust="0"/>
  </p:normalViewPr>
  <p:slideViewPr>
    <p:cSldViewPr snapToGrid="0" snapToObjects="1">
      <p:cViewPr>
        <p:scale>
          <a:sx n="25" d="100"/>
          <a:sy n="25" d="100"/>
        </p:scale>
        <p:origin x="816" y="44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A0BD29-0F8C-BF48-930F-83FD406E5901}" type="datetimeFigureOut">
              <a:rPr lang="en-US" smtClean="0"/>
              <a:t>10/29/24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8B485-B3CA-1E41-A4A0-4011553F47EC}"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2592070" rtl="0" eaLnBrk="1" latinLnBrk="0" hangingPunct="1">
      <a:defRPr sz="3400" kern="1200">
        <a:solidFill>
          <a:schemeClr val="tx1"/>
        </a:solidFill>
        <a:latin typeface="+mn-lt"/>
        <a:ea typeface="+mn-ea"/>
        <a:cs typeface="+mn-cs"/>
      </a:defRPr>
    </a:lvl1pPr>
    <a:lvl2pPr marL="1296035" algn="l" defTabSz="2592070" rtl="0" eaLnBrk="1" latinLnBrk="0" hangingPunct="1">
      <a:defRPr sz="3400" kern="1200">
        <a:solidFill>
          <a:schemeClr val="tx1"/>
        </a:solidFill>
        <a:latin typeface="+mn-lt"/>
        <a:ea typeface="+mn-ea"/>
        <a:cs typeface="+mn-cs"/>
      </a:defRPr>
    </a:lvl2pPr>
    <a:lvl3pPr marL="2592070" algn="l" defTabSz="2592070" rtl="0" eaLnBrk="1" latinLnBrk="0" hangingPunct="1">
      <a:defRPr sz="3400" kern="1200">
        <a:solidFill>
          <a:schemeClr val="tx1"/>
        </a:solidFill>
        <a:latin typeface="+mn-lt"/>
        <a:ea typeface="+mn-ea"/>
        <a:cs typeface="+mn-cs"/>
      </a:defRPr>
    </a:lvl3pPr>
    <a:lvl4pPr marL="3888105" algn="l" defTabSz="2592070" rtl="0" eaLnBrk="1" latinLnBrk="0" hangingPunct="1">
      <a:defRPr sz="3400" kern="1200">
        <a:solidFill>
          <a:schemeClr val="tx1"/>
        </a:solidFill>
        <a:latin typeface="+mn-lt"/>
        <a:ea typeface="+mn-ea"/>
        <a:cs typeface="+mn-cs"/>
      </a:defRPr>
    </a:lvl4pPr>
    <a:lvl5pPr marL="5183505" algn="l" defTabSz="2592070" rtl="0" eaLnBrk="1" latinLnBrk="0" hangingPunct="1">
      <a:defRPr sz="3400" kern="1200">
        <a:solidFill>
          <a:schemeClr val="tx1"/>
        </a:solidFill>
        <a:latin typeface="+mn-lt"/>
        <a:ea typeface="+mn-ea"/>
        <a:cs typeface="+mn-cs"/>
      </a:defRPr>
    </a:lvl5pPr>
    <a:lvl6pPr marL="6479540" algn="l" defTabSz="2592070" rtl="0" eaLnBrk="1" latinLnBrk="0" hangingPunct="1">
      <a:defRPr sz="3400" kern="1200">
        <a:solidFill>
          <a:schemeClr val="tx1"/>
        </a:solidFill>
        <a:latin typeface="+mn-lt"/>
        <a:ea typeface="+mn-ea"/>
        <a:cs typeface="+mn-cs"/>
      </a:defRPr>
    </a:lvl6pPr>
    <a:lvl7pPr marL="7775575" algn="l" defTabSz="2592070" rtl="0" eaLnBrk="1" latinLnBrk="0" hangingPunct="1">
      <a:defRPr sz="3400" kern="1200">
        <a:solidFill>
          <a:schemeClr val="tx1"/>
        </a:solidFill>
        <a:latin typeface="+mn-lt"/>
        <a:ea typeface="+mn-ea"/>
        <a:cs typeface="+mn-cs"/>
      </a:defRPr>
    </a:lvl7pPr>
    <a:lvl8pPr marL="9071610" algn="l" defTabSz="2592070" rtl="0" eaLnBrk="1" latinLnBrk="0" hangingPunct="1">
      <a:defRPr sz="3400" kern="1200">
        <a:solidFill>
          <a:schemeClr val="tx1"/>
        </a:solidFill>
        <a:latin typeface="+mn-lt"/>
        <a:ea typeface="+mn-ea"/>
        <a:cs typeface="+mn-cs"/>
      </a:defRPr>
    </a:lvl8pPr>
    <a:lvl9pPr marL="10367645" algn="l" defTabSz="2592070" rtl="0" eaLnBrk="1" latinLnBrk="0" hangingPunct="1">
      <a:defRPr sz="3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 y="-3"/>
            <a:ext cx="43200647" cy="32399293"/>
          </a:xfrm>
          <a:prstGeom prst="rect">
            <a:avLst/>
          </a:prstGeom>
          <a:noFill/>
          <a:extLst>
            <a:ext uri="{909E8E84-426E-40dd-AFC4-6F175D3DCCD1}">
              <a14:hiddenFill xmlns:a14="http://schemas.microsoft.com/office/drawing/2010/main" xmlns="">
                <a:solidFill>
                  <a:srgbClr val="FFFFFF"/>
                </a:solidFill>
              </a14:hiddenFill>
            </a:ext>
          </a:extLst>
        </p:spPr>
      </p:pic>
      <p:grpSp>
        <p:nvGrpSpPr>
          <p:cNvPr id="66" name="Group 65"/>
          <p:cNvGrpSpPr/>
          <p:nvPr/>
        </p:nvGrpSpPr>
        <p:grpSpPr>
          <a:xfrm>
            <a:off x="2" y="2"/>
            <a:ext cx="10890166" cy="32399293"/>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977637" y="5302386"/>
            <a:ext cx="31151709" cy="11279752"/>
          </a:xfrm>
        </p:spPr>
        <p:txBody>
          <a:bodyPr anchor="b">
            <a:normAutofit/>
          </a:bodyPr>
          <a:lstStyle>
            <a:lvl1pPr algn="l">
              <a:defRPr sz="22677"/>
            </a:lvl1pPr>
          </a:lstStyle>
          <a:p>
            <a:r>
              <a:rPr lang="en-US"/>
              <a:t>Click to edit Master title style</a:t>
            </a:r>
            <a:endParaRPr lang="en-US" dirty="0"/>
          </a:p>
        </p:txBody>
      </p:sp>
      <p:sp>
        <p:nvSpPr>
          <p:cNvPr id="3" name="Subtitle 2"/>
          <p:cNvSpPr>
            <a:spLocks noGrp="1"/>
          </p:cNvSpPr>
          <p:nvPr>
            <p:ph type="subTitle" idx="1"/>
          </p:nvPr>
        </p:nvSpPr>
        <p:spPr>
          <a:xfrm>
            <a:off x="8977637" y="17017128"/>
            <a:ext cx="31151709" cy="7822326"/>
          </a:xfrm>
        </p:spPr>
        <p:txBody>
          <a:bodyPr>
            <a:normAutofit/>
          </a:bodyPr>
          <a:lstStyle>
            <a:lvl1pPr marL="0" indent="0" algn="l">
              <a:buNone/>
              <a:defRPr sz="9449" cap="all" baseline="0">
                <a:solidFill>
                  <a:schemeClr val="tx2"/>
                </a:solidFill>
              </a:defRPr>
            </a:lvl1pPr>
            <a:lvl2pPr marL="2159950" indent="0" algn="ctr">
              <a:buNone/>
              <a:defRPr sz="9449"/>
            </a:lvl2pPr>
            <a:lvl3pPr marL="4319900" indent="0" algn="ctr">
              <a:buNone/>
              <a:defRPr sz="8504"/>
            </a:lvl3pPr>
            <a:lvl4pPr marL="6479850" indent="0" algn="ctr">
              <a:buNone/>
              <a:defRPr sz="7559"/>
            </a:lvl4pPr>
            <a:lvl5pPr marL="8639800" indent="0" algn="ctr">
              <a:buNone/>
              <a:defRPr sz="7559"/>
            </a:lvl5pPr>
            <a:lvl6pPr marL="10799750" indent="0" algn="ctr">
              <a:buNone/>
              <a:defRPr sz="7559"/>
            </a:lvl6pPr>
            <a:lvl7pPr marL="12959700" indent="0" algn="ctr">
              <a:buNone/>
              <a:defRPr sz="7559"/>
            </a:lvl7pPr>
            <a:lvl8pPr marL="15119650" indent="0" algn="ctr">
              <a:buNone/>
              <a:defRPr sz="7559"/>
            </a:lvl8pPr>
            <a:lvl9pPr marL="17279600" indent="0" algn="ctr">
              <a:buNone/>
              <a:defRPr sz="7559"/>
            </a:lvl9pPr>
          </a:lstStyle>
          <a:p>
            <a:r>
              <a:rPr lang="en-US"/>
              <a:t>Click to edit Master subtitle style</a:t>
            </a:r>
            <a:endParaRPr lang="en-US" dirty="0"/>
          </a:p>
        </p:txBody>
      </p:sp>
      <p:sp>
        <p:nvSpPr>
          <p:cNvPr id="4" name="Date Placeholder 3"/>
          <p:cNvSpPr>
            <a:spLocks noGrp="1"/>
          </p:cNvSpPr>
          <p:nvPr>
            <p:ph type="dt" sz="half" idx="10"/>
          </p:nvPr>
        </p:nvSpPr>
        <p:spPr>
          <a:xfrm>
            <a:off x="27406949" y="25559450"/>
            <a:ext cx="9720144" cy="1724962"/>
          </a:xfrm>
        </p:spPr>
        <p:txBody>
          <a:bodyPr/>
          <a:lstStyle/>
          <a:p>
            <a:fld id="{BE3E4978-8222-5040-9981-142C2E5A5AAC}" type="datetimeFigureOut">
              <a:rPr lang="en-US" smtClean="0"/>
              <a:t>10/29/24</a:t>
            </a:fld>
            <a:endParaRPr lang="en-US"/>
          </a:p>
        </p:txBody>
      </p:sp>
      <p:sp>
        <p:nvSpPr>
          <p:cNvPr id="5" name="Footer Placeholder 4"/>
          <p:cNvSpPr>
            <a:spLocks noGrp="1"/>
          </p:cNvSpPr>
          <p:nvPr>
            <p:ph type="ftr" sz="quarter" idx="11"/>
          </p:nvPr>
        </p:nvSpPr>
        <p:spPr>
          <a:xfrm>
            <a:off x="8977633" y="25559450"/>
            <a:ext cx="18159315" cy="1724962"/>
          </a:xfrm>
        </p:spPr>
        <p:txBody>
          <a:bodyPr/>
          <a:lstStyle/>
          <a:p>
            <a:endParaRPr lang="en-US"/>
          </a:p>
        </p:txBody>
      </p:sp>
      <p:sp>
        <p:nvSpPr>
          <p:cNvPr id="6" name="Slide Number Placeholder 5"/>
          <p:cNvSpPr>
            <a:spLocks noGrp="1"/>
          </p:cNvSpPr>
          <p:nvPr>
            <p:ph type="sldNum" sz="quarter" idx="12"/>
          </p:nvPr>
        </p:nvSpPr>
        <p:spPr>
          <a:xfrm>
            <a:off x="37397104" y="25559441"/>
            <a:ext cx="2732247" cy="1724962"/>
          </a:xfrm>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330076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4044440" y="2922068"/>
            <a:ext cx="35100514" cy="6985217"/>
          </a:xfrm>
        </p:spPr>
        <p:txBody>
          <a:bodyPr/>
          <a:lstStyle/>
          <a:p>
            <a:r>
              <a:rPr lang="en-US"/>
              <a:t>Click to edit Master title style</a:t>
            </a:r>
            <a:endParaRPr lang="en-US" dirty="0"/>
          </a:p>
        </p:txBody>
      </p:sp>
      <p:sp>
        <p:nvSpPr>
          <p:cNvPr id="48" name="Content Placeholder 2"/>
          <p:cNvSpPr>
            <a:spLocks noGrp="1"/>
          </p:cNvSpPr>
          <p:nvPr>
            <p:ph idx="1"/>
          </p:nvPr>
        </p:nvSpPr>
        <p:spPr>
          <a:xfrm>
            <a:off x="4044440" y="10627264"/>
            <a:ext cx="35100514" cy="167321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26422552" y="27794401"/>
            <a:ext cx="9720144" cy="1724962"/>
          </a:xfrm>
        </p:spPr>
        <p:txBody>
          <a:bodyPr/>
          <a:lstStyle/>
          <a:p>
            <a:fld id="{BE3E4978-8222-5040-9981-142C2E5A5AAC}" type="datetimeFigureOut">
              <a:rPr lang="en-US" smtClean="0"/>
              <a:t>10/29/24</a:t>
            </a:fld>
            <a:endParaRPr lang="en-US"/>
          </a:p>
        </p:txBody>
      </p:sp>
      <p:sp>
        <p:nvSpPr>
          <p:cNvPr id="50" name="Footer Placeholder 4"/>
          <p:cNvSpPr>
            <a:spLocks noGrp="1"/>
          </p:cNvSpPr>
          <p:nvPr>
            <p:ph type="ftr" sz="quarter" idx="11"/>
          </p:nvPr>
        </p:nvSpPr>
        <p:spPr>
          <a:xfrm>
            <a:off x="4044433" y="27794396"/>
            <a:ext cx="22108115" cy="1724962"/>
          </a:xfrm>
        </p:spPr>
        <p:txBody>
          <a:bodyPr/>
          <a:lstStyle/>
          <a:p>
            <a:endParaRPr lang="en-US"/>
          </a:p>
        </p:txBody>
      </p:sp>
      <p:sp>
        <p:nvSpPr>
          <p:cNvPr id="51" name="Slide Number Placeholder 5"/>
          <p:cNvSpPr>
            <a:spLocks noGrp="1"/>
          </p:cNvSpPr>
          <p:nvPr>
            <p:ph type="sldNum" sz="quarter" idx="12"/>
          </p:nvPr>
        </p:nvSpPr>
        <p:spPr>
          <a:xfrm>
            <a:off x="36412702" y="27794392"/>
            <a:ext cx="2732247" cy="1724962"/>
          </a:xfrm>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483830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044428" y="6704865"/>
            <a:ext cx="35100518" cy="13477201"/>
          </a:xfrm>
        </p:spPr>
        <p:txBody>
          <a:bodyPr anchor="b">
            <a:normAutofit/>
          </a:bodyPr>
          <a:lstStyle>
            <a:lvl1pPr>
              <a:defRPr sz="17007"/>
            </a:lvl1pPr>
          </a:lstStyle>
          <a:p>
            <a:r>
              <a:rPr lang="en-US"/>
              <a:t>Click to edit Master title style</a:t>
            </a:r>
            <a:endParaRPr lang="en-US" dirty="0"/>
          </a:p>
        </p:txBody>
      </p:sp>
      <p:sp>
        <p:nvSpPr>
          <p:cNvPr id="3" name="Text Placeholder 2"/>
          <p:cNvSpPr>
            <a:spLocks noGrp="1"/>
          </p:cNvSpPr>
          <p:nvPr>
            <p:ph type="body" idx="1"/>
          </p:nvPr>
        </p:nvSpPr>
        <p:spPr>
          <a:xfrm>
            <a:off x="4044428" y="20902038"/>
            <a:ext cx="35100518" cy="6494862"/>
          </a:xfrm>
        </p:spPr>
        <p:txBody>
          <a:bodyPr>
            <a:normAutofit/>
          </a:bodyPr>
          <a:lstStyle>
            <a:lvl1pPr marL="0" indent="0">
              <a:buNone/>
              <a:defRPr sz="8504" cap="all" baseline="0">
                <a:solidFill>
                  <a:schemeClr val="tx1">
                    <a:tint val="75000"/>
                  </a:schemeClr>
                </a:solidFill>
              </a:defRPr>
            </a:lvl1pPr>
            <a:lvl2pPr marL="2159950" indent="0">
              <a:buNone/>
              <a:defRPr sz="8504">
                <a:solidFill>
                  <a:schemeClr val="tx1">
                    <a:tint val="75000"/>
                  </a:schemeClr>
                </a:solidFill>
              </a:defRPr>
            </a:lvl2pPr>
            <a:lvl3pPr marL="4319900" indent="0">
              <a:buNone/>
              <a:defRPr sz="8504">
                <a:solidFill>
                  <a:schemeClr val="tx1">
                    <a:tint val="75000"/>
                  </a:schemeClr>
                </a:solidFill>
              </a:defRPr>
            </a:lvl3pPr>
            <a:lvl4pPr marL="6479850" indent="0">
              <a:buNone/>
              <a:defRPr sz="7559">
                <a:solidFill>
                  <a:schemeClr val="tx1">
                    <a:tint val="75000"/>
                  </a:schemeClr>
                </a:solidFill>
              </a:defRPr>
            </a:lvl4pPr>
            <a:lvl5pPr marL="8639800" indent="0">
              <a:buNone/>
              <a:defRPr sz="7559">
                <a:solidFill>
                  <a:schemeClr val="tx1">
                    <a:tint val="75000"/>
                  </a:schemeClr>
                </a:solidFill>
              </a:defRPr>
            </a:lvl5pPr>
            <a:lvl6pPr marL="10799750" indent="0">
              <a:buNone/>
              <a:defRPr sz="7559">
                <a:solidFill>
                  <a:schemeClr val="tx1">
                    <a:tint val="75000"/>
                  </a:schemeClr>
                </a:solidFill>
              </a:defRPr>
            </a:lvl6pPr>
            <a:lvl7pPr marL="12959700" indent="0">
              <a:buNone/>
              <a:defRPr sz="7559">
                <a:solidFill>
                  <a:schemeClr val="tx1">
                    <a:tint val="75000"/>
                  </a:schemeClr>
                </a:solidFill>
              </a:defRPr>
            </a:lvl7pPr>
            <a:lvl8pPr marL="15119650" indent="0">
              <a:buNone/>
              <a:defRPr sz="7559">
                <a:solidFill>
                  <a:schemeClr val="tx1">
                    <a:tint val="75000"/>
                  </a:schemeClr>
                </a:solidFill>
              </a:defRPr>
            </a:lvl8pPr>
            <a:lvl9pPr marL="17279600" indent="0">
              <a:buNone/>
              <a:defRPr sz="755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3E4978-8222-5040-9981-142C2E5A5AAC}" type="datetimeFigureOut">
              <a:rPr lang="en-US" smtClean="0"/>
              <a:t>10/29/24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515057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044428" y="10627260"/>
            <a:ext cx="17285887" cy="167321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1870328" y="10627260"/>
            <a:ext cx="17274624" cy="167321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3E4978-8222-5040-9981-142C2E5A5AAC}" type="datetimeFigureOut">
              <a:rPr lang="en-US" smtClean="0"/>
              <a:t>10/29/24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2714492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044428" y="2924948"/>
            <a:ext cx="35100518" cy="69823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097252" y="10627259"/>
            <a:ext cx="16233070" cy="3892412"/>
          </a:xfrm>
        </p:spPr>
        <p:txBody>
          <a:bodyPr anchor="b"/>
          <a:lstStyle>
            <a:lvl1pPr marL="0" indent="0">
              <a:lnSpc>
                <a:spcPct val="90000"/>
              </a:lnSpc>
              <a:buNone/>
              <a:defRPr sz="11338"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4" name="Content Placeholder 3"/>
          <p:cNvSpPr>
            <a:spLocks noGrp="1"/>
          </p:cNvSpPr>
          <p:nvPr>
            <p:ph sz="half" idx="2"/>
          </p:nvPr>
        </p:nvSpPr>
        <p:spPr>
          <a:xfrm>
            <a:off x="4044430" y="14519674"/>
            <a:ext cx="17285892" cy="12839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923138" y="10627255"/>
            <a:ext cx="16221806" cy="3892412"/>
          </a:xfrm>
        </p:spPr>
        <p:txBody>
          <a:bodyPr anchor="b"/>
          <a:lstStyle>
            <a:lvl1pPr marL="0" indent="0">
              <a:lnSpc>
                <a:spcPct val="90000"/>
              </a:lnSpc>
              <a:buNone/>
              <a:defRPr sz="11338"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6" name="Content Placeholder 5"/>
          <p:cNvSpPr>
            <a:spLocks noGrp="1"/>
          </p:cNvSpPr>
          <p:nvPr>
            <p:ph sz="quarter" idx="4"/>
          </p:nvPr>
        </p:nvSpPr>
        <p:spPr>
          <a:xfrm>
            <a:off x="21870323" y="14519674"/>
            <a:ext cx="17274624" cy="12839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3E4978-8222-5040-9981-142C2E5A5AAC}" type="datetimeFigureOut">
              <a:rPr lang="en-US" smtClean="0"/>
              <a:t>10/29/24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2992535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3E4978-8222-5040-9981-142C2E5A5AAC}" type="datetimeFigureOut">
              <a:rPr lang="en-US" smtClean="0"/>
              <a:t>10/29/24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407660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3E4978-8222-5040-9981-142C2E5A5AAC}" type="datetimeFigureOut">
              <a:rPr lang="en-US" smtClean="0"/>
              <a:t>10/29/24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655512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3189" y="2879942"/>
            <a:ext cx="13663326" cy="7747313"/>
          </a:xfrm>
        </p:spPr>
        <p:txBody>
          <a:bodyPr anchor="b"/>
          <a:lstStyle>
            <a:lvl1pPr>
              <a:defRPr sz="15118"/>
            </a:lvl1pPr>
          </a:lstStyle>
          <a:p>
            <a:r>
              <a:rPr lang="en-US"/>
              <a:t>Click to edit Master title style</a:t>
            </a:r>
            <a:endParaRPr lang="en-US" dirty="0"/>
          </a:p>
        </p:txBody>
      </p:sp>
      <p:sp>
        <p:nvSpPr>
          <p:cNvPr id="3" name="Content Placeholder 2"/>
          <p:cNvSpPr>
            <a:spLocks noGrp="1"/>
          </p:cNvSpPr>
          <p:nvPr>
            <p:ph idx="1"/>
          </p:nvPr>
        </p:nvSpPr>
        <p:spPr>
          <a:xfrm>
            <a:off x="18270272" y="2799936"/>
            <a:ext cx="20874672" cy="2455946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063189" y="10627260"/>
            <a:ext cx="13663326" cy="16732139"/>
          </a:xfrm>
        </p:spPr>
        <p:txBody>
          <a:bodyPr/>
          <a:lstStyle>
            <a:lvl1pPr marL="0" indent="0">
              <a:buNone/>
              <a:defRPr sz="7559"/>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10/29/24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1578528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44443" y="2879937"/>
            <a:ext cx="17735515" cy="7747323"/>
          </a:xfrm>
        </p:spPr>
        <p:txBody>
          <a:bodyPr anchor="b"/>
          <a:lstStyle>
            <a:lvl1pPr>
              <a:defRPr sz="15118"/>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32778" y="2879937"/>
            <a:ext cx="16312176" cy="24479471"/>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15118"/>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4044433" y="10627260"/>
            <a:ext cx="17735525" cy="16732139"/>
          </a:xfrm>
        </p:spPr>
        <p:txBody>
          <a:bodyPr/>
          <a:lstStyle>
            <a:lvl1pPr marL="0" indent="0">
              <a:buNone/>
              <a:defRPr sz="7559"/>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10/29/24</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037701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44428" y="20336556"/>
            <a:ext cx="35123035" cy="3870883"/>
          </a:xfrm>
        </p:spPr>
        <p:txBody>
          <a:bodyPr anchor="b">
            <a:normAutofit/>
          </a:bodyPr>
          <a:lstStyle>
            <a:lvl1pPr>
              <a:defRPr sz="15118"/>
            </a:lvl1pPr>
          </a:lstStyle>
          <a:p>
            <a:r>
              <a:rPr lang="en-US"/>
              <a:t>Click to edit Master title style</a:t>
            </a:r>
            <a:endParaRPr lang="en-US" dirty="0"/>
          </a:p>
        </p:txBody>
      </p:sp>
      <p:sp>
        <p:nvSpPr>
          <p:cNvPr id="3" name="Picture Placeholder 2"/>
          <p:cNvSpPr>
            <a:spLocks noGrp="1" noChangeAspect="1"/>
          </p:cNvSpPr>
          <p:nvPr>
            <p:ph type="pic" idx="1"/>
          </p:nvPr>
        </p:nvSpPr>
        <p:spPr>
          <a:xfrm>
            <a:off x="4044428" y="2864942"/>
            <a:ext cx="35123035" cy="15589160"/>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118"/>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4044268" y="24207437"/>
            <a:ext cx="35117734" cy="3224206"/>
          </a:xfrm>
        </p:spPr>
        <p:txBody>
          <a:bodyPr>
            <a:normAutofit/>
          </a:bodyPr>
          <a:lstStyle>
            <a:lvl1pPr marL="0" indent="0">
              <a:buNone/>
              <a:defRPr sz="7559"/>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10/29/24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119561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4044593" y="2879937"/>
            <a:ext cx="35100358" cy="16199644"/>
          </a:xfrm>
        </p:spPr>
        <p:txBody>
          <a:bodyPr anchor="ctr">
            <a:normAutofit/>
          </a:bodyPr>
          <a:lstStyle>
            <a:lvl1pPr>
              <a:defRPr sz="17007"/>
            </a:lvl1pPr>
          </a:lstStyle>
          <a:p>
            <a:r>
              <a:rPr lang="en-US"/>
              <a:t>Click to edit Master title style</a:t>
            </a:r>
            <a:endParaRPr lang="en-US" dirty="0"/>
          </a:p>
        </p:txBody>
      </p:sp>
      <p:sp>
        <p:nvSpPr>
          <p:cNvPr id="4" name="Text Placeholder 3"/>
          <p:cNvSpPr>
            <a:spLocks noGrp="1"/>
          </p:cNvSpPr>
          <p:nvPr>
            <p:ph type="body" sz="half" idx="2"/>
          </p:nvPr>
        </p:nvSpPr>
        <p:spPr>
          <a:xfrm>
            <a:off x="4044428" y="20879543"/>
            <a:ext cx="35095057" cy="6479853"/>
          </a:xfrm>
        </p:spPr>
        <p:txBody>
          <a:bodyPr anchor="ctr">
            <a:normAutofit/>
          </a:bodyPr>
          <a:lstStyle>
            <a:lvl1pPr marL="0" indent="0">
              <a:buNone/>
              <a:defRPr sz="8504"/>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10/29/24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2920817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24449" y="2879939"/>
            <a:ext cx="32962994" cy="12984419"/>
          </a:xfrm>
        </p:spPr>
        <p:txBody>
          <a:bodyPr anchor="ctr">
            <a:normAutofit/>
          </a:bodyPr>
          <a:lstStyle>
            <a:lvl1pPr>
              <a:defRPr sz="17007"/>
            </a:lvl1pPr>
          </a:lstStyle>
          <a:p>
            <a:r>
              <a:rPr lang="en-US"/>
              <a:t>Click to edit Master title style</a:t>
            </a:r>
            <a:endParaRPr lang="en-US" dirty="0"/>
          </a:p>
        </p:txBody>
      </p:sp>
      <p:sp>
        <p:nvSpPr>
          <p:cNvPr id="12" name="Text Placeholder 3"/>
          <p:cNvSpPr>
            <a:spLocks noGrp="1"/>
          </p:cNvSpPr>
          <p:nvPr>
            <p:ph type="body" sz="half" idx="13"/>
          </p:nvPr>
        </p:nvSpPr>
        <p:spPr>
          <a:xfrm>
            <a:off x="6096865" y="15899920"/>
            <a:ext cx="31012540" cy="2593493"/>
          </a:xfrm>
        </p:spPr>
        <p:txBody>
          <a:bodyPr anchor="t">
            <a:normAutofit/>
          </a:bodyPr>
          <a:lstStyle>
            <a:lvl1pPr marL="0" indent="0">
              <a:buNone/>
              <a:defRPr sz="6614"/>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4" name="Text Placeholder 3"/>
          <p:cNvSpPr>
            <a:spLocks noGrp="1"/>
          </p:cNvSpPr>
          <p:nvPr>
            <p:ph type="body" sz="half" idx="2"/>
          </p:nvPr>
        </p:nvSpPr>
        <p:spPr>
          <a:xfrm>
            <a:off x="4044428" y="20361375"/>
            <a:ext cx="35100528" cy="7036834"/>
          </a:xfrm>
        </p:spPr>
        <p:txBody>
          <a:bodyPr anchor="ctr">
            <a:normAutofit/>
          </a:bodyPr>
          <a:lstStyle>
            <a:lvl1pPr marL="0" indent="0">
              <a:buNone/>
              <a:defRPr sz="8504"/>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10/29/24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
        <p:nvSpPr>
          <p:cNvPr id="52" name="TextBox 51"/>
          <p:cNvSpPr txBox="1"/>
          <p:nvPr/>
        </p:nvSpPr>
        <p:spPr>
          <a:xfrm>
            <a:off x="3290973" y="3394215"/>
            <a:ext cx="2160032" cy="2762661"/>
          </a:xfrm>
          <a:prstGeom prst="rect">
            <a:avLst/>
          </a:prstGeom>
        </p:spPr>
        <p:txBody>
          <a:bodyPr vert="horz" lIns="431991" tIns="215995" rIns="431991" bIns="215995"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37794" dirty="0">
                <a:solidFill>
                  <a:schemeClr val="tx1"/>
                </a:solidFill>
                <a:effectLst/>
              </a:rPr>
              <a:t>“</a:t>
            </a:r>
          </a:p>
        </p:txBody>
      </p:sp>
      <p:sp>
        <p:nvSpPr>
          <p:cNvPr id="53" name="TextBox 52"/>
          <p:cNvSpPr txBox="1"/>
          <p:nvPr/>
        </p:nvSpPr>
        <p:spPr>
          <a:xfrm>
            <a:off x="36933489" y="13062573"/>
            <a:ext cx="2160032" cy="2762661"/>
          </a:xfrm>
          <a:prstGeom prst="rect">
            <a:avLst/>
          </a:prstGeom>
        </p:spPr>
        <p:txBody>
          <a:bodyPr vert="horz" lIns="431991" tIns="215995" rIns="431991" bIns="215995"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37794" dirty="0">
                <a:solidFill>
                  <a:schemeClr val="tx1"/>
                </a:solidFill>
                <a:effectLst/>
              </a:rPr>
              <a:t>”</a:t>
            </a:r>
          </a:p>
        </p:txBody>
      </p:sp>
    </p:spTree>
    <p:extLst>
      <p:ext uri="{BB962C8B-B14F-4D97-AF65-F5344CB8AC3E}">
        <p14:creationId xmlns:p14="http://schemas.microsoft.com/office/powerpoint/2010/main" val="2849992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4044431" y="10081869"/>
            <a:ext cx="35100523" cy="11866676"/>
          </a:xfrm>
        </p:spPr>
        <p:txBody>
          <a:bodyPr anchor="b">
            <a:normAutofit/>
          </a:bodyPr>
          <a:lstStyle>
            <a:lvl1pPr>
              <a:defRPr sz="17007"/>
            </a:lvl1pPr>
          </a:lstStyle>
          <a:p>
            <a:r>
              <a:rPr lang="en-US"/>
              <a:t>Click to edit Master title style</a:t>
            </a:r>
            <a:endParaRPr lang="en-US" dirty="0"/>
          </a:p>
        </p:txBody>
      </p:sp>
      <p:sp>
        <p:nvSpPr>
          <p:cNvPr id="4" name="Text Placeholder 3"/>
          <p:cNvSpPr>
            <a:spLocks noGrp="1"/>
          </p:cNvSpPr>
          <p:nvPr>
            <p:ph type="body" sz="half" idx="2"/>
          </p:nvPr>
        </p:nvSpPr>
        <p:spPr>
          <a:xfrm>
            <a:off x="4044265" y="22004186"/>
            <a:ext cx="35095222" cy="5388751"/>
          </a:xfrm>
        </p:spPr>
        <p:txBody>
          <a:bodyPr anchor="t">
            <a:normAutofit/>
          </a:bodyPr>
          <a:lstStyle>
            <a:lvl1pPr marL="0" indent="0">
              <a:buNone/>
              <a:defRPr sz="8504"/>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10/29/24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3309460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4044440" y="2879937"/>
            <a:ext cx="35100514" cy="8999802"/>
          </a:xfrm>
        </p:spPr>
        <p:txBody>
          <a:bodyPr/>
          <a:lstStyle/>
          <a:p>
            <a:r>
              <a:rPr lang="en-US"/>
              <a:t>Click to edit Master title style</a:t>
            </a:r>
            <a:endParaRPr lang="en-US" dirty="0"/>
          </a:p>
        </p:txBody>
      </p:sp>
      <p:sp>
        <p:nvSpPr>
          <p:cNvPr id="7" name="Text Placeholder 2"/>
          <p:cNvSpPr>
            <a:spLocks noGrp="1"/>
          </p:cNvSpPr>
          <p:nvPr>
            <p:ph type="body" idx="1"/>
          </p:nvPr>
        </p:nvSpPr>
        <p:spPr>
          <a:xfrm>
            <a:off x="4044428" y="12634981"/>
            <a:ext cx="11327761" cy="3239929"/>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8" name="Text Placeholder 3"/>
          <p:cNvSpPr>
            <a:spLocks noGrp="1"/>
          </p:cNvSpPr>
          <p:nvPr>
            <p:ph type="body" sz="half" idx="15"/>
          </p:nvPr>
        </p:nvSpPr>
        <p:spPr>
          <a:xfrm>
            <a:off x="4044433" y="15874909"/>
            <a:ext cx="11321893" cy="11484485"/>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9" name="Text Placeholder 4"/>
          <p:cNvSpPr>
            <a:spLocks noGrp="1"/>
          </p:cNvSpPr>
          <p:nvPr>
            <p:ph type="body" sz="quarter" idx="3"/>
          </p:nvPr>
        </p:nvSpPr>
        <p:spPr>
          <a:xfrm>
            <a:off x="15997443" y="12649966"/>
            <a:ext cx="11283422" cy="3239929"/>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10" name="Text Placeholder 3"/>
          <p:cNvSpPr>
            <a:spLocks noGrp="1"/>
          </p:cNvSpPr>
          <p:nvPr>
            <p:ph type="body" sz="half" idx="16"/>
          </p:nvPr>
        </p:nvSpPr>
        <p:spPr>
          <a:xfrm>
            <a:off x="15997441" y="15889895"/>
            <a:ext cx="11286582" cy="11484485"/>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11" name="Text Placeholder 4"/>
          <p:cNvSpPr>
            <a:spLocks noGrp="1"/>
          </p:cNvSpPr>
          <p:nvPr>
            <p:ph type="body" sz="quarter" idx="13"/>
          </p:nvPr>
        </p:nvSpPr>
        <p:spPr>
          <a:xfrm>
            <a:off x="27824027" y="12634981"/>
            <a:ext cx="11320920" cy="3239929"/>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12" name="Text Placeholder 3"/>
          <p:cNvSpPr>
            <a:spLocks noGrp="1"/>
          </p:cNvSpPr>
          <p:nvPr>
            <p:ph type="body" sz="half" idx="17"/>
          </p:nvPr>
        </p:nvSpPr>
        <p:spPr>
          <a:xfrm>
            <a:off x="27824027" y="15874909"/>
            <a:ext cx="11320920" cy="11484485"/>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3" name="Date Placeholder 2"/>
          <p:cNvSpPr>
            <a:spLocks noGrp="1"/>
          </p:cNvSpPr>
          <p:nvPr>
            <p:ph type="dt" sz="half" idx="10"/>
          </p:nvPr>
        </p:nvSpPr>
        <p:spPr/>
        <p:txBody>
          <a:bodyPr/>
          <a:lstStyle/>
          <a:p>
            <a:fld id="{BE3E4978-8222-5040-9981-142C2E5A5AAC}" type="datetimeFigureOut">
              <a:rPr lang="en-US" smtClean="0"/>
              <a:t>10/29/24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2498808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4044435" y="2879937"/>
            <a:ext cx="35100514" cy="899980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4044438" y="20808658"/>
            <a:ext cx="11321884" cy="2722438"/>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20" name="Picture Placeholder 2"/>
          <p:cNvSpPr>
            <a:spLocks noGrp="1" noChangeAspect="1"/>
          </p:cNvSpPr>
          <p:nvPr>
            <p:ph type="pic" idx="15"/>
          </p:nvPr>
        </p:nvSpPr>
        <p:spPr>
          <a:xfrm>
            <a:off x="4044438" y="12599714"/>
            <a:ext cx="11321884" cy="7199842"/>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8504"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4044438" y="23531103"/>
            <a:ext cx="11321884" cy="3863740"/>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22" name="Text Placeholder 4"/>
          <p:cNvSpPr>
            <a:spLocks noGrp="1"/>
          </p:cNvSpPr>
          <p:nvPr>
            <p:ph type="body" sz="quarter" idx="3"/>
          </p:nvPr>
        </p:nvSpPr>
        <p:spPr>
          <a:xfrm>
            <a:off x="15906330" y="20808658"/>
            <a:ext cx="11340167" cy="2722438"/>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23" name="Picture Placeholder 2"/>
          <p:cNvSpPr>
            <a:spLocks noGrp="1" noChangeAspect="1"/>
          </p:cNvSpPr>
          <p:nvPr>
            <p:ph type="pic" idx="21"/>
          </p:nvPr>
        </p:nvSpPr>
        <p:spPr>
          <a:xfrm>
            <a:off x="15906332" y="12599714"/>
            <a:ext cx="11334994" cy="7199842"/>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8504"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15901156" y="23531091"/>
            <a:ext cx="11340167" cy="3828303"/>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25" name="Text Placeholder 4"/>
          <p:cNvSpPr>
            <a:spLocks noGrp="1"/>
          </p:cNvSpPr>
          <p:nvPr>
            <p:ph type="body" sz="quarter" idx="13"/>
          </p:nvPr>
        </p:nvSpPr>
        <p:spPr>
          <a:xfrm>
            <a:off x="27824471" y="20808653"/>
            <a:ext cx="11305943" cy="2722438"/>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26" name="Picture Placeholder 2"/>
          <p:cNvSpPr>
            <a:spLocks noGrp="1" noChangeAspect="1"/>
          </p:cNvSpPr>
          <p:nvPr>
            <p:ph type="pic" idx="22"/>
          </p:nvPr>
        </p:nvSpPr>
        <p:spPr>
          <a:xfrm>
            <a:off x="27824029" y="12599714"/>
            <a:ext cx="11320925" cy="7199842"/>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8504"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27824027" y="23531084"/>
            <a:ext cx="11320920" cy="3828317"/>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3" name="Date Placeholder 2"/>
          <p:cNvSpPr>
            <a:spLocks noGrp="1"/>
          </p:cNvSpPr>
          <p:nvPr>
            <p:ph type="dt" sz="half" idx="10"/>
          </p:nvPr>
        </p:nvSpPr>
        <p:spPr/>
        <p:txBody>
          <a:bodyPr/>
          <a:lstStyle/>
          <a:p>
            <a:fld id="{BE3E4978-8222-5040-9981-142C2E5A5AAC}" type="datetimeFigureOut">
              <a:rPr lang="en-US" smtClean="0"/>
              <a:t>10/29/24</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15451866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E4978-8222-5040-9981-142C2E5A5AAC}" type="datetimeFigureOut">
              <a:rPr lang="en-US" smtClean="0"/>
              <a:t>10/29/24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26278930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040478" y="2879939"/>
            <a:ext cx="7104473" cy="2447946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044426" y="2879939"/>
            <a:ext cx="27456042" cy="244794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E4978-8222-5040-9981-142C2E5A5AAC}" type="datetimeFigureOut">
              <a:rPr lang="en-US" smtClean="0"/>
              <a:t>10/29/24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1032247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 y="-3"/>
            <a:ext cx="43200647" cy="32399293"/>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67503" y="2"/>
            <a:ext cx="42717673" cy="32399293"/>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4044440" y="2922068"/>
            <a:ext cx="35100514" cy="6985217"/>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4044440" y="10627264"/>
            <a:ext cx="35100514" cy="167321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422552" y="27794401"/>
            <a:ext cx="9720144" cy="1724962"/>
          </a:xfrm>
          <a:prstGeom prst="rect">
            <a:avLst/>
          </a:prstGeom>
        </p:spPr>
        <p:txBody>
          <a:bodyPr vert="horz" lIns="91440" tIns="45720" rIns="91440" bIns="45720" rtlCol="0" anchor="ctr"/>
          <a:lstStyle>
            <a:lvl1pPr algn="r">
              <a:defRPr sz="4961">
                <a:solidFill>
                  <a:schemeClr val="tx1">
                    <a:tint val="75000"/>
                  </a:schemeClr>
                </a:solidFill>
              </a:defRPr>
            </a:lvl1pPr>
          </a:lstStyle>
          <a:p>
            <a:fld id="{BE3E4978-8222-5040-9981-142C2E5A5AAC}" type="datetimeFigureOut">
              <a:rPr lang="en-US" smtClean="0"/>
              <a:t>10/29/24</a:t>
            </a:fld>
            <a:endParaRPr lang="en-US"/>
          </a:p>
        </p:txBody>
      </p:sp>
      <p:sp>
        <p:nvSpPr>
          <p:cNvPr id="5" name="Footer Placeholder 4"/>
          <p:cNvSpPr>
            <a:spLocks noGrp="1"/>
          </p:cNvSpPr>
          <p:nvPr>
            <p:ph type="ftr" sz="quarter" idx="3"/>
          </p:nvPr>
        </p:nvSpPr>
        <p:spPr>
          <a:xfrm>
            <a:off x="4044433" y="27794396"/>
            <a:ext cx="22108115" cy="1724962"/>
          </a:xfrm>
          <a:prstGeom prst="rect">
            <a:avLst/>
          </a:prstGeom>
        </p:spPr>
        <p:txBody>
          <a:bodyPr vert="horz" lIns="91440" tIns="45720" rIns="91440" bIns="45720" rtlCol="0" anchor="ctr"/>
          <a:lstStyle>
            <a:lvl1pPr algn="l">
              <a:defRPr sz="4961">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6412702" y="27794392"/>
            <a:ext cx="2732247" cy="1724962"/>
          </a:xfrm>
          <a:prstGeom prst="rect">
            <a:avLst/>
          </a:prstGeom>
        </p:spPr>
        <p:txBody>
          <a:bodyPr vert="horz" lIns="91440" tIns="45720" rIns="91440" bIns="45720" rtlCol="0" anchor="ctr"/>
          <a:lstStyle>
            <a:lvl1pPr algn="r">
              <a:defRPr sz="4961">
                <a:solidFill>
                  <a:schemeClr val="tx1">
                    <a:tint val="75000"/>
                  </a:schemeClr>
                </a:solidFill>
              </a:defRPr>
            </a:lvl1pPr>
          </a:lstStyle>
          <a:p>
            <a:fld id="{E4E1B74E-E9F3-6D41-AB16-5D2F5574BA09}" type="slidenum">
              <a:rPr lang="en-US" smtClean="0"/>
              <a:t>‹#›</a:t>
            </a:fld>
            <a:endParaRPr lang="en-US"/>
          </a:p>
        </p:txBody>
      </p:sp>
    </p:spTree>
    <p:extLst>
      <p:ext uri="{BB962C8B-B14F-4D97-AF65-F5344CB8AC3E}">
        <p14:creationId xmlns:p14="http://schemas.microsoft.com/office/powerpoint/2010/main" val="159620545"/>
      </p:ext>
    </p:extLst>
  </p:cSld>
  <p:clrMap bg1="dk1" tx1="lt1" bg2="dk2" tx2="lt2" accent1="accent1" accent2="accent2" accent3="accent3" accent4="accent4" accent5="accent5" accent6="accent6" hlink="hlink" folHlink="folHlink"/>
  <p:sldLayoutIdLst>
    <p:sldLayoutId id="2147484255" r:id="rId1"/>
    <p:sldLayoutId id="2147484256" r:id="rId2"/>
    <p:sldLayoutId id="2147484257" r:id="rId3"/>
    <p:sldLayoutId id="2147484258" r:id="rId4"/>
    <p:sldLayoutId id="2147484259" r:id="rId5"/>
    <p:sldLayoutId id="2147484260" r:id="rId6"/>
    <p:sldLayoutId id="2147484261" r:id="rId7"/>
    <p:sldLayoutId id="2147484262" r:id="rId8"/>
    <p:sldLayoutId id="2147484263" r:id="rId9"/>
    <p:sldLayoutId id="2147484264" r:id="rId10"/>
    <p:sldLayoutId id="2147484265" r:id="rId11"/>
    <p:sldLayoutId id="2147484266" r:id="rId12"/>
    <p:sldLayoutId id="2147484267" r:id="rId13"/>
    <p:sldLayoutId id="2147484268" r:id="rId14"/>
    <p:sldLayoutId id="2147484269" r:id="rId15"/>
    <p:sldLayoutId id="2147484270" r:id="rId16"/>
    <p:sldLayoutId id="2147484271" r:id="rId17"/>
  </p:sldLayoutIdLst>
  <p:txStyles>
    <p:titleStyle>
      <a:lvl1pPr algn="l" defTabSz="4319900" rtl="0" eaLnBrk="1" latinLnBrk="0" hangingPunct="1">
        <a:lnSpc>
          <a:spcPct val="90000"/>
        </a:lnSpc>
        <a:spcBef>
          <a:spcPct val="0"/>
        </a:spcBef>
        <a:buNone/>
        <a:defRPr sz="17007" kern="1200" cap="all" baseline="0">
          <a:solidFill>
            <a:schemeClr val="tx1"/>
          </a:solidFill>
          <a:latin typeface="+mj-lt"/>
          <a:ea typeface="+mj-ea"/>
          <a:cs typeface="+mj-cs"/>
        </a:defRPr>
      </a:lvl1pPr>
    </p:titleStyle>
    <p:bodyStyle>
      <a:lvl1pPr marL="1079975" indent="-1079975" algn="l" defTabSz="4319900" rtl="0" eaLnBrk="1" latinLnBrk="0" hangingPunct="1">
        <a:lnSpc>
          <a:spcPct val="120000"/>
        </a:lnSpc>
        <a:spcBef>
          <a:spcPts val="4724"/>
        </a:spcBef>
        <a:buSzPct val="125000"/>
        <a:buFont typeface="Arial" panose="020B0604020202020204" pitchFamily="34" charset="0"/>
        <a:buChar char="•"/>
        <a:defRPr sz="11338" kern="1200">
          <a:solidFill>
            <a:schemeClr val="tx1"/>
          </a:solidFill>
          <a:latin typeface="+mn-lt"/>
          <a:ea typeface="+mn-ea"/>
          <a:cs typeface="+mn-cs"/>
        </a:defRPr>
      </a:lvl1pPr>
      <a:lvl2pPr marL="3239925" indent="-1079975" algn="l" defTabSz="4319900" rtl="0" eaLnBrk="1" latinLnBrk="0" hangingPunct="1">
        <a:lnSpc>
          <a:spcPct val="120000"/>
        </a:lnSpc>
        <a:spcBef>
          <a:spcPts val="2362"/>
        </a:spcBef>
        <a:buSzPct val="125000"/>
        <a:buFont typeface="Arial" panose="020B0604020202020204" pitchFamily="34" charset="0"/>
        <a:buChar char="•"/>
        <a:defRPr sz="9449" kern="1200">
          <a:solidFill>
            <a:schemeClr val="tx1"/>
          </a:solidFill>
          <a:latin typeface="+mn-lt"/>
          <a:ea typeface="+mn-ea"/>
          <a:cs typeface="+mn-cs"/>
        </a:defRPr>
      </a:lvl2pPr>
      <a:lvl3pPr marL="5399875" indent="-1079975" algn="l" defTabSz="4319900" rtl="0" eaLnBrk="1" latinLnBrk="0" hangingPunct="1">
        <a:lnSpc>
          <a:spcPct val="120000"/>
        </a:lnSpc>
        <a:spcBef>
          <a:spcPts val="2362"/>
        </a:spcBef>
        <a:buSzPct val="125000"/>
        <a:buFont typeface="Arial" panose="020B0604020202020204" pitchFamily="34" charset="0"/>
        <a:buChar char="•"/>
        <a:defRPr sz="8504" kern="1200">
          <a:solidFill>
            <a:schemeClr val="tx1"/>
          </a:solidFill>
          <a:latin typeface="+mn-lt"/>
          <a:ea typeface="+mn-ea"/>
          <a:cs typeface="+mn-cs"/>
        </a:defRPr>
      </a:lvl3pPr>
      <a:lvl4pPr marL="7559825" indent="-1079975" algn="l" defTabSz="4319900" rtl="0" eaLnBrk="1" latinLnBrk="0" hangingPunct="1">
        <a:lnSpc>
          <a:spcPct val="120000"/>
        </a:lnSpc>
        <a:spcBef>
          <a:spcPts val="2362"/>
        </a:spcBef>
        <a:buSzPct val="125000"/>
        <a:buFont typeface="Arial" panose="020B0604020202020204" pitchFamily="34" charset="0"/>
        <a:buChar char="•"/>
        <a:defRPr sz="7559" kern="1200">
          <a:solidFill>
            <a:schemeClr val="tx1"/>
          </a:solidFill>
          <a:latin typeface="+mn-lt"/>
          <a:ea typeface="+mn-ea"/>
          <a:cs typeface="+mn-cs"/>
        </a:defRPr>
      </a:lvl4pPr>
      <a:lvl5pPr marL="9719775" indent="-1079975" algn="l" defTabSz="4319900" rtl="0" eaLnBrk="1" latinLnBrk="0" hangingPunct="1">
        <a:lnSpc>
          <a:spcPct val="120000"/>
        </a:lnSpc>
        <a:spcBef>
          <a:spcPts val="2362"/>
        </a:spcBef>
        <a:buSzPct val="125000"/>
        <a:buFont typeface="Arial" panose="020B0604020202020204" pitchFamily="34" charset="0"/>
        <a:buChar char="•"/>
        <a:defRPr sz="7559" kern="1200">
          <a:solidFill>
            <a:schemeClr val="tx1"/>
          </a:solidFill>
          <a:latin typeface="+mn-lt"/>
          <a:ea typeface="+mn-ea"/>
          <a:cs typeface="+mn-cs"/>
        </a:defRPr>
      </a:lvl5pPr>
      <a:lvl6pPr marL="11879725" indent="-1079975" algn="l" defTabSz="4319900" rtl="0" eaLnBrk="1" latinLnBrk="0" hangingPunct="1">
        <a:lnSpc>
          <a:spcPct val="120000"/>
        </a:lnSpc>
        <a:spcBef>
          <a:spcPts val="2362"/>
        </a:spcBef>
        <a:buSzPct val="125000"/>
        <a:buFont typeface="Arial" panose="020B0604020202020204" pitchFamily="34" charset="0"/>
        <a:buChar char="•"/>
        <a:defRPr sz="6614" kern="1200">
          <a:solidFill>
            <a:schemeClr val="tx1"/>
          </a:solidFill>
          <a:latin typeface="+mn-lt"/>
          <a:ea typeface="+mn-ea"/>
          <a:cs typeface="+mn-cs"/>
        </a:defRPr>
      </a:lvl6pPr>
      <a:lvl7pPr marL="14039675" indent="-1079975" algn="l" defTabSz="4319900" rtl="0" eaLnBrk="1" latinLnBrk="0" hangingPunct="1">
        <a:lnSpc>
          <a:spcPct val="120000"/>
        </a:lnSpc>
        <a:spcBef>
          <a:spcPts val="2362"/>
        </a:spcBef>
        <a:buSzPct val="125000"/>
        <a:buFont typeface="Arial" panose="020B0604020202020204" pitchFamily="34" charset="0"/>
        <a:buChar char="•"/>
        <a:defRPr sz="6614" kern="1200">
          <a:solidFill>
            <a:schemeClr val="tx1"/>
          </a:solidFill>
          <a:latin typeface="+mn-lt"/>
          <a:ea typeface="+mn-ea"/>
          <a:cs typeface="+mn-cs"/>
        </a:defRPr>
      </a:lvl7pPr>
      <a:lvl8pPr marL="16199625" indent="-1079975" algn="l" defTabSz="4319900" rtl="0" eaLnBrk="1" latinLnBrk="0" hangingPunct="1">
        <a:lnSpc>
          <a:spcPct val="120000"/>
        </a:lnSpc>
        <a:spcBef>
          <a:spcPts val="2362"/>
        </a:spcBef>
        <a:buSzPct val="125000"/>
        <a:buFont typeface="Arial" panose="020B0604020202020204" pitchFamily="34" charset="0"/>
        <a:buChar char="•"/>
        <a:defRPr sz="6614" kern="1200">
          <a:solidFill>
            <a:schemeClr val="tx1"/>
          </a:solidFill>
          <a:latin typeface="+mn-lt"/>
          <a:ea typeface="+mn-ea"/>
          <a:cs typeface="+mn-cs"/>
        </a:defRPr>
      </a:lvl8pPr>
      <a:lvl9pPr marL="18359575" indent="-1079975" algn="l" defTabSz="4319900" rtl="0" eaLnBrk="1" latinLnBrk="0" hangingPunct="1">
        <a:lnSpc>
          <a:spcPct val="120000"/>
        </a:lnSpc>
        <a:spcBef>
          <a:spcPts val="2362"/>
        </a:spcBef>
        <a:buSzPct val="125000"/>
        <a:buFont typeface="Arial" panose="020B0604020202020204" pitchFamily="34" charset="0"/>
        <a:buChar char="•"/>
        <a:defRPr sz="6614" kern="1200">
          <a:solidFill>
            <a:schemeClr val="tx1"/>
          </a:solidFill>
          <a:latin typeface="+mn-lt"/>
          <a:ea typeface="+mn-ea"/>
          <a:cs typeface="+mn-cs"/>
        </a:defRPr>
      </a:lvl9pPr>
    </p:bodyStyle>
    <p:otherStyle>
      <a:defPPr>
        <a:defRPr lang="en-US"/>
      </a:defPPr>
      <a:lvl1pPr marL="0" algn="l" defTabSz="4319900" rtl="0" eaLnBrk="1" latinLnBrk="0" hangingPunct="1">
        <a:defRPr sz="8504" kern="1200">
          <a:solidFill>
            <a:schemeClr val="tx1"/>
          </a:solidFill>
          <a:latin typeface="+mn-lt"/>
          <a:ea typeface="+mn-ea"/>
          <a:cs typeface="+mn-cs"/>
        </a:defRPr>
      </a:lvl1pPr>
      <a:lvl2pPr marL="2159950" algn="l" defTabSz="4319900" rtl="0" eaLnBrk="1" latinLnBrk="0" hangingPunct="1">
        <a:defRPr sz="8504" kern="1200">
          <a:solidFill>
            <a:schemeClr val="tx1"/>
          </a:solidFill>
          <a:latin typeface="+mn-lt"/>
          <a:ea typeface="+mn-ea"/>
          <a:cs typeface="+mn-cs"/>
        </a:defRPr>
      </a:lvl2pPr>
      <a:lvl3pPr marL="4319900" algn="l" defTabSz="4319900" rtl="0" eaLnBrk="1" latinLnBrk="0" hangingPunct="1">
        <a:defRPr sz="8504" kern="1200">
          <a:solidFill>
            <a:schemeClr val="tx1"/>
          </a:solidFill>
          <a:latin typeface="+mn-lt"/>
          <a:ea typeface="+mn-ea"/>
          <a:cs typeface="+mn-cs"/>
        </a:defRPr>
      </a:lvl3pPr>
      <a:lvl4pPr marL="6479850" algn="l" defTabSz="4319900" rtl="0" eaLnBrk="1" latinLnBrk="0" hangingPunct="1">
        <a:defRPr sz="8504" kern="1200">
          <a:solidFill>
            <a:schemeClr val="tx1"/>
          </a:solidFill>
          <a:latin typeface="+mn-lt"/>
          <a:ea typeface="+mn-ea"/>
          <a:cs typeface="+mn-cs"/>
        </a:defRPr>
      </a:lvl4pPr>
      <a:lvl5pPr marL="8639800" algn="l" defTabSz="4319900" rtl="0" eaLnBrk="1" latinLnBrk="0" hangingPunct="1">
        <a:defRPr sz="8504" kern="1200">
          <a:solidFill>
            <a:schemeClr val="tx1"/>
          </a:solidFill>
          <a:latin typeface="+mn-lt"/>
          <a:ea typeface="+mn-ea"/>
          <a:cs typeface="+mn-cs"/>
        </a:defRPr>
      </a:lvl5pPr>
      <a:lvl6pPr marL="10799750" algn="l" defTabSz="4319900" rtl="0" eaLnBrk="1" latinLnBrk="0" hangingPunct="1">
        <a:defRPr sz="8504" kern="1200">
          <a:solidFill>
            <a:schemeClr val="tx1"/>
          </a:solidFill>
          <a:latin typeface="+mn-lt"/>
          <a:ea typeface="+mn-ea"/>
          <a:cs typeface="+mn-cs"/>
        </a:defRPr>
      </a:lvl6pPr>
      <a:lvl7pPr marL="12959700" algn="l" defTabSz="4319900" rtl="0" eaLnBrk="1" latinLnBrk="0" hangingPunct="1">
        <a:defRPr sz="8504" kern="1200">
          <a:solidFill>
            <a:schemeClr val="tx1"/>
          </a:solidFill>
          <a:latin typeface="+mn-lt"/>
          <a:ea typeface="+mn-ea"/>
          <a:cs typeface="+mn-cs"/>
        </a:defRPr>
      </a:lvl7pPr>
      <a:lvl8pPr marL="15119650" algn="l" defTabSz="4319900" rtl="0" eaLnBrk="1" latinLnBrk="0" hangingPunct="1">
        <a:defRPr sz="8504" kern="1200">
          <a:solidFill>
            <a:schemeClr val="tx1"/>
          </a:solidFill>
          <a:latin typeface="+mn-lt"/>
          <a:ea typeface="+mn-ea"/>
          <a:cs typeface="+mn-cs"/>
        </a:defRPr>
      </a:lvl8pPr>
      <a:lvl9pPr marL="17279600" algn="l" defTabSz="4319900" rtl="0" eaLnBrk="1" latinLnBrk="0" hangingPunct="1">
        <a:defRPr sz="850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14.jpeg"/><Relationship Id="rId18" Type="http://schemas.openxmlformats.org/officeDocument/2006/relationships/image" Target="../media/image19.jpeg"/><Relationship Id="rId26" Type="http://schemas.openxmlformats.org/officeDocument/2006/relationships/image" Target="../media/image27.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jpeg"/><Relationship Id="rId12" Type="http://schemas.openxmlformats.org/officeDocument/2006/relationships/image" Target="../media/image13.jpeg"/><Relationship Id="rId17" Type="http://schemas.openxmlformats.org/officeDocument/2006/relationships/image" Target="../media/image18.jpeg"/><Relationship Id="rId25" Type="http://schemas.openxmlformats.org/officeDocument/2006/relationships/image" Target="../media/image26.png"/><Relationship Id="rId2" Type="http://schemas.openxmlformats.org/officeDocument/2006/relationships/image" Target="../media/image3.jpeg"/><Relationship Id="rId16" Type="http://schemas.openxmlformats.org/officeDocument/2006/relationships/image" Target="../media/image17.jpeg"/><Relationship Id="rId20" Type="http://schemas.openxmlformats.org/officeDocument/2006/relationships/image" Target="../media/image21.png"/><Relationship Id="rId29"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jpeg"/><Relationship Id="rId24" Type="http://schemas.openxmlformats.org/officeDocument/2006/relationships/image" Target="../media/image25.png"/><Relationship Id="rId5" Type="http://schemas.openxmlformats.org/officeDocument/2006/relationships/image" Target="../media/image6.jpg"/><Relationship Id="rId15" Type="http://schemas.openxmlformats.org/officeDocument/2006/relationships/image" Target="../media/image16.jpeg"/><Relationship Id="rId23" Type="http://schemas.openxmlformats.org/officeDocument/2006/relationships/image" Target="../media/image24.png"/><Relationship Id="rId28" Type="http://schemas.openxmlformats.org/officeDocument/2006/relationships/image" Target="../media/image29.png"/><Relationship Id="rId10" Type="http://schemas.openxmlformats.org/officeDocument/2006/relationships/image" Target="../media/image11.jpe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jpeg"/><Relationship Id="rId14" Type="http://schemas.openxmlformats.org/officeDocument/2006/relationships/image" Target="../media/image15.jpeg"/><Relationship Id="rId22" Type="http://schemas.openxmlformats.org/officeDocument/2006/relationships/image" Target="../media/image23.png"/><Relationship Id="rId27"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5E2132-9387-116A-4AC8-1E56DEE8A892}"/>
              </a:ext>
            </a:extLst>
          </p:cNvPr>
          <p:cNvSpPr/>
          <p:nvPr/>
        </p:nvSpPr>
        <p:spPr>
          <a:xfrm>
            <a:off x="833848" y="658893"/>
            <a:ext cx="8944937" cy="3572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4" name="Rectangle 103">
            <a:extLst>
              <a:ext uri="{FF2B5EF4-FFF2-40B4-BE49-F238E27FC236}">
                <a16:creationId xmlns:a16="http://schemas.microsoft.com/office/drawing/2014/main" id="{01EEC45C-E916-4DB4-4C1A-5DBADB848D19}"/>
              </a:ext>
            </a:extLst>
          </p:cNvPr>
          <p:cNvSpPr/>
          <p:nvPr/>
        </p:nvSpPr>
        <p:spPr>
          <a:xfrm>
            <a:off x="808214" y="16502082"/>
            <a:ext cx="8993790" cy="38002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57" name="Rectangle 56">
            <a:extLst>
              <a:ext uri="{FF2B5EF4-FFF2-40B4-BE49-F238E27FC236}">
                <a16:creationId xmlns:a16="http://schemas.microsoft.com/office/drawing/2014/main" id="{7FDAAD1F-1DD8-D96C-F1A1-1AB218FDCAB4}"/>
              </a:ext>
            </a:extLst>
          </p:cNvPr>
          <p:cNvSpPr/>
          <p:nvPr/>
        </p:nvSpPr>
        <p:spPr>
          <a:xfrm>
            <a:off x="821110" y="20443517"/>
            <a:ext cx="8947196" cy="49563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1" name="Rectangle 60">
            <a:extLst>
              <a:ext uri="{FF2B5EF4-FFF2-40B4-BE49-F238E27FC236}">
                <a16:creationId xmlns:a16="http://schemas.microsoft.com/office/drawing/2014/main" id="{340DD143-F64E-E32C-B284-A676E0CBE621}"/>
              </a:ext>
            </a:extLst>
          </p:cNvPr>
          <p:cNvSpPr/>
          <p:nvPr/>
        </p:nvSpPr>
        <p:spPr>
          <a:xfrm>
            <a:off x="21910228" y="2518718"/>
            <a:ext cx="10055775" cy="202812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a:t>
            </a:r>
            <a:endParaRPr lang="en-CN" dirty="0"/>
          </a:p>
        </p:txBody>
      </p:sp>
      <p:sp>
        <p:nvSpPr>
          <p:cNvPr id="55" name="Rectangle 54">
            <a:extLst>
              <a:ext uri="{FF2B5EF4-FFF2-40B4-BE49-F238E27FC236}">
                <a16:creationId xmlns:a16="http://schemas.microsoft.com/office/drawing/2014/main" id="{ADCBE1BC-8F30-D867-B078-9DAEAE5B2C69}"/>
              </a:ext>
            </a:extLst>
          </p:cNvPr>
          <p:cNvSpPr/>
          <p:nvPr/>
        </p:nvSpPr>
        <p:spPr>
          <a:xfrm>
            <a:off x="821111" y="25570887"/>
            <a:ext cx="8947195" cy="63219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6" name="Rectangle 45">
            <a:extLst>
              <a:ext uri="{FF2B5EF4-FFF2-40B4-BE49-F238E27FC236}">
                <a16:creationId xmlns:a16="http://schemas.microsoft.com/office/drawing/2014/main" id="{F615F55B-AF7E-8C4D-87E8-0AF808DE3133}"/>
              </a:ext>
            </a:extLst>
          </p:cNvPr>
          <p:cNvSpPr/>
          <p:nvPr/>
        </p:nvSpPr>
        <p:spPr>
          <a:xfrm>
            <a:off x="33004087" y="658893"/>
            <a:ext cx="9411555" cy="150605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3" name="Rectangle 32">
            <a:extLst>
              <a:ext uri="{FF2B5EF4-FFF2-40B4-BE49-F238E27FC236}">
                <a16:creationId xmlns:a16="http://schemas.microsoft.com/office/drawing/2014/main" id="{ECE0B6C0-81C9-A998-FFD8-21380B8253E7}"/>
              </a:ext>
            </a:extLst>
          </p:cNvPr>
          <p:cNvSpPr/>
          <p:nvPr/>
        </p:nvSpPr>
        <p:spPr>
          <a:xfrm>
            <a:off x="21910227" y="22890971"/>
            <a:ext cx="10055775" cy="9001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1" name="Rectangle 30">
            <a:extLst>
              <a:ext uri="{FF2B5EF4-FFF2-40B4-BE49-F238E27FC236}">
                <a16:creationId xmlns:a16="http://schemas.microsoft.com/office/drawing/2014/main" id="{F357522D-04BA-3E2C-4E58-51FFDCF2203C}"/>
              </a:ext>
            </a:extLst>
          </p:cNvPr>
          <p:cNvSpPr/>
          <p:nvPr/>
        </p:nvSpPr>
        <p:spPr>
          <a:xfrm>
            <a:off x="11522338" y="2438786"/>
            <a:ext cx="9642047" cy="294540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30" name="Rectangle 29">
            <a:extLst>
              <a:ext uri="{FF2B5EF4-FFF2-40B4-BE49-F238E27FC236}">
                <a16:creationId xmlns:a16="http://schemas.microsoft.com/office/drawing/2014/main" id="{F201D530-5F5B-FE3D-20B5-2CA8F22B9412}"/>
              </a:ext>
            </a:extLst>
          </p:cNvPr>
          <p:cNvSpPr/>
          <p:nvPr/>
        </p:nvSpPr>
        <p:spPr>
          <a:xfrm>
            <a:off x="833849" y="4459159"/>
            <a:ext cx="8968155" cy="3572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 name="TextBox 3">
            <a:extLst>
              <a:ext uri="{FF2B5EF4-FFF2-40B4-BE49-F238E27FC236}">
                <a16:creationId xmlns:a16="http://schemas.microsoft.com/office/drawing/2014/main" id="{1B1E5067-B491-9B63-B9DE-DF37961A4E25}"/>
              </a:ext>
            </a:extLst>
          </p:cNvPr>
          <p:cNvSpPr txBox="1"/>
          <p:nvPr/>
        </p:nvSpPr>
        <p:spPr>
          <a:xfrm>
            <a:off x="12981099" y="568631"/>
            <a:ext cx="18092353" cy="1323439"/>
          </a:xfrm>
          <a:prstGeom prst="rect">
            <a:avLst/>
          </a:prstGeom>
          <a:noFill/>
        </p:spPr>
        <p:txBody>
          <a:bodyPr wrap="square" rtlCol="0">
            <a:spAutoFit/>
          </a:bodyPr>
          <a:lstStyle/>
          <a:p>
            <a:r>
              <a:rPr lang="en-CN" sz="8000" dirty="0">
                <a:solidFill>
                  <a:schemeClr val="bg1">
                    <a:lumMod val="95000"/>
                    <a:lumOff val="5000"/>
                  </a:schemeClr>
                </a:solidFill>
                <a:latin typeface="Times New Roman" panose="02020603050405020304" pitchFamily="18" charset="0"/>
                <a:cs typeface="Times New Roman" panose="02020603050405020304" pitchFamily="18" charset="0"/>
              </a:rPr>
              <a:t>A Self-adaptive Multi-terrain Bionic Ankle</a:t>
            </a:r>
          </a:p>
        </p:txBody>
      </p:sp>
      <p:cxnSp>
        <p:nvCxnSpPr>
          <p:cNvPr id="8" name="Straight Connector 7">
            <a:extLst>
              <a:ext uri="{FF2B5EF4-FFF2-40B4-BE49-F238E27FC236}">
                <a16:creationId xmlns:a16="http://schemas.microsoft.com/office/drawing/2014/main" id="{1EAB045B-2EEA-ACFB-C52D-4DE91A8AB6C8}"/>
              </a:ext>
            </a:extLst>
          </p:cNvPr>
          <p:cNvCxnSpPr/>
          <p:nvPr/>
        </p:nvCxnSpPr>
        <p:spPr>
          <a:xfrm>
            <a:off x="0" y="32399288"/>
            <a:ext cx="1080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42CDBC-181D-DCC8-4FFF-EC8132FFEC56}"/>
              </a:ext>
            </a:extLst>
          </p:cNvPr>
          <p:cNvCxnSpPr/>
          <p:nvPr/>
        </p:nvCxnSpPr>
        <p:spPr>
          <a:xfrm flipV="1">
            <a:off x="10800000" y="0"/>
            <a:ext cx="0" cy="32400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F25C711-D274-9A78-50C7-2919D6F32A44}"/>
              </a:ext>
            </a:extLst>
          </p:cNvPr>
          <p:cNvCxnSpPr/>
          <p:nvPr/>
        </p:nvCxnSpPr>
        <p:spPr>
          <a:xfrm>
            <a:off x="152400" y="32551688"/>
            <a:ext cx="1080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3C91921-BF4C-75E2-5E26-B74F7AEBFE6B}"/>
              </a:ext>
            </a:extLst>
          </p:cNvPr>
          <p:cNvCxnSpPr/>
          <p:nvPr/>
        </p:nvCxnSpPr>
        <p:spPr>
          <a:xfrm flipH="1">
            <a:off x="32835272" y="32399288"/>
            <a:ext cx="1080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4595303-76F6-BE8B-5661-7317A50F65CC}"/>
              </a:ext>
            </a:extLst>
          </p:cNvPr>
          <p:cNvCxnSpPr/>
          <p:nvPr/>
        </p:nvCxnSpPr>
        <p:spPr>
          <a:xfrm flipH="1" flipV="1">
            <a:off x="32400638" y="-507147"/>
            <a:ext cx="0" cy="3240000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F4DC2E4-8B44-CFC6-DD6A-C9F42B85A46F}"/>
              </a:ext>
            </a:extLst>
          </p:cNvPr>
          <p:cNvSpPr txBox="1"/>
          <p:nvPr/>
        </p:nvSpPr>
        <p:spPr>
          <a:xfrm>
            <a:off x="25102326" y="23127165"/>
            <a:ext cx="3738391" cy="83505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Final Product</a:t>
            </a:r>
          </a:p>
        </p:txBody>
      </p:sp>
      <p:cxnSp>
        <p:nvCxnSpPr>
          <p:cNvPr id="20" name="Straight Connector 19">
            <a:extLst>
              <a:ext uri="{FF2B5EF4-FFF2-40B4-BE49-F238E27FC236}">
                <a16:creationId xmlns:a16="http://schemas.microsoft.com/office/drawing/2014/main" id="{6FC8E7E0-8EFD-4645-4638-8EA0CA620CC4}"/>
              </a:ext>
            </a:extLst>
          </p:cNvPr>
          <p:cNvCxnSpPr/>
          <p:nvPr/>
        </p:nvCxnSpPr>
        <p:spPr>
          <a:xfrm>
            <a:off x="304800" y="32704088"/>
            <a:ext cx="1080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F778306-9CCC-88BC-F6E0-2D38E11D2FF3}"/>
              </a:ext>
            </a:extLst>
          </p:cNvPr>
          <p:cNvCxnSpPr/>
          <p:nvPr/>
        </p:nvCxnSpPr>
        <p:spPr>
          <a:xfrm>
            <a:off x="304800" y="34685288"/>
            <a:ext cx="10800000"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392CB47-95E1-2A8F-00EA-D7CBB3E77A9A}"/>
              </a:ext>
            </a:extLst>
          </p:cNvPr>
          <p:cNvSpPr txBox="1"/>
          <p:nvPr/>
        </p:nvSpPr>
        <p:spPr>
          <a:xfrm>
            <a:off x="4191030" y="4663856"/>
            <a:ext cx="3027539"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Problem</a:t>
            </a:r>
          </a:p>
        </p:txBody>
      </p:sp>
      <p:sp>
        <p:nvSpPr>
          <p:cNvPr id="24" name="TextBox 23">
            <a:extLst>
              <a:ext uri="{FF2B5EF4-FFF2-40B4-BE49-F238E27FC236}">
                <a16:creationId xmlns:a16="http://schemas.microsoft.com/office/drawing/2014/main" id="{F6670903-3C01-2F15-3241-FE0341CA1401}"/>
              </a:ext>
            </a:extLst>
          </p:cNvPr>
          <p:cNvSpPr txBox="1"/>
          <p:nvPr/>
        </p:nvSpPr>
        <p:spPr>
          <a:xfrm>
            <a:off x="1245088" y="5352984"/>
            <a:ext cx="8457296" cy="2677656"/>
          </a:xfrm>
          <a:prstGeom prst="rect">
            <a:avLst/>
          </a:prstGeom>
          <a:noFill/>
        </p:spPr>
        <p:txBody>
          <a:bodyPr wrap="square" rtlCol="0">
            <a:spAutoFit/>
          </a:bodyPr>
          <a:lstStyle/>
          <a:p>
            <a:pPr eaLnBrk="0"/>
            <a:r>
              <a:rPr lang="en-US" sz="2800" dirty="0">
                <a:solidFill>
                  <a:srgbClr val="000000"/>
                </a:solidFill>
                <a:effectLst/>
                <a:latin typeface="Times New Roman" panose="02020603050405020304" pitchFamily="18" charset="0"/>
                <a:ea typeface="Arial" panose="020B0604020202020204" pitchFamily="34" charset="0"/>
              </a:rPr>
              <a:t>Robots that focuses on movement have always been a top favorite in the creation of robotics. This started from build wheel robots, that can quickly navigate smooth surfaces, namely human-built pathways. Then it went to building leg-powered robots, which requires a good ankle to navigate the rough, wild terrains. </a:t>
            </a:r>
            <a:endParaRPr lang="en-CN" sz="2800" dirty="0">
              <a:solidFill>
                <a:srgbClr val="000000"/>
              </a:solidFill>
              <a:effectLst/>
              <a:latin typeface="Arial" panose="020B0604020202020204" pitchFamily="34" charset="0"/>
              <a:ea typeface="Arial" panose="020B0604020202020204" pitchFamily="34" charset="0"/>
            </a:endParaRPr>
          </a:p>
        </p:txBody>
      </p:sp>
      <p:sp>
        <p:nvSpPr>
          <p:cNvPr id="26" name="TextBox 25">
            <a:extLst>
              <a:ext uri="{FF2B5EF4-FFF2-40B4-BE49-F238E27FC236}">
                <a16:creationId xmlns:a16="http://schemas.microsoft.com/office/drawing/2014/main" id="{A4216941-011C-4557-E691-DD5175836F9C}"/>
              </a:ext>
            </a:extLst>
          </p:cNvPr>
          <p:cNvSpPr txBox="1"/>
          <p:nvPr/>
        </p:nvSpPr>
        <p:spPr>
          <a:xfrm>
            <a:off x="15065823" y="2676280"/>
            <a:ext cx="2617895"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Solution</a:t>
            </a:r>
          </a:p>
        </p:txBody>
      </p:sp>
      <p:sp>
        <p:nvSpPr>
          <p:cNvPr id="29" name="TextBox 28">
            <a:extLst>
              <a:ext uri="{FF2B5EF4-FFF2-40B4-BE49-F238E27FC236}">
                <a16:creationId xmlns:a16="http://schemas.microsoft.com/office/drawing/2014/main" id="{6D3C04F9-60C9-D9B8-9850-B56CE33F8209}"/>
              </a:ext>
            </a:extLst>
          </p:cNvPr>
          <p:cNvSpPr txBox="1"/>
          <p:nvPr/>
        </p:nvSpPr>
        <p:spPr>
          <a:xfrm>
            <a:off x="1390709" y="2518718"/>
            <a:ext cx="7891780" cy="1446550"/>
          </a:xfrm>
          <a:prstGeom prst="rect">
            <a:avLst/>
          </a:prstGeom>
          <a:noFill/>
        </p:spPr>
        <p:txBody>
          <a:bodyPr wrap="square" rtlCol="0">
            <a:spAutoFit/>
          </a:bodyPr>
          <a:lstStyle>
            <a:defPPr>
              <a:defRPr lang="en-US"/>
            </a:defPPr>
            <a:lvl1pPr algn="ctr">
              <a:defRPr sz="4800">
                <a:solidFill>
                  <a:schemeClr val="bg1">
                    <a:lumMod val="95000"/>
                    <a:lumOff val="5000"/>
                  </a:schemeClr>
                </a:solidFill>
                <a:latin typeface="Times New Roman" panose="02020603050405020304" pitchFamily="18" charset="0"/>
                <a:cs typeface="Times New Roman" panose="02020603050405020304" pitchFamily="18" charset="0"/>
              </a:defRPr>
            </a:lvl1pPr>
          </a:lstStyle>
          <a:p>
            <a:r>
              <a:rPr lang="en-CN" dirty="0"/>
              <a:t>Justin Guo</a:t>
            </a:r>
          </a:p>
        </p:txBody>
      </p:sp>
      <p:sp>
        <p:nvSpPr>
          <p:cNvPr id="32" name="TextBox 31">
            <a:extLst>
              <a:ext uri="{FF2B5EF4-FFF2-40B4-BE49-F238E27FC236}">
                <a16:creationId xmlns:a16="http://schemas.microsoft.com/office/drawing/2014/main" id="{DB499FE8-9D0E-6B06-16DA-77F41FA59A56}"/>
              </a:ext>
            </a:extLst>
          </p:cNvPr>
          <p:cNvSpPr txBox="1"/>
          <p:nvPr/>
        </p:nvSpPr>
        <p:spPr>
          <a:xfrm>
            <a:off x="1139814" y="1380914"/>
            <a:ext cx="8333003" cy="830997"/>
          </a:xfrm>
          <a:prstGeom prst="rect">
            <a:avLst/>
          </a:prstGeom>
          <a:noFill/>
        </p:spPr>
        <p:txBody>
          <a:bodyPr wrap="square" rtlCol="0">
            <a:spAutoFit/>
          </a:bodyPr>
          <a:lstStyle/>
          <a:p>
            <a:pPr algn="ctr"/>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Shanghai SHSID</a:t>
            </a:r>
          </a:p>
        </p:txBody>
      </p:sp>
      <p:sp>
        <p:nvSpPr>
          <p:cNvPr id="27" name="TextBox 26">
            <a:extLst>
              <a:ext uri="{FF2B5EF4-FFF2-40B4-BE49-F238E27FC236}">
                <a16:creationId xmlns:a16="http://schemas.microsoft.com/office/drawing/2014/main" id="{1F021210-07E1-B484-795A-3E9E8859B5D8}"/>
              </a:ext>
            </a:extLst>
          </p:cNvPr>
          <p:cNvSpPr txBox="1"/>
          <p:nvPr/>
        </p:nvSpPr>
        <p:spPr>
          <a:xfrm>
            <a:off x="12432350" y="3737744"/>
            <a:ext cx="8014447" cy="26807339"/>
          </a:xfrm>
          <a:prstGeom prst="rect">
            <a:avLst/>
          </a:prstGeom>
          <a:noFill/>
        </p:spPr>
        <p:txBody>
          <a:bodyPr wrap="square" rtlCol="0">
            <a:spAutoFit/>
          </a:bodyPr>
          <a:lstStyle/>
          <a:p>
            <a:pPr eaLnBrk="0"/>
            <a:r>
              <a:rPr lang="en-US" sz="2800" dirty="0">
                <a:solidFill>
                  <a:srgbClr val="000000"/>
                </a:solidFill>
                <a:effectLst/>
                <a:latin typeface="Times New Roman" panose="02020603050405020304" pitchFamily="18" charset="0"/>
                <a:ea typeface="Arial" panose="020B0604020202020204" pitchFamily="34" charset="0"/>
              </a:rPr>
              <a:t>I am trying to make a bionic ankle that can relatively mimic a human ankle, and help disabled people to walk once more.</a:t>
            </a:r>
          </a:p>
          <a:p>
            <a:pPr eaLnBrk="0"/>
            <a:endParaRPr lang="en-US" sz="2800" dirty="0">
              <a:solidFill>
                <a:srgbClr val="000000"/>
              </a:solidFill>
              <a:effectLst/>
              <a:latin typeface="Times New Roman" panose="02020603050405020304" pitchFamily="18" charset="0"/>
              <a:ea typeface="Arial" panose="020B0604020202020204" pitchFamily="34" charset="0"/>
            </a:endParaRPr>
          </a:p>
          <a:p>
            <a:pPr eaLnBrk="0"/>
            <a:r>
              <a:rPr lang="en-US" sz="2800" dirty="0">
                <a:solidFill>
                  <a:srgbClr val="000000"/>
                </a:solidFill>
                <a:effectLst/>
                <a:latin typeface="Times New Roman" panose="02020603050405020304" pitchFamily="18" charset="0"/>
                <a:ea typeface="Arial" panose="020B0604020202020204" pitchFamily="34" charset="0"/>
              </a:rPr>
              <a:t>1. Using Solidworks, I first plan out the  whole structure of hardware to check out the plan’s feasibility. </a:t>
            </a:r>
          </a:p>
          <a:p>
            <a:pPr eaLnBrk="0"/>
            <a:r>
              <a:rPr lang="en-US" sz="2800" dirty="0">
                <a:solidFill>
                  <a:srgbClr val="000000"/>
                </a:solidFill>
                <a:latin typeface="Times New Roman" panose="02020603050405020304" pitchFamily="18" charset="0"/>
                <a:ea typeface="Arial" panose="020B0604020202020204" pitchFamily="34" charset="0"/>
              </a:rPr>
              <a:t>2. </a:t>
            </a:r>
            <a:r>
              <a:rPr lang="en-US" sz="2800" dirty="0">
                <a:solidFill>
                  <a:srgbClr val="000000"/>
                </a:solidFill>
                <a:effectLst/>
                <a:latin typeface="Times New Roman" panose="02020603050405020304" pitchFamily="18" charset="0"/>
                <a:ea typeface="Arial" panose="020B0604020202020204" pitchFamily="34" charset="0"/>
              </a:rPr>
              <a:t>Then, I started on building the whole project’s hardware. </a:t>
            </a: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effectLst/>
                <a:latin typeface="Times New Roman" panose="02020603050405020304" pitchFamily="18" charset="0"/>
                <a:ea typeface="Arial" panose="020B0604020202020204" pitchFamily="34" charset="0"/>
              </a:rPr>
              <a:t>The supporting system is carefull</a:t>
            </a:r>
            <a:r>
              <a:rPr lang="en-US" sz="2800" dirty="0">
                <a:solidFill>
                  <a:srgbClr val="000000"/>
                </a:solidFill>
                <a:latin typeface="Times New Roman" panose="02020603050405020304" pitchFamily="18" charset="0"/>
                <a:ea typeface="Arial" panose="020B0604020202020204" pitchFamily="34" charset="0"/>
              </a:rPr>
              <a:t>y considered to be close to an actual adult human lower leg</a:t>
            </a: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eaLnBrk="0"/>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effectLst/>
                <a:latin typeface="Times New Roman" panose="02020603050405020304" pitchFamily="18" charset="0"/>
                <a:ea typeface="Arial" panose="020B0604020202020204" pitchFamily="34" charset="0"/>
              </a:rPr>
              <a:t>The motors are attached to axles</a:t>
            </a:r>
            <a:r>
              <a:rPr lang="en-US" sz="2800" dirty="0">
                <a:solidFill>
                  <a:srgbClr val="000000"/>
                </a:solidFill>
                <a:latin typeface="Times New Roman" panose="02020603050405020304" pitchFamily="18" charset="0"/>
                <a:ea typeface="Arial" panose="020B0604020202020204" pitchFamily="34" charset="0"/>
              </a:rPr>
              <a:t>, along with track rollers and flange bearings to decrease friction and attaching to supporting boards</a:t>
            </a: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effectLst/>
                <a:latin typeface="Times New Roman" panose="02020603050405020304" pitchFamily="18" charset="0"/>
                <a:ea typeface="Arial" panose="020B0604020202020204" pitchFamily="34" charset="0"/>
              </a:rPr>
              <a:t>There are then guide wheels to guide the strings to their designated places and damping to reduce the vibration of the motors.</a:t>
            </a: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effectLst/>
                <a:latin typeface="Times New Roman" panose="02020603050405020304" pitchFamily="18" charset="0"/>
                <a:ea typeface="Arial" panose="020B0604020202020204" pitchFamily="34" charset="0"/>
              </a:rPr>
              <a:t>The spring system contains of two parallel groups each with two springs so that </a:t>
            </a:r>
            <a:r>
              <a:rPr lang="en-US" sz="2800" dirty="0">
                <a:solidFill>
                  <a:srgbClr val="000000"/>
                </a:solidFill>
                <a:latin typeface="Times New Roman" panose="02020603050405020304" pitchFamily="18" charset="0"/>
                <a:ea typeface="Arial" panose="020B0604020202020204" pitchFamily="34" charset="0"/>
              </a:rPr>
              <a:t>the springs can apply to all directions</a:t>
            </a: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effectLst/>
                <a:latin typeface="Times New Roman" panose="02020603050405020304" pitchFamily="18" charset="0"/>
                <a:ea typeface="Arial" panose="020B0604020202020204" pitchFamily="34" charset="0"/>
              </a:rPr>
              <a:t>The universal joint is connected between the foot and the leg. The parts connecting the universal joint are specially designed to withstand power.</a:t>
            </a: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latin typeface="Times New Roman" panose="02020603050405020304" pitchFamily="18" charset="0"/>
                <a:ea typeface="Arial" panose="020B0604020202020204" pitchFamily="34" charset="0"/>
              </a:rPr>
              <a:t>The strings are connected to springs to give it more stretch, and fastened tightly to the ends of the foot, wrapping around on the motors</a:t>
            </a: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742950" indent="-7429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742950" indent="-7429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742950" indent="-7429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742950" indent="-7429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eaLnBrk="0"/>
            <a:r>
              <a:rPr lang="en-US" sz="2800" dirty="0">
                <a:solidFill>
                  <a:srgbClr val="000000"/>
                </a:solidFill>
                <a:latin typeface="Times New Roman" panose="02020603050405020304" pitchFamily="18" charset="0"/>
                <a:ea typeface="Arial" panose="020B0604020202020204" pitchFamily="34" charset="0"/>
              </a:rPr>
              <a:t>3. I then build the Arduino setup, using esp32 as the controller, a gyroscope as a sensor, and two motors as the drive force.</a:t>
            </a:r>
            <a:r>
              <a:rPr lang="zh-CN" altLang="en-US" sz="2800" dirty="0">
                <a:solidFill>
                  <a:srgbClr val="000000"/>
                </a:solidFill>
                <a:latin typeface="Times New Roman" panose="02020603050405020304" pitchFamily="18" charset="0"/>
                <a:ea typeface="Arial" panose="020B0604020202020204" pitchFamily="34" charset="0"/>
              </a:rPr>
              <a:t> </a:t>
            </a:r>
            <a:r>
              <a:rPr lang="en-US" altLang="zh-CN" sz="2800" dirty="0">
                <a:solidFill>
                  <a:srgbClr val="000000"/>
                </a:solidFill>
                <a:latin typeface="Times New Roman" panose="02020603050405020304" pitchFamily="18" charset="0"/>
                <a:ea typeface="Arial" panose="020B0604020202020204" pitchFamily="34" charset="0"/>
              </a:rPr>
              <a:t>Esp32 can wirelessly send data to other esp32. This means the gyroscope, which is embedded into the foot, do not need to connect a wire all the way down. </a:t>
            </a:r>
            <a:endParaRPr lang="en-CN" sz="2800" dirty="0">
              <a:solidFill>
                <a:srgbClr val="000000"/>
              </a:solidFill>
              <a:effectLst/>
              <a:latin typeface="Arial" panose="020B0604020202020204" pitchFamily="34" charset="0"/>
              <a:ea typeface="Arial" panose="020B0604020202020204" pitchFamily="34" charset="0"/>
            </a:endParaRPr>
          </a:p>
        </p:txBody>
      </p:sp>
      <p:sp>
        <p:nvSpPr>
          <p:cNvPr id="42" name="TextBox 41">
            <a:extLst>
              <a:ext uri="{FF2B5EF4-FFF2-40B4-BE49-F238E27FC236}">
                <a16:creationId xmlns:a16="http://schemas.microsoft.com/office/drawing/2014/main" id="{3147CADB-19AC-0F81-4846-D726E6FC9E40}"/>
              </a:ext>
            </a:extLst>
          </p:cNvPr>
          <p:cNvSpPr txBox="1"/>
          <p:nvPr/>
        </p:nvSpPr>
        <p:spPr>
          <a:xfrm>
            <a:off x="33535011" y="900995"/>
            <a:ext cx="8349706"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Experiment 1-Ankle’s movement</a:t>
            </a:r>
            <a:endParaRPr lang="en-CN" sz="7200" dirty="0">
              <a:solidFill>
                <a:schemeClr val="bg1">
                  <a:lumMod val="95000"/>
                  <a:lumOff val="5000"/>
                </a:schemeClr>
              </a:solidFill>
              <a:latin typeface="Times New Roman" panose="02020603050405020304" pitchFamily="18" charset="0"/>
              <a:cs typeface="Times New Roman" panose="02020603050405020304" pitchFamily="18" charset="0"/>
            </a:endParaRPr>
          </a:p>
        </p:txBody>
      </p:sp>
      <p:graphicFrame>
        <p:nvGraphicFramePr>
          <p:cNvPr id="44" name="Table 43">
            <a:extLst>
              <a:ext uri="{FF2B5EF4-FFF2-40B4-BE49-F238E27FC236}">
                <a16:creationId xmlns:a16="http://schemas.microsoft.com/office/drawing/2014/main" id="{A2C6FA6F-977B-6441-B005-A447B23485FA}"/>
              </a:ext>
            </a:extLst>
          </p:cNvPr>
          <p:cNvGraphicFramePr>
            <a:graphicFrameLocks noGrp="1"/>
          </p:cNvGraphicFramePr>
          <p:nvPr>
            <p:extLst>
              <p:ext uri="{D42A27DB-BD31-4B8C-83A1-F6EECF244321}">
                <p14:modId xmlns:p14="http://schemas.microsoft.com/office/powerpoint/2010/main" val="3557607342"/>
              </p:ext>
            </p:extLst>
          </p:nvPr>
        </p:nvGraphicFramePr>
        <p:xfrm>
          <a:off x="34075614" y="9295207"/>
          <a:ext cx="7792802" cy="3621639"/>
        </p:xfrm>
        <a:graphic>
          <a:graphicData uri="http://schemas.openxmlformats.org/drawingml/2006/table">
            <a:tbl>
              <a:tblPr firstRow="1" firstCol="1" bandRow="1">
                <a:tableStyleId>{93296810-A885-4BE3-A3E7-6D5BEEA58F35}</a:tableStyleId>
              </a:tblPr>
              <a:tblGrid>
                <a:gridCol w="3896401">
                  <a:extLst>
                    <a:ext uri="{9D8B030D-6E8A-4147-A177-3AD203B41FA5}">
                      <a16:colId xmlns:a16="http://schemas.microsoft.com/office/drawing/2014/main" val="587377626"/>
                    </a:ext>
                  </a:extLst>
                </a:gridCol>
                <a:gridCol w="3896401">
                  <a:extLst>
                    <a:ext uri="{9D8B030D-6E8A-4147-A177-3AD203B41FA5}">
                      <a16:colId xmlns:a16="http://schemas.microsoft.com/office/drawing/2014/main" val="2885139893"/>
                    </a:ext>
                  </a:extLst>
                </a:gridCol>
              </a:tblGrid>
              <a:tr h="1090335">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Motion</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Maximum angle(°)</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816971"/>
                  </a:ext>
                </a:extLst>
              </a:tr>
              <a:tr h="632826">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Dorsiflexion (up)</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lnSpc>
                          <a:spcPct val="150000"/>
                        </a:lnSpc>
                        <a:tabLst>
                          <a:tab pos="5486400" algn="r"/>
                          <a:tab pos="2635250" algn="ctr"/>
                          <a:tab pos="3011170" algn="ctr"/>
                          <a:tab pos="5486400" algn="r"/>
                          <a:tab pos="6416040" algn="r"/>
                        </a:tabLst>
                      </a:pPr>
                      <a:r>
                        <a:rPr lang="en-US" sz="2800" kern="100" dirty="0">
                          <a:effectLst/>
                          <a:latin typeface="Times New Roman" panose="02020603050405020304" pitchFamily="18" charset="0"/>
                          <a:cs typeface="Times New Roman" panose="02020603050405020304" pitchFamily="18" charset="0"/>
                        </a:rPr>
                        <a:t>24.1</a:t>
                      </a:r>
                      <a:endParaRPr lang="en-CN" sz="2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73937142"/>
                  </a:ext>
                </a:extLst>
              </a:tr>
              <a:tr h="632826">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Plantar flexion (down)</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lnSpc>
                          <a:spcPct val="150000"/>
                        </a:lnSpc>
                        <a:tabLst>
                          <a:tab pos="5486400" algn="r"/>
                          <a:tab pos="2635250" algn="ctr"/>
                          <a:tab pos="3011170" algn="ctr"/>
                          <a:tab pos="5486400" algn="r"/>
                          <a:tab pos="6416040" algn="r"/>
                        </a:tabLst>
                      </a:pPr>
                      <a:r>
                        <a:rPr lang="en-US" sz="2800" kern="100" dirty="0">
                          <a:effectLst/>
                          <a:latin typeface="Times New Roman" panose="02020603050405020304" pitchFamily="18" charset="0"/>
                          <a:cs typeface="Times New Roman" panose="02020603050405020304" pitchFamily="18" charset="0"/>
                        </a:rPr>
                        <a:t>33.7</a:t>
                      </a:r>
                      <a:endParaRPr lang="en-CN" sz="2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02984903"/>
                  </a:ext>
                </a:extLst>
              </a:tr>
              <a:tr h="632826">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Inversion (inward)</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lnSpc>
                          <a:spcPct val="150000"/>
                        </a:lnSpc>
                        <a:tabLst>
                          <a:tab pos="5486400" algn="r"/>
                          <a:tab pos="2635250" algn="ctr"/>
                          <a:tab pos="3011170" algn="ctr"/>
                          <a:tab pos="5486400" algn="r"/>
                          <a:tab pos="6416040" algn="r"/>
                        </a:tabLst>
                      </a:pPr>
                      <a:r>
                        <a:rPr lang="en-US" sz="2800" kern="100" dirty="0">
                          <a:effectLst/>
                          <a:latin typeface="Times New Roman" panose="02020603050405020304" pitchFamily="18" charset="0"/>
                          <a:cs typeface="Times New Roman" panose="02020603050405020304" pitchFamily="18" charset="0"/>
                        </a:rPr>
                        <a:t>21.9</a:t>
                      </a:r>
                      <a:endParaRPr lang="en-CN" sz="2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3850247"/>
                  </a:ext>
                </a:extLst>
              </a:tr>
              <a:tr h="632826">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Eversion (outward)</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lnSpc>
                          <a:spcPct val="150000"/>
                        </a:lnSpc>
                        <a:tabLst>
                          <a:tab pos="5486400" algn="r"/>
                          <a:tab pos="2635250" algn="ctr"/>
                          <a:tab pos="3011170" algn="ctr"/>
                          <a:tab pos="5486400" algn="r"/>
                          <a:tab pos="6416040" algn="r"/>
                        </a:tabLst>
                      </a:pPr>
                      <a:r>
                        <a:rPr lang="en-US" sz="2800" kern="100" dirty="0">
                          <a:effectLst/>
                          <a:latin typeface="Times New Roman" panose="02020603050405020304" pitchFamily="18" charset="0"/>
                          <a:cs typeface="Times New Roman" panose="02020603050405020304" pitchFamily="18" charset="0"/>
                        </a:rPr>
                        <a:t>14.6</a:t>
                      </a:r>
                      <a:endParaRPr lang="en-CN" sz="2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98278790"/>
                  </a:ext>
                </a:extLst>
              </a:tr>
            </a:tbl>
          </a:graphicData>
        </a:graphic>
      </p:graphicFrame>
      <p:sp>
        <p:nvSpPr>
          <p:cNvPr id="51" name="TextBox 50">
            <a:extLst>
              <a:ext uri="{FF2B5EF4-FFF2-40B4-BE49-F238E27FC236}">
                <a16:creationId xmlns:a16="http://schemas.microsoft.com/office/drawing/2014/main" id="{55F1BC19-EACD-55CC-D7C3-EF72054DCB6A}"/>
              </a:ext>
            </a:extLst>
          </p:cNvPr>
          <p:cNvSpPr txBox="1"/>
          <p:nvPr/>
        </p:nvSpPr>
        <p:spPr>
          <a:xfrm>
            <a:off x="2955637" y="25690248"/>
            <a:ext cx="4839857"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Distance Sensors</a:t>
            </a:r>
          </a:p>
        </p:txBody>
      </p:sp>
      <p:sp>
        <p:nvSpPr>
          <p:cNvPr id="58" name="TextBox 57">
            <a:extLst>
              <a:ext uri="{FF2B5EF4-FFF2-40B4-BE49-F238E27FC236}">
                <a16:creationId xmlns:a16="http://schemas.microsoft.com/office/drawing/2014/main" id="{1DBD9C21-2B31-B326-F0F6-D36DDA241E56}"/>
              </a:ext>
            </a:extLst>
          </p:cNvPr>
          <p:cNvSpPr txBox="1"/>
          <p:nvPr/>
        </p:nvSpPr>
        <p:spPr>
          <a:xfrm>
            <a:off x="4074689" y="20614503"/>
            <a:ext cx="2798095"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Function</a:t>
            </a:r>
          </a:p>
        </p:txBody>
      </p:sp>
      <p:sp>
        <p:nvSpPr>
          <p:cNvPr id="59" name="TextBox 58">
            <a:extLst>
              <a:ext uri="{FF2B5EF4-FFF2-40B4-BE49-F238E27FC236}">
                <a16:creationId xmlns:a16="http://schemas.microsoft.com/office/drawing/2014/main" id="{46FC7542-E824-71ED-41AF-B0AD8243247F}"/>
              </a:ext>
            </a:extLst>
          </p:cNvPr>
          <p:cNvSpPr txBox="1"/>
          <p:nvPr/>
        </p:nvSpPr>
        <p:spPr>
          <a:xfrm>
            <a:off x="1505584" y="21429583"/>
            <a:ext cx="8009987" cy="3970318"/>
          </a:xfrm>
          <a:prstGeom prst="rect">
            <a:avLst/>
          </a:prstGeom>
          <a:noFill/>
        </p:spPr>
        <p:txBody>
          <a:bodyPr wrap="square" rtlCol="0">
            <a:spAutoFit/>
          </a:bodyPr>
          <a:lstStyle/>
          <a:p>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The bionic ankle will use two motors to mimic the movement of a normal human foot. Using the components spring system, universal joint, and motor system, the bionic foot tries to mimic the body part’s function, including </a:t>
            </a:r>
          </a:p>
          <a:p>
            <a:pPr marL="742950" indent="-742950">
              <a:buFont typeface="+mj-lt"/>
              <a:buAutoNum type="arabicPeriod"/>
            </a:pP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abosorbing shock, </a:t>
            </a:r>
          </a:p>
          <a:p>
            <a:pPr marL="742950" indent="-742950">
              <a:buFont typeface="+mj-lt"/>
              <a:buAutoNum type="arabicPeriod"/>
            </a:pP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providing power, </a:t>
            </a:r>
          </a:p>
          <a:p>
            <a:pPr marL="742950" indent="-742950">
              <a:buFont typeface="+mj-lt"/>
              <a:buAutoNum type="arabicPeriod"/>
            </a:pPr>
            <a:r>
              <a:rPr lang="en-US" sz="2800" dirty="0">
                <a:solidFill>
                  <a:schemeClr val="bg1">
                    <a:lumMod val="95000"/>
                    <a:lumOff val="5000"/>
                  </a:schemeClr>
                </a:solidFill>
                <a:latin typeface="Times New Roman" panose="02020603050405020304" pitchFamily="18" charset="0"/>
                <a:cs typeface="Times New Roman" panose="02020603050405020304" pitchFamily="18" charset="0"/>
              </a:rPr>
              <a:t>p</a:t>
            </a: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roviding joints</a:t>
            </a:r>
          </a:p>
          <a:p>
            <a:pPr marL="742950" indent="-742950">
              <a:buFont typeface="+mj-lt"/>
              <a:buAutoNum type="arabicPeriod"/>
            </a:pPr>
            <a:r>
              <a:rPr lang="en-US" sz="2800" dirty="0">
                <a:solidFill>
                  <a:schemeClr val="bg1">
                    <a:lumMod val="95000"/>
                    <a:lumOff val="5000"/>
                  </a:schemeClr>
                </a:solidFill>
                <a:latin typeface="Times New Roman" panose="02020603050405020304" pitchFamily="18" charset="0"/>
                <a:cs typeface="Times New Roman" panose="02020603050405020304" pitchFamily="18" charset="0"/>
              </a:rPr>
              <a:t>p</a:t>
            </a: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roviding supports</a:t>
            </a:r>
          </a:p>
        </p:txBody>
      </p:sp>
      <p:sp>
        <p:nvSpPr>
          <p:cNvPr id="60" name="TextBox 59">
            <a:extLst>
              <a:ext uri="{FF2B5EF4-FFF2-40B4-BE49-F238E27FC236}">
                <a16:creationId xmlns:a16="http://schemas.microsoft.com/office/drawing/2014/main" id="{C4FC4969-A8B0-A085-E3E5-710CBADF2B13}"/>
              </a:ext>
            </a:extLst>
          </p:cNvPr>
          <p:cNvSpPr txBox="1"/>
          <p:nvPr/>
        </p:nvSpPr>
        <p:spPr>
          <a:xfrm>
            <a:off x="25033674" y="2665264"/>
            <a:ext cx="3870629"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Programming</a:t>
            </a:r>
          </a:p>
        </p:txBody>
      </p:sp>
      <p:sp>
        <p:nvSpPr>
          <p:cNvPr id="62" name="TextBox 61">
            <a:extLst>
              <a:ext uri="{FF2B5EF4-FFF2-40B4-BE49-F238E27FC236}">
                <a16:creationId xmlns:a16="http://schemas.microsoft.com/office/drawing/2014/main" id="{76CE8044-A482-AE73-B207-5E224472EFA0}"/>
              </a:ext>
            </a:extLst>
          </p:cNvPr>
          <p:cNvSpPr txBox="1"/>
          <p:nvPr/>
        </p:nvSpPr>
        <p:spPr>
          <a:xfrm>
            <a:off x="22626279" y="14434574"/>
            <a:ext cx="8883784" cy="2677656"/>
          </a:xfrm>
          <a:prstGeom prst="rect">
            <a:avLst/>
          </a:prstGeom>
          <a:noFill/>
        </p:spPr>
        <p:txBody>
          <a:bodyPr wrap="square" rtlCol="0">
            <a:spAutoFit/>
          </a:bodyPr>
          <a:lstStyle/>
          <a:p>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The programming of the bionic ankle relies on a 2 variable PID control. The four distance sensors will calculate the inclination of the foot relative to the ground. Then, the self adaptive program will separately apply PID controller on the two element. Then, combine the two outcomes and send it to the two motors, letting them increase or decrease their angle. </a:t>
            </a:r>
          </a:p>
        </p:txBody>
      </p:sp>
      <p:sp>
        <p:nvSpPr>
          <p:cNvPr id="63" name="Rectangle 62">
            <a:extLst>
              <a:ext uri="{FF2B5EF4-FFF2-40B4-BE49-F238E27FC236}">
                <a16:creationId xmlns:a16="http://schemas.microsoft.com/office/drawing/2014/main" id="{A0CAA270-46F5-77B8-76FB-A30CC5CCAC0D}"/>
              </a:ext>
            </a:extLst>
          </p:cNvPr>
          <p:cNvSpPr/>
          <p:nvPr/>
        </p:nvSpPr>
        <p:spPr>
          <a:xfrm>
            <a:off x="843869" y="8325927"/>
            <a:ext cx="8968154" cy="80463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5" name="TextBox 64">
            <a:extLst>
              <a:ext uri="{FF2B5EF4-FFF2-40B4-BE49-F238E27FC236}">
                <a16:creationId xmlns:a16="http://schemas.microsoft.com/office/drawing/2014/main" id="{7E037927-D388-8EC3-AE1D-CD1BB55690BF}"/>
              </a:ext>
            </a:extLst>
          </p:cNvPr>
          <p:cNvSpPr txBox="1"/>
          <p:nvPr/>
        </p:nvSpPr>
        <p:spPr>
          <a:xfrm>
            <a:off x="3607701" y="8464210"/>
            <a:ext cx="3457795"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Background</a:t>
            </a:r>
          </a:p>
        </p:txBody>
      </p:sp>
      <p:sp>
        <p:nvSpPr>
          <p:cNvPr id="67" name="TextBox 66">
            <a:extLst>
              <a:ext uri="{FF2B5EF4-FFF2-40B4-BE49-F238E27FC236}">
                <a16:creationId xmlns:a16="http://schemas.microsoft.com/office/drawing/2014/main" id="{2B91CB7F-001A-0F72-51C3-82A0514D72D8}"/>
              </a:ext>
            </a:extLst>
          </p:cNvPr>
          <p:cNvSpPr txBox="1"/>
          <p:nvPr/>
        </p:nvSpPr>
        <p:spPr>
          <a:xfrm>
            <a:off x="1529553" y="9747116"/>
            <a:ext cx="7553524" cy="2923877"/>
          </a:xfrm>
          <a:prstGeom prst="rect">
            <a:avLst/>
          </a:prstGeom>
          <a:noFill/>
        </p:spPr>
        <p:txBody>
          <a:bodyPr wrap="square" rtlCol="0">
            <a:spAutoFit/>
          </a:bodyPr>
          <a:lstStyle/>
          <a:p>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The idea of a bionic ankle have existed for ages, but most bionic ankle focuses on improving only the gait pattern of the bionic ankle and shock absorption.</a:t>
            </a:r>
          </a:p>
          <a:p>
            <a:endParaRPr lang="en-CN" sz="3600" dirty="0"/>
          </a:p>
          <a:p>
            <a:endParaRPr lang="en-CN" sz="3600" dirty="0"/>
          </a:p>
        </p:txBody>
      </p:sp>
      <p:grpSp>
        <p:nvGrpSpPr>
          <p:cNvPr id="87" name="Group 86">
            <a:extLst>
              <a:ext uri="{FF2B5EF4-FFF2-40B4-BE49-F238E27FC236}">
                <a16:creationId xmlns:a16="http://schemas.microsoft.com/office/drawing/2014/main" id="{5A7C89D1-DFF9-AEC0-191F-385D0E485DFA}"/>
              </a:ext>
            </a:extLst>
          </p:cNvPr>
          <p:cNvGrpSpPr/>
          <p:nvPr/>
        </p:nvGrpSpPr>
        <p:grpSpPr>
          <a:xfrm>
            <a:off x="1443010" y="12113289"/>
            <a:ext cx="3210255" cy="3852189"/>
            <a:chOff x="34033764" y="7494868"/>
            <a:chExt cx="3210255" cy="3852189"/>
          </a:xfrm>
        </p:grpSpPr>
        <p:pic>
          <p:nvPicPr>
            <p:cNvPr id="68" name="Picture 67">
              <a:extLst>
                <a:ext uri="{FF2B5EF4-FFF2-40B4-BE49-F238E27FC236}">
                  <a16:creationId xmlns:a16="http://schemas.microsoft.com/office/drawing/2014/main" id="{20287961-5CB3-6772-B9E9-EA848C3DFDD6}"/>
                </a:ext>
              </a:extLst>
            </p:cNvPr>
            <p:cNvPicPr>
              <a:picLocks noChangeAspect="1"/>
            </p:cNvPicPr>
            <p:nvPr/>
          </p:nvPicPr>
          <p:blipFill>
            <a:blip r:embed="rId2"/>
            <a:stretch>
              <a:fillRect/>
            </a:stretch>
          </p:blipFill>
          <p:spPr>
            <a:xfrm>
              <a:off x="34033764" y="7494868"/>
              <a:ext cx="3025254" cy="3025254"/>
            </a:xfrm>
            <a:prstGeom prst="rect">
              <a:avLst/>
            </a:prstGeom>
            <a:ln>
              <a:solidFill>
                <a:schemeClr val="bg1"/>
              </a:solidFill>
            </a:ln>
          </p:spPr>
        </p:pic>
        <p:sp>
          <p:nvSpPr>
            <p:cNvPr id="70" name="TextBox 69">
              <a:extLst>
                <a:ext uri="{FF2B5EF4-FFF2-40B4-BE49-F238E27FC236}">
                  <a16:creationId xmlns:a16="http://schemas.microsoft.com/office/drawing/2014/main" id="{139F8AAD-7440-A281-49D8-36EBA3CD8637}"/>
                </a:ext>
              </a:extLst>
            </p:cNvPr>
            <p:cNvSpPr txBox="1"/>
            <p:nvPr/>
          </p:nvSpPr>
          <p:spPr>
            <a:xfrm>
              <a:off x="34099709" y="10700726"/>
              <a:ext cx="3144310" cy="646331"/>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1: </a:t>
              </a:r>
              <a:r>
                <a:rPr lang="en-US" dirty="0">
                  <a:solidFill>
                    <a:schemeClr val="bg1">
                      <a:lumMod val="95000"/>
                      <a:lumOff val="5000"/>
                    </a:schemeClr>
                  </a:solidFill>
                  <a:latin typeface="Times New Roman" panose="02020603050405020304" pitchFamily="18" charset="0"/>
                  <a:cs typeface="Times New Roman" panose="02020603050405020304" pitchFamily="18" charset="0"/>
                </a:rPr>
                <a:t>A Multi-loop Ankle Foot</a:t>
              </a:r>
              <a:endParaRPr lang="en-CN" dirty="0">
                <a:solidFill>
                  <a:schemeClr val="bg1">
                    <a:lumMod val="95000"/>
                    <a:lumOff val="5000"/>
                  </a:schemeClr>
                </a:solidFill>
                <a:latin typeface="Times New Roman" panose="02020603050405020304" pitchFamily="18" charset="0"/>
                <a:cs typeface="Times New Roman" panose="02020603050405020304" pitchFamily="18" charset="0"/>
              </a:endParaRPr>
            </a:p>
          </p:txBody>
        </p:sp>
      </p:grpSp>
      <p:sp>
        <p:nvSpPr>
          <p:cNvPr id="71" name="TextBox 70">
            <a:extLst>
              <a:ext uri="{FF2B5EF4-FFF2-40B4-BE49-F238E27FC236}">
                <a16:creationId xmlns:a16="http://schemas.microsoft.com/office/drawing/2014/main" id="{D87440F8-468D-F160-BE27-387A55E12E39}"/>
              </a:ext>
            </a:extLst>
          </p:cNvPr>
          <p:cNvSpPr txBox="1"/>
          <p:nvPr/>
        </p:nvSpPr>
        <p:spPr>
          <a:xfrm>
            <a:off x="1453411" y="16805899"/>
            <a:ext cx="7663817" cy="830997"/>
          </a:xfrm>
          <a:prstGeom prst="rect">
            <a:avLst/>
          </a:prstGeom>
          <a:noFill/>
        </p:spPr>
        <p:txBody>
          <a:bodyPr wrap="square" rtlCol="0">
            <a:spAutoFit/>
          </a:bodyPr>
          <a:lstStyle/>
          <a:p>
            <a:pPr algn="ctr"/>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Innovation</a:t>
            </a:r>
          </a:p>
        </p:txBody>
      </p:sp>
      <p:sp>
        <p:nvSpPr>
          <p:cNvPr id="76" name="TextBox 75">
            <a:extLst>
              <a:ext uri="{FF2B5EF4-FFF2-40B4-BE49-F238E27FC236}">
                <a16:creationId xmlns:a16="http://schemas.microsoft.com/office/drawing/2014/main" id="{66721B0E-215F-3ADB-5F66-D99DC8F3691B}"/>
              </a:ext>
            </a:extLst>
          </p:cNvPr>
          <p:cNvSpPr txBox="1"/>
          <p:nvPr/>
        </p:nvSpPr>
        <p:spPr>
          <a:xfrm>
            <a:off x="34163778" y="5221900"/>
            <a:ext cx="3924401"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20: Angle of Eversion</a:t>
            </a:r>
          </a:p>
        </p:txBody>
      </p:sp>
      <p:sp>
        <p:nvSpPr>
          <p:cNvPr id="79" name="TextBox 78">
            <a:extLst>
              <a:ext uri="{FF2B5EF4-FFF2-40B4-BE49-F238E27FC236}">
                <a16:creationId xmlns:a16="http://schemas.microsoft.com/office/drawing/2014/main" id="{A0E0DCCE-E0A7-492F-5C0B-CE2D1C8BF1A9}"/>
              </a:ext>
            </a:extLst>
          </p:cNvPr>
          <p:cNvSpPr txBox="1"/>
          <p:nvPr/>
        </p:nvSpPr>
        <p:spPr>
          <a:xfrm>
            <a:off x="38552598" y="5095561"/>
            <a:ext cx="3496791"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21: A</a:t>
            </a:r>
            <a:r>
              <a:rPr lang="en-US" dirty="0">
                <a:solidFill>
                  <a:schemeClr val="bg1">
                    <a:lumMod val="95000"/>
                    <a:lumOff val="5000"/>
                  </a:schemeClr>
                </a:solidFill>
                <a:latin typeface="Times New Roman" panose="02020603050405020304" pitchFamily="18" charset="0"/>
                <a:cs typeface="Times New Roman" panose="02020603050405020304" pitchFamily="18" charset="0"/>
              </a:rPr>
              <a:t>n</a:t>
            </a:r>
            <a:r>
              <a:rPr lang="en-CN" dirty="0">
                <a:solidFill>
                  <a:schemeClr val="bg1">
                    <a:lumMod val="95000"/>
                    <a:lumOff val="5000"/>
                  </a:schemeClr>
                </a:solidFill>
                <a:latin typeface="Times New Roman" panose="02020603050405020304" pitchFamily="18" charset="0"/>
                <a:cs typeface="Times New Roman" panose="02020603050405020304" pitchFamily="18" charset="0"/>
              </a:rPr>
              <a:t>gle of Planar Flexion</a:t>
            </a:r>
          </a:p>
        </p:txBody>
      </p:sp>
      <p:sp>
        <p:nvSpPr>
          <p:cNvPr id="81" name="TextBox 80">
            <a:extLst>
              <a:ext uri="{FF2B5EF4-FFF2-40B4-BE49-F238E27FC236}">
                <a16:creationId xmlns:a16="http://schemas.microsoft.com/office/drawing/2014/main" id="{AD7CE573-E64A-CCE7-11DA-87C63D1225AE}"/>
              </a:ext>
            </a:extLst>
          </p:cNvPr>
          <p:cNvSpPr txBox="1"/>
          <p:nvPr/>
        </p:nvSpPr>
        <p:spPr>
          <a:xfrm>
            <a:off x="34147497" y="8486822"/>
            <a:ext cx="3317136"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22: Angle of Inversion</a:t>
            </a:r>
          </a:p>
        </p:txBody>
      </p:sp>
      <p:sp>
        <p:nvSpPr>
          <p:cNvPr id="82" name="TextBox 81">
            <a:extLst>
              <a:ext uri="{FF2B5EF4-FFF2-40B4-BE49-F238E27FC236}">
                <a16:creationId xmlns:a16="http://schemas.microsoft.com/office/drawing/2014/main" id="{D050F069-8ACA-672D-25BA-03A8C9817529}"/>
              </a:ext>
            </a:extLst>
          </p:cNvPr>
          <p:cNvSpPr txBox="1"/>
          <p:nvPr/>
        </p:nvSpPr>
        <p:spPr>
          <a:xfrm>
            <a:off x="38570347" y="8376206"/>
            <a:ext cx="3176512"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23: Angle of Dorsiflexion</a:t>
            </a:r>
          </a:p>
        </p:txBody>
      </p:sp>
      <p:grpSp>
        <p:nvGrpSpPr>
          <p:cNvPr id="89" name="Group 88">
            <a:extLst>
              <a:ext uri="{FF2B5EF4-FFF2-40B4-BE49-F238E27FC236}">
                <a16:creationId xmlns:a16="http://schemas.microsoft.com/office/drawing/2014/main" id="{B9F3A030-8F0E-68A2-5012-428A5E3836E8}"/>
              </a:ext>
            </a:extLst>
          </p:cNvPr>
          <p:cNvGrpSpPr/>
          <p:nvPr/>
        </p:nvGrpSpPr>
        <p:grpSpPr>
          <a:xfrm>
            <a:off x="5369316" y="12117987"/>
            <a:ext cx="4331768" cy="3629368"/>
            <a:chOff x="37407787" y="7494868"/>
            <a:chExt cx="4331768" cy="3629368"/>
          </a:xfrm>
        </p:grpSpPr>
        <p:pic>
          <p:nvPicPr>
            <p:cNvPr id="69" name="Picture 68">
              <a:extLst>
                <a:ext uri="{FF2B5EF4-FFF2-40B4-BE49-F238E27FC236}">
                  <a16:creationId xmlns:a16="http://schemas.microsoft.com/office/drawing/2014/main" id="{4866E459-4A6C-3346-0EBC-D31C949B8CB7}"/>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37407787" y="7494868"/>
              <a:ext cx="4242385" cy="3083118"/>
            </a:xfrm>
            <a:prstGeom prst="rect">
              <a:avLst/>
            </a:prstGeom>
            <a:ln>
              <a:solidFill>
                <a:schemeClr val="bg1"/>
              </a:solidFill>
            </a:ln>
          </p:spPr>
        </p:pic>
        <p:sp>
          <p:nvSpPr>
            <p:cNvPr id="88" name="TextBox 87">
              <a:extLst>
                <a:ext uri="{FF2B5EF4-FFF2-40B4-BE49-F238E27FC236}">
                  <a16:creationId xmlns:a16="http://schemas.microsoft.com/office/drawing/2014/main" id="{9B423780-08A1-59DB-D5EA-6135B1C36F14}"/>
                </a:ext>
              </a:extLst>
            </p:cNvPr>
            <p:cNvSpPr txBox="1"/>
            <p:nvPr/>
          </p:nvSpPr>
          <p:spPr>
            <a:xfrm>
              <a:off x="37991717" y="10754904"/>
              <a:ext cx="3747838"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 BiOM’s bionic ankle</a:t>
              </a:r>
            </a:p>
          </p:txBody>
        </p:sp>
      </p:grpSp>
      <p:sp>
        <p:nvSpPr>
          <p:cNvPr id="90" name="TextBox 89">
            <a:extLst>
              <a:ext uri="{FF2B5EF4-FFF2-40B4-BE49-F238E27FC236}">
                <a16:creationId xmlns:a16="http://schemas.microsoft.com/office/drawing/2014/main" id="{3244BB84-291C-C9E1-E191-DC3E4FE14F51}"/>
              </a:ext>
            </a:extLst>
          </p:cNvPr>
          <p:cNvSpPr txBox="1"/>
          <p:nvPr/>
        </p:nvSpPr>
        <p:spPr>
          <a:xfrm>
            <a:off x="34855574" y="13129237"/>
            <a:ext cx="6267215"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Table 1: The maxinum angle that each movement can get</a:t>
            </a:r>
          </a:p>
        </p:txBody>
      </p:sp>
      <p:sp>
        <p:nvSpPr>
          <p:cNvPr id="85" name="TextBox 84">
            <a:extLst>
              <a:ext uri="{FF2B5EF4-FFF2-40B4-BE49-F238E27FC236}">
                <a16:creationId xmlns:a16="http://schemas.microsoft.com/office/drawing/2014/main" id="{9BF307DA-827E-774D-3383-BDA1405AA46A}"/>
              </a:ext>
            </a:extLst>
          </p:cNvPr>
          <p:cNvSpPr txBox="1"/>
          <p:nvPr/>
        </p:nvSpPr>
        <p:spPr>
          <a:xfrm>
            <a:off x="25415935" y="9077909"/>
            <a:ext cx="3099048"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16: Software Flowchart</a:t>
            </a:r>
          </a:p>
        </p:txBody>
      </p:sp>
      <p:grpSp>
        <p:nvGrpSpPr>
          <p:cNvPr id="102" name="Group 101">
            <a:extLst>
              <a:ext uri="{FF2B5EF4-FFF2-40B4-BE49-F238E27FC236}">
                <a16:creationId xmlns:a16="http://schemas.microsoft.com/office/drawing/2014/main" id="{63913A54-2CD7-F19D-84E3-AC21553B1B76}"/>
              </a:ext>
            </a:extLst>
          </p:cNvPr>
          <p:cNvGrpSpPr/>
          <p:nvPr/>
        </p:nvGrpSpPr>
        <p:grpSpPr>
          <a:xfrm>
            <a:off x="27353757" y="24053238"/>
            <a:ext cx="4183022" cy="6938106"/>
            <a:chOff x="38235272" y="20889611"/>
            <a:chExt cx="3575128" cy="7251723"/>
          </a:xfrm>
        </p:grpSpPr>
        <p:pic>
          <p:nvPicPr>
            <p:cNvPr id="75" name="Picture 74" descr="A mechanical device with wheels&#10;&#10;Description automatically generated with medium confidence">
              <a:extLst>
                <a:ext uri="{FF2B5EF4-FFF2-40B4-BE49-F238E27FC236}">
                  <a16:creationId xmlns:a16="http://schemas.microsoft.com/office/drawing/2014/main" id="{B7250CB3-12BF-0427-8EFF-943D9115EE49}"/>
                </a:ext>
              </a:extLst>
            </p:cNvPr>
            <p:cNvPicPr>
              <a:picLocks noChangeAspect="1"/>
            </p:cNvPicPr>
            <p:nvPr/>
          </p:nvPicPr>
          <p:blipFill rotWithShape="1">
            <a:blip r:embed="rId4"/>
            <a:srcRect l="15535" t="-2620" r="23241" b="2620"/>
            <a:stretch/>
          </p:blipFill>
          <p:spPr>
            <a:xfrm>
              <a:off x="38235272" y="20889611"/>
              <a:ext cx="3575128" cy="6558570"/>
            </a:xfrm>
            <a:prstGeom prst="rect">
              <a:avLst/>
            </a:prstGeom>
            <a:ln>
              <a:solidFill>
                <a:schemeClr val="bg1"/>
              </a:solidFill>
            </a:ln>
          </p:spPr>
        </p:pic>
        <p:sp>
          <p:nvSpPr>
            <p:cNvPr id="100" name="TextBox 99">
              <a:extLst>
                <a:ext uri="{FF2B5EF4-FFF2-40B4-BE49-F238E27FC236}">
                  <a16:creationId xmlns:a16="http://schemas.microsoft.com/office/drawing/2014/main" id="{3EFB269F-1445-C39D-33E5-AF0666BD9736}"/>
                </a:ext>
              </a:extLst>
            </p:cNvPr>
            <p:cNvSpPr txBox="1"/>
            <p:nvPr/>
          </p:nvSpPr>
          <p:spPr>
            <a:xfrm>
              <a:off x="38785827" y="27755307"/>
              <a:ext cx="2953728" cy="386027"/>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19: Solidworks Model</a:t>
              </a:r>
            </a:p>
          </p:txBody>
        </p:sp>
      </p:grpSp>
      <p:sp>
        <p:nvSpPr>
          <p:cNvPr id="103" name="TextBox 102">
            <a:extLst>
              <a:ext uri="{FF2B5EF4-FFF2-40B4-BE49-F238E27FC236}">
                <a16:creationId xmlns:a16="http://schemas.microsoft.com/office/drawing/2014/main" id="{45A98EBD-4073-82F3-0381-045F0A181376}"/>
              </a:ext>
            </a:extLst>
          </p:cNvPr>
          <p:cNvSpPr txBox="1"/>
          <p:nvPr/>
        </p:nvSpPr>
        <p:spPr>
          <a:xfrm>
            <a:off x="1453411" y="17638054"/>
            <a:ext cx="7824045" cy="2677656"/>
          </a:xfrm>
          <a:prstGeom prst="rect">
            <a:avLst/>
          </a:prstGeom>
          <a:noFill/>
        </p:spPr>
        <p:txBody>
          <a:bodyPr wrap="square" rtlCol="0">
            <a:spAutoFit/>
          </a:bodyPr>
          <a:lstStyle/>
          <a:p>
            <a:pPr marL="742950" indent="-742950">
              <a:buFont typeface="+mj-lt"/>
              <a:buAutoNum type="arabicPeriod"/>
            </a:pP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Added inversion and eversion movements</a:t>
            </a:r>
          </a:p>
          <a:p>
            <a:pPr marL="742950" indent="-742950">
              <a:buFont typeface="+mj-lt"/>
              <a:buAutoNum type="arabicPeriod"/>
            </a:pP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Used a better spring system to mimic human’s ankle function</a:t>
            </a:r>
          </a:p>
          <a:p>
            <a:pPr marL="742950" indent="-742950">
              <a:buFont typeface="+mj-lt"/>
              <a:buAutoNum type="arabicPeriod"/>
            </a:pP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Created a self-adaptive program that </a:t>
            </a:r>
            <a:r>
              <a:rPr lang="en-US" sz="2800" dirty="0">
                <a:solidFill>
                  <a:schemeClr val="bg1">
                    <a:lumMod val="95000"/>
                    <a:lumOff val="5000"/>
                  </a:schemeClr>
                </a:solidFill>
                <a:latin typeface="Times New Roman" panose="02020603050405020304" pitchFamily="18" charset="0"/>
                <a:cs typeface="Times New Roman" panose="02020603050405020304" pitchFamily="18" charset="0"/>
              </a:rPr>
              <a:t>uses a combination of IMU and laser distance sensors to aid walking on uneven ground. </a:t>
            </a:r>
            <a:endParaRPr lang="en-CN" sz="2800"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105" name="TextBox 104">
            <a:extLst>
              <a:ext uri="{FF2B5EF4-FFF2-40B4-BE49-F238E27FC236}">
                <a16:creationId xmlns:a16="http://schemas.microsoft.com/office/drawing/2014/main" id="{4ED05BE6-55EE-BA2C-C6A0-0E917E9F93B6}"/>
              </a:ext>
            </a:extLst>
          </p:cNvPr>
          <p:cNvSpPr txBox="1"/>
          <p:nvPr/>
        </p:nvSpPr>
        <p:spPr>
          <a:xfrm>
            <a:off x="33578343" y="13625916"/>
            <a:ext cx="8787343" cy="1815882"/>
          </a:xfrm>
          <a:prstGeom prst="rect">
            <a:avLst/>
          </a:prstGeom>
          <a:noFill/>
        </p:spPr>
        <p:txBody>
          <a:bodyPr wrap="square" rtlCol="0">
            <a:spAutoFit/>
          </a:bodyPr>
          <a:lstStyle/>
          <a:p>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These numbers relatively matches the human’s ankle movements, with the percent accuracy, except dorsiflexion, are around 26%. This means that the ankle can exceed to human ability, and even surprass it. </a:t>
            </a:r>
          </a:p>
        </p:txBody>
      </p:sp>
      <p:sp>
        <p:nvSpPr>
          <p:cNvPr id="111" name="TextBox 110">
            <a:extLst>
              <a:ext uri="{FF2B5EF4-FFF2-40B4-BE49-F238E27FC236}">
                <a16:creationId xmlns:a16="http://schemas.microsoft.com/office/drawing/2014/main" id="{5D209400-ACFB-2B57-5FD4-891604E8F523}"/>
              </a:ext>
            </a:extLst>
          </p:cNvPr>
          <p:cNvSpPr txBox="1"/>
          <p:nvPr/>
        </p:nvSpPr>
        <p:spPr>
          <a:xfrm>
            <a:off x="27938396" y="11178055"/>
            <a:ext cx="3634737" cy="1815882"/>
          </a:xfrm>
          <a:prstGeom prst="rect">
            <a:avLst/>
          </a:prstGeom>
          <a:noFill/>
        </p:spPr>
        <p:txBody>
          <a:bodyPr wrap="square" rtlCol="0">
            <a:spAutoFit/>
          </a:bodyPr>
          <a:lstStyle/>
          <a:p>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PID_control and PID_control2 are the same function using different variables</a:t>
            </a:r>
          </a:p>
        </p:txBody>
      </p:sp>
      <p:grpSp>
        <p:nvGrpSpPr>
          <p:cNvPr id="113" name="Group 112">
            <a:extLst>
              <a:ext uri="{FF2B5EF4-FFF2-40B4-BE49-F238E27FC236}">
                <a16:creationId xmlns:a16="http://schemas.microsoft.com/office/drawing/2014/main" id="{5722851D-FCDF-CFFC-753C-670A53121CC5}"/>
              </a:ext>
            </a:extLst>
          </p:cNvPr>
          <p:cNvGrpSpPr/>
          <p:nvPr/>
        </p:nvGrpSpPr>
        <p:grpSpPr>
          <a:xfrm>
            <a:off x="22407937" y="10148945"/>
            <a:ext cx="5137590" cy="4145238"/>
            <a:chOff x="22350540" y="12627545"/>
            <a:chExt cx="5137590" cy="4145238"/>
          </a:xfrm>
        </p:grpSpPr>
        <p:pic>
          <p:nvPicPr>
            <p:cNvPr id="109" name="Picture 108" descr="A computer screen shot of a program code&#10;&#10;Description automatically generated">
              <a:extLst>
                <a:ext uri="{FF2B5EF4-FFF2-40B4-BE49-F238E27FC236}">
                  <a16:creationId xmlns:a16="http://schemas.microsoft.com/office/drawing/2014/main" id="{8B3915C4-6C2B-FA4A-C76D-4978634382CC}"/>
                </a:ext>
              </a:extLst>
            </p:cNvPr>
            <p:cNvPicPr>
              <a:picLocks noChangeAspect="1"/>
            </p:cNvPicPr>
            <p:nvPr/>
          </p:nvPicPr>
          <p:blipFill>
            <a:blip r:embed="rId5"/>
            <a:stretch>
              <a:fillRect/>
            </a:stretch>
          </p:blipFill>
          <p:spPr>
            <a:xfrm>
              <a:off x="22350540" y="12627545"/>
              <a:ext cx="5137590" cy="3748919"/>
            </a:xfrm>
            <a:prstGeom prst="rect">
              <a:avLst/>
            </a:prstGeom>
          </p:spPr>
        </p:pic>
        <p:sp>
          <p:nvSpPr>
            <p:cNvPr id="112" name="TextBox 111">
              <a:extLst>
                <a:ext uri="{FF2B5EF4-FFF2-40B4-BE49-F238E27FC236}">
                  <a16:creationId xmlns:a16="http://schemas.microsoft.com/office/drawing/2014/main" id="{C77A2FF9-4A46-5F36-278A-FE4239425499}"/>
                </a:ext>
              </a:extLst>
            </p:cNvPr>
            <p:cNvSpPr txBox="1"/>
            <p:nvPr/>
          </p:nvSpPr>
          <p:spPr>
            <a:xfrm>
              <a:off x="23473712" y="16403451"/>
              <a:ext cx="3266008"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17: PID controller code</a:t>
              </a:r>
            </a:p>
          </p:txBody>
        </p:sp>
      </p:grpSp>
      <p:sp>
        <p:nvSpPr>
          <p:cNvPr id="5" name="Rectangle 4">
            <a:extLst>
              <a:ext uri="{FF2B5EF4-FFF2-40B4-BE49-F238E27FC236}">
                <a16:creationId xmlns:a16="http://schemas.microsoft.com/office/drawing/2014/main" id="{C412DD78-A45B-162E-7CA6-EDF04679576C}"/>
              </a:ext>
            </a:extLst>
          </p:cNvPr>
          <p:cNvSpPr/>
          <p:nvPr/>
        </p:nvSpPr>
        <p:spPr>
          <a:xfrm>
            <a:off x="33004087" y="15988846"/>
            <a:ext cx="9411555" cy="159040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TextBox 6">
            <a:extLst>
              <a:ext uri="{FF2B5EF4-FFF2-40B4-BE49-F238E27FC236}">
                <a16:creationId xmlns:a16="http://schemas.microsoft.com/office/drawing/2014/main" id="{94E14677-5D2C-B186-2C7B-5773A277F609}"/>
              </a:ext>
            </a:extLst>
          </p:cNvPr>
          <p:cNvSpPr txBox="1"/>
          <p:nvPr/>
        </p:nvSpPr>
        <p:spPr>
          <a:xfrm>
            <a:off x="33373331" y="16223546"/>
            <a:ext cx="8883784" cy="830997"/>
          </a:xfrm>
          <a:prstGeom prst="rect">
            <a:avLst/>
          </a:prstGeom>
          <a:noFill/>
        </p:spPr>
        <p:txBody>
          <a:bodyPr wrap="square" rtlCol="0">
            <a:spAutoFit/>
          </a:bodyPr>
          <a:lstStyle/>
          <a:p>
            <a:r>
              <a:rPr lang="en-CN" sz="4800" dirty="0">
                <a:solidFill>
                  <a:schemeClr val="bg1"/>
                </a:solidFill>
                <a:latin typeface="Times New Roman" panose="02020603050405020304" pitchFamily="18" charset="0"/>
                <a:cs typeface="Times New Roman" panose="02020603050405020304" pitchFamily="18" charset="0"/>
              </a:rPr>
              <a:t>Experiment 2-Adaption to ground</a:t>
            </a:r>
          </a:p>
        </p:txBody>
      </p:sp>
      <p:sp>
        <p:nvSpPr>
          <p:cNvPr id="9" name="TextBox 8">
            <a:extLst>
              <a:ext uri="{FF2B5EF4-FFF2-40B4-BE49-F238E27FC236}">
                <a16:creationId xmlns:a16="http://schemas.microsoft.com/office/drawing/2014/main" id="{6144FBD6-A9D9-6869-6ED1-4AD3601F1D37}"/>
              </a:ext>
            </a:extLst>
          </p:cNvPr>
          <p:cNvSpPr txBox="1"/>
          <p:nvPr/>
        </p:nvSpPr>
        <p:spPr>
          <a:xfrm>
            <a:off x="33897042" y="1706680"/>
            <a:ext cx="8349712" cy="1384995"/>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This experiment attempts to explore how much can the foot move in the four directions: plantar flexion, dorsiflexion, inversion, and eversion.</a:t>
            </a:r>
          </a:p>
        </p:txBody>
      </p:sp>
      <p:pic>
        <p:nvPicPr>
          <p:cNvPr id="6" name="Picture 5" descr="A graph of a graph&#10;&#10;Description automatically generated with medium confidence">
            <a:extLst>
              <a:ext uri="{FF2B5EF4-FFF2-40B4-BE49-F238E27FC236}">
                <a16:creationId xmlns:a16="http://schemas.microsoft.com/office/drawing/2014/main" id="{2A234250-E62D-A309-20F8-A7B00636DAB4}"/>
              </a:ext>
            </a:extLst>
          </p:cNvPr>
          <p:cNvPicPr>
            <a:picLocks noChangeAspect="1"/>
          </p:cNvPicPr>
          <p:nvPr/>
        </p:nvPicPr>
        <p:blipFill>
          <a:blip r:embed="rId6"/>
          <a:stretch>
            <a:fillRect/>
          </a:stretch>
        </p:blipFill>
        <p:spPr>
          <a:xfrm>
            <a:off x="22407937" y="17824972"/>
            <a:ext cx="6718214" cy="3029603"/>
          </a:xfrm>
          <a:prstGeom prst="rect">
            <a:avLst/>
          </a:prstGeom>
          <a:ln>
            <a:solidFill>
              <a:schemeClr val="bg1"/>
            </a:solidFill>
          </a:ln>
        </p:spPr>
      </p:pic>
      <p:sp>
        <p:nvSpPr>
          <p:cNvPr id="12" name="TextBox 11">
            <a:extLst>
              <a:ext uri="{FF2B5EF4-FFF2-40B4-BE49-F238E27FC236}">
                <a16:creationId xmlns:a16="http://schemas.microsoft.com/office/drawing/2014/main" id="{B43F5532-6EAE-029F-C505-D0FF80A938FB}"/>
              </a:ext>
            </a:extLst>
          </p:cNvPr>
          <p:cNvSpPr txBox="1"/>
          <p:nvPr/>
        </p:nvSpPr>
        <p:spPr>
          <a:xfrm>
            <a:off x="25788825" y="20967965"/>
            <a:ext cx="2180965" cy="369332"/>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Time interval(ms)</a:t>
            </a:r>
          </a:p>
        </p:txBody>
      </p:sp>
      <p:sp>
        <p:nvSpPr>
          <p:cNvPr id="14" name="TextBox 13">
            <a:extLst>
              <a:ext uri="{FF2B5EF4-FFF2-40B4-BE49-F238E27FC236}">
                <a16:creationId xmlns:a16="http://schemas.microsoft.com/office/drawing/2014/main" id="{B967819D-63D4-D8AC-B436-66669DFBC6B0}"/>
              </a:ext>
            </a:extLst>
          </p:cNvPr>
          <p:cNvSpPr txBox="1"/>
          <p:nvPr/>
        </p:nvSpPr>
        <p:spPr>
          <a:xfrm rot="16200000">
            <a:off x="21785730" y="19273320"/>
            <a:ext cx="810727" cy="276999"/>
          </a:xfrm>
          <a:prstGeom prst="rect">
            <a:avLst/>
          </a:prstGeom>
          <a:noFill/>
        </p:spPr>
        <p:txBody>
          <a:bodyPr wrap="square" rtlCol="0">
            <a:spAutoFit/>
          </a:bodyPr>
          <a:lstStyle/>
          <a:p>
            <a:r>
              <a:rPr lang="en-CN" sz="1200" dirty="0">
                <a:solidFill>
                  <a:schemeClr val="bg1"/>
                </a:solidFill>
                <a:latin typeface="Times New Roman" panose="02020603050405020304" pitchFamily="18" charset="0"/>
                <a:cs typeface="Times New Roman" panose="02020603050405020304" pitchFamily="18" charset="0"/>
              </a:rPr>
              <a:t>Angle(°)</a:t>
            </a:r>
          </a:p>
        </p:txBody>
      </p:sp>
      <p:sp>
        <p:nvSpPr>
          <p:cNvPr id="17" name="TextBox 16">
            <a:extLst>
              <a:ext uri="{FF2B5EF4-FFF2-40B4-BE49-F238E27FC236}">
                <a16:creationId xmlns:a16="http://schemas.microsoft.com/office/drawing/2014/main" id="{49E9F27D-77D0-D9AA-3B89-1F1094D9741D}"/>
              </a:ext>
            </a:extLst>
          </p:cNvPr>
          <p:cNvSpPr txBox="1"/>
          <p:nvPr/>
        </p:nvSpPr>
        <p:spPr>
          <a:xfrm>
            <a:off x="24888707" y="17446090"/>
            <a:ext cx="4153505" cy="369332"/>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Graph 1: PID control outcome over time</a:t>
            </a:r>
          </a:p>
        </p:txBody>
      </p:sp>
      <p:graphicFrame>
        <p:nvGraphicFramePr>
          <p:cNvPr id="19" name="Table 22">
            <a:extLst>
              <a:ext uri="{FF2B5EF4-FFF2-40B4-BE49-F238E27FC236}">
                <a16:creationId xmlns:a16="http://schemas.microsoft.com/office/drawing/2014/main" id="{AD07D723-A4D3-E27F-F9E5-DB48B3115FAD}"/>
              </a:ext>
            </a:extLst>
          </p:cNvPr>
          <p:cNvGraphicFramePr>
            <a:graphicFrameLocks noGrp="1"/>
          </p:cNvGraphicFramePr>
          <p:nvPr>
            <p:extLst>
              <p:ext uri="{D42A27DB-BD31-4B8C-83A1-F6EECF244321}">
                <p14:modId xmlns:p14="http://schemas.microsoft.com/office/powerpoint/2010/main" val="991414536"/>
              </p:ext>
            </p:extLst>
          </p:nvPr>
        </p:nvGraphicFramePr>
        <p:xfrm>
          <a:off x="29307095" y="17968984"/>
          <a:ext cx="2429949" cy="2784207"/>
        </p:xfrm>
        <a:graphic>
          <a:graphicData uri="http://schemas.openxmlformats.org/drawingml/2006/table">
            <a:tbl>
              <a:tblPr firstRow="1" bandRow="1">
                <a:tableStyleId>{5C22544A-7EE6-4342-B048-85BDC9FD1C3A}</a:tableStyleId>
              </a:tblPr>
              <a:tblGrid>
                <a:gridCol w="938894">
                  <a:extLst>
                    <a:ext uri="{9D8B030D-6E8A-4147-A177-3AD203B41FA5}">
                      <a16:colId xmlns:a16="http://schemas.microsoft.com/office/drawing/2014/main" val="1150180226"/>
                    </a:ext>
                  </a:extLst>
                </a:gridCol>
                <a:gridCol w="1491055">
                  <a:extLst>
                    <a:ext uri="{9D8B030D-6E8A-4147-A177-3AD203B41FA5}">
                      <a16:colId xmlns:a16="http://schemas.microsoft.com/office/drawing/2014/main" val="176319921"/>
                    </a:ext>
                  </a:extLst>
                </a:gridCol>
              </a:tblGrid>
              <a:tr h="648531">
                <a:tc>
                  <a:txBody>
                    <a:bodyPr/>
                    <a:lstStyle/>
                    <a:p>
                      <a:r>
                        <a:rPr lang="en-CN" sz="1800" dirty="0">
                          <a:latin typeface="Times New Roman" panose="02020603050405020304" pitchFamily="18" charset="0"/>
                          <a:cs typeface="Times New Roman" panose="02020603050405020304" pitchFamily="18" charset="0"/>
                        </a:rPr>
                        <a:t>Color</a:t>
                      </a:r>
                    </a:p>
                  </a:txBody>
                  <a:tcPr/>
                </a:tc>
                <a:tc>
                  <a:txBody>
                    <a:bodyPr/>
                    <a:lstStyle/>
                    <a:p>
                      <a:r>
                        <a:rPr lang="en-CN" sz="1800" dirty="0">
                          <a:latin typeface="Times New Roman" panose="02020603050405020304" pitchFamily="18" charset="0"/>
                          <a:cs typeface="Times New Roman" panose="02020603050405020304" pitchFamily="18" charset="0"/>
                        </a:rPr>
                        <a:t>Meaning</a:t>
                      </a:r>
                    </a:p>
                  </a:txBody>
                  <a:tcPr/>
                </a:tc>
                <a:extLst>
                  <a:ext uri="{0D108BD9-81ED-4DB2-BD59-A6C34878D82A}">
                    <a16:rowId xmlns:a16="http://schemas.microsoft.com/office/drawing/2014/main" val="3165207020"/>
                  </a:ext>
                </a:extLst>
              </a:tr>
              <a:tr h="533919">
                <a:tc>
                  <a:txBody>
                    <a:bodyPr/>
                    <a:lstStyle/>
                    <a:p>
                      <a:r>
                        <a:rPr lang="en-CN" sz="1800" dirty="0">
                          <a:latin typeface="Times New Roman" panose="02020603050405020304" pitchFamily="18" charset="0"/>
                          <a:cs typeface="Times New Roman" panose="02020603050405020304" pitchFamily="18" charset="0"/>
                        </a:rPr>
                        <a:t>Red</a:t>
                      </a:r>
                    </a:p>
                  </a:txBody>
                  <a:tcPr/>
                </a:tc>
                <a:tc>
                  <a:txBody>
                    <a:bodyPr/>
                    <a:lstStyle/>
                    <a:p>
                      <a:r>
                        <a:rPr lang="en-US" sz="1800" dirty="0">
                          <a:latin typeface="Times New Roman" panose="02020603050405020304" pitchFamily="18" charset="0"/>
                          <a:cs typeface="Times New Roman" panose="02020603050405020304" pitchFamily="18" charset="0"/>
                        </a:rPr>
                        <a:t>A</a:t>
                      </a:r>
                      <a:r>
                        <a:rPr lang="en-CN" sz="1800" dirty="0">
                          <a:latin typeface="Times New Roman" panose="02020603050405020304" pitchFamily="18" charset="0"/>
                          <a:cs typeface="Times New Roman" panose="02020603050405020304" pitchFamily="18" charset="0"/>
                        </a:rPr>
                        <a:t>ctual pitch</a:t>
                      </a:r>
                    </a:p>
                  </a:txBody>
                  <a:tcPr/>
                </a:tc>
                <a:extLst>
                  <a:ext uri="{0D108BD9-81ED-4DB2-BD59-A6C34878D82A}">
                    <a16:rowId xmlns:a16="http://schemas.microsoft.com/office/drawing/2014/main" val="2925734050"/>
                  </a:ext>
                </a:extLst>
              </a:tr>
              <a:tr h="533919">
                <a:tc>
                  <a:txBody>
                    <a:bodyPr/>
                    <a:lstStyle/>
                    <a:p>
                      <a:r>
                        <a:rPr lang="en-CN" sz="1800" dirty="0">
                          <a:latin typeface="Times New Roman" panose="02020603050405020304" pitchFamily="18" charset="0"/>
                          <a:cs typeface="Times New Roman" panose="02020603050405020304" pitchFamily="18" charset="0"/>
                        </a:rPr>
                        <a:t>Yellow</a:t>
                      </a:r>
                    </a:p>
                  </a:txBody>
                  <a:tcPr/>
                </a:tc>
                <a:tc>
                  <a:txBody>
                    <a:bodyPr/>
                    <a:lstStyle/>
                    <a:p>
                      <a:r>
                        <a:rPr lang="en-CN" sz="1800" dirty="0">
                          <a:latin typeface="Times New Roman" panose="02020603050405020304" pitchFamily="18" charset="0"/>
                          <a:cs typeface="Times New Roman" panose="02020603050405020304" pitchFamily="18" charset="0"/>
                        </a:rPr>
                        <a:t>Desired pitch</a:t>
                      </a:r>
                    </a:p>
                  </a:txBody>
                  <a:tcPr/>
                </a:tc>
                <a:extLst>
                  <a:ext uri="{0D108BD9-81ED-4DB2-BD59-A6C34878D82A}">
                    <a16:rowId xmlns:a16="http://schemas.microsoft.com/office/drawing/2014/main" val="4200924723"/>
                  </a:ext>
                </a:extLst>
              </a:tr>
              <a:tr h="533919">
                <a:tc>
                  <a:txBody>
                    <a:bodyPr/>
                    <a:lstStyle/>
                    <a:p>
                      <a:r>
                        <a:rPr lang="en-CN" sz="1800" dirty="0">
                          <a:latin typeface="Times New Roman" panose="02020603050405020304" pitchFamily="18" charset="0"/>
                          <a:cs typeface="Times New Roman" panose="02020603050405020304" pitchFamily="18" charset="0"/>
                        </a:rPr>
                        <a:t>Green</a:t>
                      </a:r>
                    </a:p>
                  </a:txBody>
                  <a:tcPr/>
                </a:tc>
                <a:tc>
                  <a:txBody>
                    <a:bodyPr/>
                    <a:lstStyle/>
                    <a:p>
                      <a:r>
                        <a:rPr lang="en-CN" sz="1800" dirty="0">
                          <a:latin typeface="Times New Roman" panose="02020603050405020304" pitchFamily="18" charset="0"/>
                          <a:cs typeface="Times New Roman" panose="02020603050405020304" pitchFamily="18" charset="0"/>
                        </a:rPr>
                        <a:t>Desired roll</a:t>
                      </a:r>
                    </a:p>
                  </a:txBody>
                  <a:tcPr/>
                </a:tc>
                <a:extLst>
                  <a:ext uri="{0D108BD9-81ED-4DB2-BD59-A6C34878D82A}">
                    <a16:rowId xmlns:a16="http://schemas.microsoft.com/office/drawing/2014/main" val="447720092"/>
                  </a:ext>
                </a:extLst>
              </a:tr>
              <a:tr h="533919">
                <a:tc>
                  <a:txBody>
                    <a:bodyPr/>
                    <a:lstStyle/>
                    <a:p>
                      <a:r>
                        <a:rPr lang="en-CN" sz="1800" dirty="0">
                          <a:latin typeface="Times New Roman" panose="02020603050405020304" pitchFamily="18" charset="0"/>
                          <a:cs typeface="Times New Roman" panose="02020603050405020304" pitchFamily="18" charset="0"/>
                        </a:rPr>
                        <a:t>Blue</a:t>
                      </a:r>
                    </a:p>
                  </a:txBody>
                  <a:tcPr/>
                </a:tc>
                <a:tc>
                  <a:txBody>
                    <a:bodyPr/>
                    <a:lstStyle/>
                    <a:p>
                      <a:r>
                        <a:rPr lang="en-CN" sz="1800" dirty="0">
                          <a:latin typeface="Times New Roman" panose="02020603050405020304" pitchFamily="18" charset="0"/>
                          <a:cs typeface="Times New Roman" panose="02020603050405020304" pitchFamily="18" charset="0"/>
                        </a:rPr>
                        <a:t>Actual roll</a:t>
                      </a:r>
                    </a:p>
                  </a:txBody>
                  <a:tcPr/>
                </a:tc>
                <a:extLst>
                  <a:ext uri="{0D108BD9-81ED-4DB2-BD59-A6C34878D82A}">
                    <a16:rowId xmlns:a16="http://schemas.microsoft.com/office/drawing/2014/main" val="949007162"/>
                  </a:ext>
                </a:extLst>
              </a:tr>
            </a:tbl>
          </a:graphicData>
        </a:graphic>
      </p:graphicFrame>
      <p:cxnSp>
        <p:nvCxnSpPr>
          <p:cNvPr id="25" name="Straight Connector 24">
            <a:extLst>
              <a:ext uri="{FF2B5EF4-FFF2-40B4-BE49-F238E27FC236}">
                <a16:creationId xmlns:a16="http://schemas.microsoft.com/office/drawing/2014/main" id="{8275A414-424B-E6B8-FC2D-26B2E0DDE3A8}"/>
              </a:ext>
            </a:extLst>
          </p:cNvPr>
          <p:cNvCxnSpPr>
            <a:cxnSpLocks/>
          </p:cNvCxnSpPr>
          <p:nvPr/>
        </p:nvCxnSpPr>
        <p:spPr>
          <a:xfrm>
            <a:off x="23531109" y="17894589"/>
            <a:ext cx="0" cy="27579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8898EA6-223B-C16C-8D1A-99B7EDB3F7CE}"/>
              </a:ext>
            </a:extLst>
          </p:cNvPr>
          <p:cNvCxnSpPr>
            <a:cxnSpLocks/>
          </p:cNvCxnSpPr>
          <p:nvPr/>
        </p:nvCxnSpPr>
        <p:spPr>
          <a:xfrm>
            <a:off x="27391005" y="17894589"/>
            <a:ext cx="0" cy="27579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F68CE421-86F6-920F-9BED-3E0718BB5DD2}"/>
              </a:ext>
            </a:extLst>
          </p:cNvPr>
          <p:cNvSpPr txBox="1"/>
          <p:nvPr/>
        </p:nvSpPr>
        <p:spPr>
          <a:xfrm>
            <a:off x="22407937" y="21287395"/>
            <a:ext cx="9389251" cy="1384995"/>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From 1575 ms to 1600 ms, in this 25 ms time period, the PID algorithm reacted quickly to approach their desired pitch value and desired roll value.</a:t>
            </a:r>
          </a:p>
        </p:txBody>
      </p:sp>
      <p:grpSp>
        <p:nvGrpSpPr>
          <p:cNvPr id="50" name="Group 49">
            <a:extLst>
              <a:ext uri="{FF2B5EF4-FFF2-40B4-BE49-F238E27FC236}">
                <a16:creationId xmlns:a16="http://schemas.microsoft.com/office/drawing/2014/main" id="{12A7976A-C915-A012-1932-0536B92F904A}"/>
              </a:ext>
            </a:extLst>
          </p:cNvPr>
          <p:cNvGrpSpPr/>
          <p:nvPr/>
        </p:nvGrpSpPr>
        <p:grpSpPr>
          <a:xfrm>
            <a:off x="22424892" y="24053239"/>
            <a:ext cx="4183023" cy="6938106"/>
            <a:chOff x="22424892" y="24053239"/>
            <a:chExt cx="4183023" cy="6938106"/>
          </a:xfrm>
        </p:grpSpPr>
        <p:sp>
          <p:nvSpPr>
            <p:cNvPr id="99" name="TextBox 98">
              <a:extLst>
                <a:ext uri="{FF2B5EF4-FFF2-40B4-BE49-F238E27FC236}">
                  <a16:creationId xmlns:a16="http://schemas.microsoft.com/office/drawing/2014/main" id="{B99208CF-443C-970C-2467-1141A0295240}"/>
                </a:ext>
              </a:extLst>
            </p:cNvPr>
            <p:cNvSpPr txBox="1"/>
            <p:nvPr/>
          </p:nvSpPr>
          <p:spPr>
            <a:xfrm>
              <a:off x="23313313" y="30622013"/>
              <a:ext cx="2900829"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18: Actual Work</a:t>
              </a:r>
            </a:p>
          </p:txBody>
        </p:sp>
        <p:pic>
          <p:nvPicPr>
            <p:cNvPr id="45" name="Picture 44" descr="A machine on a table&#10;&#10;Description automatically generated">
              <a:extLst>
                <a:ext uri="{FF2B5EF4-FFF2-40B4-BE49-F238E27FC236}">
                  <a16:creationId xmlns:a16="http://schemas.microsoft.com/office/drawing/2014/main" id="{D1E02917-2014-61CC-A31A-F650B85AF969}"/>
                </a:ext>
              </a:extLst>
            </p:cNvPr>
            <p:cNvPicPr>
              <a:picLocks noChangeAspect="1"/>
            </p:cNvPicPr>
            <p:nvPr/>
          </p:nvPicPr>
          <p:blipFill rotWithShape="1">
            <a:blip r:embed="rId7"/>
            <a:srcRect r="11835"/>
            <a:stretch/>
          </p:blipFill>
          <p:spPr>
            <a:xfrm>
              <a:off x="22424892" y="24053239"/>
              <a:ext cx="4183023" cy="6323560"/>
            </a:xfrm>
            <a:prstGeom prst="rect">
              <a:avLst/>
            </a:prstGeom>
            <a:ln>
              <a:solidFill>
                <a:schemeClr val="bg1"/>
              </a:solidFill>
            </a:ln>
          </p:spPr>
        </p:pic>
      </p:grpSp>
      <p:sp>
        <p:nvSpPr>
          <p:cNvPr id="73" name="TextBox 72">
            <a:extLst>
              <a:ext uri="{FF2B5EF4-FFF2-40B4-BE49-F238E27FC236}">
                <a16:creationId xmlns:a16="http://schemas.microsoft.com/office/drawing/2014/main" id="{5C381907-2C9A-FBD4-8437-FF090EBD98D2}"/>
              </a:ext>
            </a:extLst>
          </p:cNvPr>
          <p:cNvSpPr txBox="1"/>
          <p:nvPr/>
        </p:nvSpPr>
        <p:spPr>
          <a:xfrm>
            <a:off x="33455904" y="17196691"/>
            <a:ext cx="8591529" cy="1815882"/>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This experiment shows the bionic ankle’s adaptation to the ground. In the two diagram, the block acts like the ground. The foot will follow the ground and move according to the block.  </a:t>
            </a:r>
          </a:p>
        </p:txBody>
      </p:sp>
      <p:sp>
        <p:nvSpPr>
          <p:cNvPr id="74" name="TextBox 73">
            <a:extLst>
              <a:ext uri="{FF2B5EF4-FFF2-40B4-BE49-F238E27FC236}">
                <a16:creationId xmlns:a16="http://schemas.microsoft.com/office/drawing/2014/main" id="{BD360966-9FB8-C75B-A10D-667171634431}"/>
              </a:ext>
            </a:extLst>
          </p:cNvPr>
          <p:cNvSpPr txBox="1"/>
          <p:nvPr/>
        </p:nvSpPr>
        <p:spPr>
          <a:xfrm>
            <a:off x="38515515" y="19997606"/>
            <a:ext cx="2778400" cy="509177"/>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24: Before Time slice of adaptation to the ground video</a:t>
            </a:r>
          </a:p>
        </p:txBody>
      </p:sp>
      <p:sp>
        <p:nvSpPr>
          <p:cNvPr id="77" name="TextBox 76">
            <a:extLst>
              <a:ext uri="{FF2B5EF4-FFF2-40B4-BE49-F238E27FC236}">
                <a16:creationId xmlns:a16="http://schemas.microsoft.com/office/drawing/2014/main" id="{7F8B05AE-ACB5-39F6-818D-3E642193E7C5}"/>
              </a:ext>
            </a:extLst>
          </p:cNvPr>
          <p:cNvSpPr txBox="1"/>
          <p:nvPr/>
        </p:nvSpPr>
        <p:spPr>
          <a:xfrm>
            <a:off x="33897042" y="23595506"/>
            <a:ext cx="2978419" cy="508393"/>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25: After Time slice of adaptation to the ground video</a:t>
            </a:r>
          </a:p>
        </p:txBody>
      </p:sp>
      <p:pic>
        <p:nvPicPr>
          <p:cNvPr id="86" name="Picture 85" descr="A graph of a graph&#10;&#10;Description automatically generated with medium confidence">
            <a:extLst>
              <a:ext uri="{FF2B5EF4-FFF2-40B4-BE49-F238E27FC236}">
                <a16:creationId xmlns:a16="http://schemas.microsoft.com/office/drawing/2014/main" id="{B5E7824F-7707-04CE-4847-69D4C0DEFA4F}"/>
              </a:ext>
            </a:extLst>
          </p:cNvPr>
          <p:cNvPicPr>
            <a:picLocks noChangeAspect="1"/>
          </p:cNvPicPr>
          <p:nvPr/>
        </p:nvPicPr>
        <p:blipFill>
          <a:blip r:embed="rId6"/>
          <a:stretch>
            <a:fillRect/>
          </a:stretch>
        </p:blipFill>
        <p:spPr>
          <a:xfrm>
            <a:off x="33455904" y="27013677"/>
            <a:ext cx="6187525" cy="2790287"/>
          </a:xfrm>
          <a:prstGeom prst="rect">
            <a:avLst/>
          </a:prstGeom>
          <a:ln>
            <a:solidFill>
              <a:schemeClr val="bg1"/>
            </a:solidFill>
          </a:ln>
        </p:spPr>
      </p:pic>
      <p:sp>
        <p:nvSpPr>
          <p:cNvPr id="91" name="TextBox 90">
            <a:extLst>
              <a:ext uri="{FF2B5EF4-FFF2-40B4-BE49-F238E27FC236}">
                <a16:creationId xmlns:a16="http://schemas.microsoft.com/office/drawing/2014/main" id="{210C392F-B693-A1FA-BA10-B0C65A4C3FA4}"/>
              </a:ext>
            </a:extLst>
          </p:cNvPr>
          <p:cNvSpPr txBox="1"/>
          <p:nvPr/>
        </p:nvSpPr>
        <p:spPr>
          <a:xfrm>
            <a:off x="36549667" y="29893116"/>
            <a:ext cx="2180965" cy="369332"/>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Time interval(ms)</a:t>
            </a:r>
          </a:p>
        </p:txBody>
      </p:sp>
      <p:sp>
        <p:nvSpPr>
          <p:cNvPr id="95" name="TextBox 94">
            <a:extLst>
              <a:ext uri="{FF2B5EF4-FFF2-40B4-BE49-F238E27FC236}">
                <a16:creationId xmlns:a16="http://schemas.microsoft.com/office/drawing/2014/main" id="{6EFF7C99-8D5E-596F-851D-9D503CDB9227}"/>
              </a:ext>
            </a:extLst>
          </p:cNvPr>
          <p:cNvSpPr txBox="1"/>
          <p:nvPr/>
        </p:nvSpPr>
        <p:spPr>
          <a:xfrm rot="16200000">
            <a:off x="32874316" y="28270320"/>
            <a:ext cx="810727" cy="276999"/>
          </a:xfrm>
          <a:prstGeom prst="rect">
            <a:avLst/>
          </a:prstGeom>
          <a:noFill/>
        </p:spPr>
        <p:txBody>
          <a:bodyPr wrap="square" rtlCol="0">
            <a:spAutoFit/>
          </a:bodyPr>
          <a:lstStyle/>
          <a:p>
            <a:r>
              <a:rPr lang="en-CN" sz="1200" dirty="0">
                <a:solidFill>
                  <a:schemeClr val="bg1"/>
                </a:solidFill>
                <a:latin typeface="Times New Roman" panose="02020603050405020304" pitchFamily="18" charset="0"/>
                <a:cs typeface="Times New Roman" panose="02020603050405020304" pitchFamily="18" charset="0"/>
              </a:rPr>
              <a:t>Angle(°)</a:t>
            </a:r>
          </a:p>
        </p:txBody>
      </p:sp>
      <p:sp>
        <p:nvSpPr>
          <p:cNvPr id="98" name="TextBox 97">
            <a:extLst>
              <a:ext uri="{FF2B5EF4-FFF2-40B4-BE49-F238E27FC236}">
                <a16:creationId xmlns:a16="http://schemas.microsoft.com/office/drawing/2014/main" id="{4091A56F-FF12-1E42-D998-9032240A2EFF}"/>
              </a:ext>
            </a:extLst>
          </p:cNvPr>
          <p:cNvSpPr txBox="1"/>
          <p:nvPr/>
        </p:nvSpPr>
        <p:spPr>
          <a:xfrm>
            <a:off x="35463569" y="26610808"/>
            <a:ext cx="4871066" cy="369332"/>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Graph 1 clone: PID control outcome over time</a:t>
            </a:r>
          </a:p>
        </p:txBody>
      </p:sp>
      <p:graphicFrame>
        <p:nvGraphicFramePr>
          <p:cNvPr id="106" name="Table 22">
            <a:extLst>
              <a:ext uri="{FF2B5EF4-FFF2-40B4-BE49-F238E27FC236}">
                <a16:creationId xmlns:a16="http://schemas.microsoft.com/office/drawing/2014/main" id="{D48E8D9E-AB73-DBA3-A281-6EF33E745F8E}"/>
              </a:ext>
            </a:extLst>
          </p:cNvPr>
          <p:cNvGraphicFramePr>
            <a:graphicFrameLocks noGrp="1"/>
          </p:cNvGraphicFramePr>
          <p:nvPr>
            <p:extLst>
              <p:ext uri="{D42A27DB-BD31-4B8C-83A1-F6EECF244321}">
                <p14:modId xmlns:p14="http://schemas.microsoft.com/office/powerpoint/2010/main" val="2631379192"/>
              </p:ext>
            </p:extLst>
          </p:nvPr>
        </p:nvGraphicFramePr>
        <p:xfrm>
          <a:off x="39945113" y="27013677"/>
          <a:ext cx="2429949" cy="2784207"/>
        </p:xfrm>
        <a:graphic>
          <a:graphicData uri="http://schemas.openxmlformats.org/drawingml/2006/table">
            <a:tbl>
              <a:tblPr firstRow="1" bandRow="1">
                <a:tableStyleId>{5C22544A-7EE6-4342-B048-85BDC9FD1C3A}</a:tableStyleId>
              </a:tblPr>
              <a:tblGrid>
                <a:gridCol w="938894">
                  <a:extLst>
                    <a:ext uri="{9D8B030D-6E8A-4147-A177-3AD203B41FA5}">
                      <a16:colId xmlns:a16="http://schemas.microsoft.com/office/drawing/2014/main" val="1150180226"/>
                    </a:ext>
                  </a:extLst>
                </a:gridCol>
                <a:gridCol w="1491055">
                  <a:extLst>
                    <a:ext uri="{9D8B030D-6E8A-4147-A177-3AD203B41FA5}">
                      <a16:colId xmlns:a16="http://schemas.microsoft.com/office/drawing/2014/main" val="176319921"/>
                    </a:ext>
                  </a:extLst>
                </a:gridCol>
              </a:tblGrid>
              <a:tr h="648531">
                <a:tc>
                  <a:txBody>
                    <a:bodyPr/>
                    <a:lstStyle/>
                    <a:p>
                      <a:r>
                        <a:rPr lang="en-CN" sz="1800" dirty="0">
                          <a:latin typeface="Times New Roman" panose="02020603050405020304" pitchFamily="18" charset="0"/>
                          <a:cs typeface="Times New Roman" panose="02020603050405020304" pitchFamily="18" charset="0"/>
                        </a:rPr>
                        <a:t>Color</a:t>
                      </a:r>
                    </a:p>
                  </a:txBody>
                  <a:tcPr/>
                </a:tc>
                <a:tc>
                  <a:txBody>
                    <a:bodyPr/>
                    <a:lstStyle/>
                    <a:p>
                      <a:r>
                        <a:rPr lang="en-CN" sz="1800" dirty="0">
                          <a:latin typeface="Times New Roman" panose="02020603050405020304" pitchFamily="18" charset="0"/>
                          <a:cs typeface="Times New Roman" panose="02020603050405020304" pitchFamily="18" charset="0"/>
                        </a:rPr>
                        <a:t>Meaning</a:t>
                      </a:r>
                    </a:p>
                  </a:txBody>
                  <a:tcPr/>
                </a:tc>
                <a:extLst>
                  <a:ext uri="{0D108BD9-81ED-4DB2-BD59-A6C34878D82A}">
                    <a16:rowId xmlns:a16="http://schemas.microsoft.com/office/drawing/2014/main" val="3165207020"/>
                  </a:ext>
                </a:extLst>
              </a:tr>
              <a:tr h="533919">
                <a:tc>
                  <a:txBody>
                    <a:bodyPr/>
                    <a:lstStyle/>
                    <a:p>
                      <a:r>
                        <a:rPr lang="en-CN" sz="1800" dirty="0">
                          <a:latin typeface="Times New Roman" panose="02020603050405020304" pitchFamily="18" charset="0"/>
                          <a:cs typeface="Times New Roman" panose="02020603050405020304" pitchFamily="18" charset="0"/>
                        </a:rPr>
                        <a:t>Red</a:t>
                      </a:r>
                    </a:p>
                  </a:txBody>
                  <a:tcPr/>
                </a:tc>
                <a:tc>
                  <a:txBody>
                    <a:bodyPr/>
                    <a:lstStyle/>
                    <a:p>
                      <a:r>
                        <a:rPr lang="en-US" sz="1800" dirty="0">
                          <a:latin typeface="Times New Roman" panose="02020603050405020304" pitchFamily="18" charset="0"/>
                          <a:cs typeface="Times New Roman" panose="02020603050405020304" pitchFamily="18" charset="0"/>
                        </a:rPr>
                        <a:t>A</a:t>
                      </a:r>
                      <a:r>
                        <a:rPr lang="en-CN" sz="1800" dirty="0">
                          <a:latin typeface="Times New Roman" panose="02020603050405020304" pitchFamily="18" charset="0"/>
                          <a:cs typeface="Times New Roman" panose="02020603050405020304" pitchFamily="18" charset="0"/>
                        </a:rPr>
                        <a:t>ctual pitch</a:t>
                      </a:r>
                    </a:p>
                  </a:txBody>
                  <a:tcPr/>
                </a:tc>
                <a:extLst>
                  <a:ext uri="{0D108BD9-81ED-4DB2-BD59-A6C34878D82A}">
                    <a16:rowId xmlns:a16="http://schemas.microsoft.com/office/drawing/2014/main" val="2925734050"/>
                  </a:ext>
                </a:extLst>
              </a:tr>
              <a:tr h="533919">
                <a:tc>
                  <a:txBody>
                    <a:bodyPr/>
                    <a:lstStyle/>
                    <a:p>
                      <a:r>
                        <a:rPr lang="en-CN" sz="1800" dirty="0">
                          <a:latin typeface="Times New Roman" panose="02020603050405020304" pitchFamily="18" charset="0"/>
                          <a:cs typeface="Times New Roman" panose="02020603050405020304" pitchFamily="18" charset="0"/>
                        </a:rPr>
                        <a:t>Yellow</a:t>
                      </a:r>
                    </a:p>
                  </a:txBody>
                  <a:tcPr/>
                </a:tc>
                <a:tc>
                  <a:txBody>
                    <a:bodyPr/>
                    <a:lstStyle/>
                    <a:p>
                      <a:r>
                        <a:rPr lang="en-CN" sz="1800" dirty="0">
                          <a:latin typeface="Times New Roman" panose="02020603050405020304" pitchFamily="18" charset="0"/>
                          <a:cs typeface="Times New Roman" panose="02020603050405020304" pitchFamily="18" charset="0"/>
                        </a:rPr>
                        <a:t>Desired pitch</a:t>
                      </a:r>
                    </a:p>
                  </a:txBody>
                  <a:tcPr/>
                </a:tc>
                <a:extLst>
                  <a:ext uri="{0D108BD9-81ED-4DB2-BD59-A6C34878D82A}">
                    <a16:rowId xmlns:a16="http://schemas.microsoft.com/office/drawing/2014/main" val="4200924723"/>
                  </a:ext>
                </a:extLst>
              </a:tr>
              <a:tr h="533919">
                <a:tc>
                  <a:txBody>
                    <a:bodyPr/>
                    <a:lstStyle/>
                    <a:p>
                      <a:r>
                        <a:rPr lang="en-CN" sz="1800" dirty="0">
                          <a:latin typeface="Times New Roman" panose="02020603050405020304" pitchFamily="18" charset="0"/>
                          <a:cs typeface="Times New Roman" panose="02020603050405020304" pitchFamily="18" charset="0"/>
                        </a:rPr>
                        <a:t>Green</a:t>
                      </a:r>
                    </a:p>
                  </a:txBody>
                  <a:tcPr/>
                </a:tc>
                <a:tc>
                  <a:txBody>
                    <a:bodyPr/>
                    <a:lstStyle/>
                    <a:p>
                      <a:r>
                        <a:rPr lang="en-CN" sz="1800" dirty="0">
                          <a:latin typeface="Times New Roman" panose="02020603050405020304" pitchFamily="18" charset="0"/>
                          <a:cs typeface="Times New Roman" panose="02020603050405020304" pitchFamily="18" charset="0"/>
                        </a:rPr>
                        <a:t>Desired roll</a:t>
                      </a:r>
                    </a:p>
                  </a:txBody>
                  <a:tcPr/>
                </a:tc>
                <a:extLst>
                  <a:ext uri="{0D108BD9-81ED-4DB2-BD59-A6C34878D82A}">
                    <a16:rowId xmlns:a16="http://schemas.microsoft.com/office/drawing/2014/main" val="447720092"/>
                  </a:ext>
                </a:extLst>
              </a:tr>
              <a:tr h="533919">
                <a:tc>
                  <a:txBody>
                    <a:bodyPr/>
                    <a:lstStyle/>
                    <a:p>
                      <a:r>
                        <a:rPr lang="en-CN" sz="1800" dirty="0">
                          <a:latin typeface="Times New Roman" panose="02020603050405020304" pitchFamily="18" charset="0"/>
                          <a:cs typeface="Times New Roman" panose="02020603050405020304" pitchFamily="18" charset="0"/>
                        </a:rPr>
                        <a:t>Blue</a:t>
                      </a:r>
                    </a:p>
                  </a:txBody>
                  <a:tcPr/>
                </a:tc>
                <a:tc>
                  <a:txBody>
                    <a:bodyPr/>
                    <a:lstStyle/>
                    <a:p>
                      <a:r>
                        <a:rPr lang="en-CN" sz="1800" dirty="0">
                          <a:latin typeface="Times New Roman" panose="02020603050405020304" pitchFamily="18" charset="0"/>
                          <a:cs typeface="Times New Roman" panose="02020603050405020304" pitchFamily="18" charset="0"/>
                        </a:rPr>
                        <a:t>Actual roll</a:t>
                      </a:r>
                    </a:p>
                  </a:txBody>
                  <a:tcPr/>
                </a:tc>
                <a:extLst>
                  <a:ext uri="{0D108BD9-81ED-4DB2-BD59-A6C34878D82A}">
                    <a16:rowId xmlns:a16="http://schemas.microsoft.com/office/drawing/2014/main" val="949007162"/>
                  </a:ext>
                </a:extLst>
              </a:tr>
            </a:tbl>
          </a:graphicData>
        </a:graphic>
      </p:graphicFrame>
      <p:sp>
        <p:nvSpPr>
          <p:cNvPr id="107" name="TextBox 106">
            <a:extLst>
              <a:ext uri="{FF2B5EF4-FFF2-40B4-BE49-F238E27FC236}">
                <a16:creationId xmlns:a16="http://schemas.microsoft.com/office/drawing/2014/main" id="{ABF8F8C2-8BBD-1B45-D740-A3DFD07B5910}"/>
              </a:ext>
            </a:extLst>
          </p:cNvPr>
          <p:cNvSpPr txBox="1"/>
          <p:nvPr/>
        </p:nvSpPr>
        <p:spPr>
          <a:xfrm>
            <a:off x="33279679" y="25172055"/>
            <a:ext cx="9405464" cy="1384995"/>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The below graph is the values of the experinment. As the block moves, the desired pitch and roll will change, therefore the foot’s pitch and roll will move according to it. </a:t>
            </a:r>
          </a:p>
        </p:txBody>
      </p:sp>
      <p:cxnSp>
        <p:nvCxnSpPr>
          <p:cNvPr id="108" name="Straight Connector 107">
            <a:extLst>
              <a:ext uri="{FF2B5EF4-FFF2-40B4-BE49-F238E27FC236}">
                <a16:creationId xmlns:a16="http://schemas.microsoft.com/office/drawing/2014/main" id="{AD9FD5EE-BAB8-BE97-7EA9-FDE105113E72}"/>
              </a:ext>
            </a:extLst>
          </p:cNvPr>
          <p:cNvCxnSpPr>
            <a:cxnSpLocks/>
          </p:cNvCxnSpPr>
          <p:nvPr/>
        </p:nvCxnSpPr>
        <p:spPr>
          <a:xfrm>
            <a:off x="34522426" y="26986325"/>
            <a:ext cx="0" cy="27579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F10941F6-DD7A-412F-9B4B-4BE906A22B67}"/>
              </a:ext>
            </a:extLst>
          </p:cNvPr>
          <p:cNvCxnSpPr>
            <a:cxnSpLocks/>
          </p:cNvCxnSpPr>
          <p:nvPr/>
        </p:nvCxnSpPr>
        <p:spPr>
          <a:xfrm>
            <a:off x="38047803" y="27013677"/>
            <a:ext cx="0" cy="27579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6" name="Picture 115" descr="A machine on a table&#10;&#10;Description automatically generated">
            <a:extLst>
              <a:ext uri="{FF2B5EF4-FFF2-40B4-BE49-F238E27FC236}">
                <a16:creationId xmlns:a16="http://schemas.microsoft.com/office/drawing/2014/main" id="{618260FE-B270-4E2E-8442-087D200CB5E9}"/>
              </a:ext>
            </a:extLst>
          </p:cNvPr>
          <p:cNvPicPr>
            <a:picLocks noChangeAspect="1"/>
          </p:cNvPicPr>
          <p:nvPr/>
        </p:nvPicPr>
        <p:blipFill>
          <a:blip r:embed="rId8"/>
          <a:stretch>
            <a:fillRect/>
          </a:stretch>
        </p:blipFill>
        <p:spPr>
          <a:xfrm>
            <a:off x="13241430" y="8620567"/>
            <a:ext cx="1407907" cy="1876477"/>
          </a:xfrm>
          <a:prstGeom prst="rect">
            <a:avLst/>
          </a:prstGeom>
          <a:ln>
            <a:solidFill>
              <a:schemeClr val="bg1"/>
            </a:solidFill>
          </a:ln>
        </p:spPr>
      </p:pic>
      <p:pic>
        <p:nvPicPr>
          <p:cNvPr id="118" name="Picture 117" descr="A machine with wires and wires&#10;&#10;Description automatically generated">
            <a:extLst>
              <a:ext uri="{FF2B5EF4-FFF2-40B4-BE49-F238E27FC236}">
                <a16:creationId xmlns:a16="http://schemas.microsoft.com/office/drawing/2014/main" id="{316206C3-6811-56F0-361B-CDA8F1BDA302}"/>
              </a:ext>
            </a:extLst>
          </p:cNvPr>
          <p:cNvPicPr>
            <a:picLocks noChangeAspect="1"/>
          </p:cNvPicPr>
          <p:nvPr/>
        </p:nvPicPr>
        <p:blipFill>
          <a:blip r:embed="rId9"/>
          <a:stretch>
            <a:fillRect/>
          </a:stretch>
        </p:blipFill>
        <p:spPr>
          <a:xfrm>
            <a:off x="17597794" y="8549255"/>
            <a:ext cx="1407908" cy="1876478"/>
          </a:xfrm>
          <a:prstGeom prst="rect">
            <a:avLst/>
          </a:prstGeom>
          <a:ln>
            <a:solidFill>
              <a:schemeClr val="bg1"/>
            </a:solidFill>
          </a:ln>
        </p:spPr>
      </p:pic>
      <p:pic>
        <p:nvPicPr>
          <p:cNvPr id="120" name="Picture 119" descr="A close up of a machine&#10;&#10;Description automatically generated">
            <a:extLst>
              <a:ext uri="{FF2B5EF4-FFF2-40B4-BE49-F238E27FC236}">
                <a16:creationId xmlns:a16="http://schemas.microsoft.com/office/drawing/2014/main" id="{514FE92C-8F84-34A5-87BA-642B5ABC08D6}"/>
              </a:ext>
            </a:extLst>
          </p:cNvPr>
          <p:cNvPicPr>
            <a:picLocks noChangeAspect="1"/>
          </p:cNvPicPr>
          <p:nvPr/>
        </p:nvPicPr>
        <p:blipFill>
          <a:blip r:embed="rId10"/>
          <a:stretch>
            <a:fillRect/>
          </a:stretch>
        </p:blipFill>
        <p:spPr>
          <a:xfrm>
            <a:off x="17597794" y="11931612"/>
            <a:ext cx="1443167" cy="1923472"/>
          </a:xfrm>
          <a:prstGeom prst="rect">
            <a:avLst/>
          </a:prstGeom>
          <a:ln>
            <a:solidFill>
              <a:schemeClr val="bg1"/>
            </a:solidFill>
          </a:ln>
        </p:spPr>
      </p:pic>
      <p:pic>
        <p:nvPicPr>
          <p:cNvPr id="122" name="Picture 121" descr="Close-up of a red and purple device&#10;&#10;Description automatically generated">
            <a:extLst>
              <a:ext uri="{FF2B5EF4-FFF2-40B4-BE49-F238E27FC236}">
                <a16:creationId xmlns:a16="http://schemas.microsoft.com/office/drawing/2014/main" id="{B7F131F4-28A8-95C7-D23F-A21BC644FEBB}"/>
              </a:ext>
            </a:extLst>
          </p:cNvPr>
          <p:cNvPicPr>
            <a:picLocks noChangeAspect="1"/>
          </p:cNvPicPr>
          <p:nvPr/>
        </p:nvPicPr>
        <p:blipFill>
          <a:blip r:embed="rId11"/>
          <a:stretch>
            <a:fillRect/>
          </a:stretch>
        </p:blipFill>
        <p:spPr>
          <a:xfrm>
            <a:off x="13429170" y="11978607"/>
            <a:ext cx="1407908" cy="1876477"/>
          </a:xfrm>
          <a:prstGeom prst="rect">
            <a:avLst/>
          </a:prstGeom>
          <a:ln>
            <a:solidFill>
              <a:schemeClr val="bg1"/>
            </a:solidFill>
          </a:ln>
        </p:spPr>
      </p:pic>
      <p:pic>
        <p:nvPicPr>
          <p:cNvPr id="124" name="Picture 123" descr="A close-up of a machine&#10;&#10;Description automatically generated">
            <a:extLst>
              <a:ext uri="{FF2B5EF4-FFF2-40B4-BE49-F238E27FC236}">
                <a16:creationId xmlns:a16="http://schemas.microsoft.com/office/drawing/2014/main" id="{CD0577DF-0C88-D979-3B25-F16B8C829D9D}"/>
              </a:ext>
            </a:extLst>
          </p:cNvPr>
          <p:cNvPicPr>
            <a:picLocks noChangeAspect="1"/>
          </p:cNvPicPr>
          <p:nvPr/>
        </p:nvPicPr>
        <p:blipFill rotWithShape="1">
          <a:blip r:embed="rId12"/>
          <a:srcRect l="3727" r="35009"/>
          <a:stretch/>
        </p:blipFill>
        <p:spPr>
          <a:xfrm>
            <a:off x="13319640" y="15379866"/>
            <a:ext cx="1567591" cy="1918333"/>
          </a:xfrm>
          <a:prstGeom prst="rect">
            <a:avLst/>
          </a:prstGeom>
          <a:ln>
            <a:solidFill>
              <a:schemeClr val="bg1"/>
            </a:solidFill>
          </a:ln>
        </p:spPr>
      </p:pic>
      <p:pic>
        <p:nvPicPr>
          <p:cNvPr id="126" name="Picture 125" descr="A close-up of a machine&#10;&#10;Description automatically generated">
            <a:extLst>
              <a:ext uri="{FF2B5EF4-FFF2-40B4-BE49-F238E27FC236}">
                <a16:creationId xmlns:a16="http://schemas.microsoft.com/office/drawing/2014/main" id="{2D8FDE87-DC7E-768C-76E0-761F8114C51D}"/>
              </a:ext>
            </a:extLst>
          </p:cNvPr>
          <p:cNvPicPr>
            <a:picLocks noChangeAspect="1"/>
          </p:cNvPicPr>
          <p:nvPr/>
        </p:nvPicPr>
        <p:blipFill>
          <a:blip r:embed="rId13"/>
          <a:stretch>
            <a:fillRect/>
          </a:stretch>
        </p:blipFill>
        <p:spPr>
          <a:xfrm>
            <a:off x="17597794" y="15319147"/>
            <a:ext cx="1443166" cy="1923470"/>
          </a:xfrm>
          <a:prstGeom prst="rect">
            <a:avLst/>
          </a:prstGeom>
          <a:ln>
            <a:solidFill>
              <a:schemeClr val="bg1"/>
            </a:solidFill>
          </a:ln>
        </p:spPr>
      </p:pic>
      <p:pic>
        <p:nvPicPr>
          <p:cNvPr id="128" name="Picture 127" descr="A close-up of a machine&#10;&#10;Description automatically generated">
            <a:extLst>
              <a:ext uri="{FF2B5EF4-FFF2-40B4-BE49-F238E27FC236}">
                <a16:creationId xmlns:a16="http://schemas.microsoft.com/office/drawing/2014/main" id="{6944592A-4F16-CD3E-E4C7-A5554345131D}"/>
              </a:ext>
            </a:extLst>
          </p:cNvPr>
          <p:cNvPicPr>
            <a:picLocks noChangeAspect="1"/>
          </p:cNvPicPr>
          <p:nvPr/>
        </p:nvPicPr>
        <p:blipFill rotWithShape="1">
          <a:blip r:embed="rId14"/>
          <a:srcRect l="13559" r="25695"/>
          <a:stretch/>
        </p:blipFill>
        <p:spPr>
          <a:xfrm>
            <a:off x="13319640" y="18810985"/>
            <a:ext cx="1567591" cy="1934660"/>
          </a:xfrm>
          <a:prstGeom prst="rect">
            <a:avLst/>
          </a:prstGeom>
          <a:ln>
            <a:solidFill>
              <a:schemeClr val="bg1"/>
            </a:solidFill>
          </a:ln>
        </p:spPr>
      </p:pic>
      <p:pic>
        <p:nvPicPr>
          <p:cNvPr id="130" name="Picture 129" descr="A close-up of a mechanical device&#10;&#10;Description automatically generated">
            <a:extLst>
              <a:ext uri="{FF2B5EF4-FFF2-40B4-BE49-F238E27FC236}">
                <a16:creationId xmlns:a16="http://schemas.microsoft.com/office/drawing/2014/main" id="{6EB5A2F6-4893-763B-34AF-66F695C573B5}"/>
              </a:ext>
            </a:extLst>
          </p:cNvPr>
          <p:cNvPicPr>
            <a:picLocks noChangeAspect="1"/>
          </p:cNvPicPr>
          <p:nvPr/>
        </p:nvPicPr>
        <p:blipFill rotWithShape="1">
          <a:blip r:embed="rId15"/>
          <a:srcRect l="19273" r="23456" b="1999"/>
          <a:stretch/>
        </p:blipFill>
        <p:spPr>
          <a:xfrm>
            <a:off x="13357912" y="22294541"/>
            <a:ext cx="1491045" cy="1912856"/>
          </a:xfrm>
          <a:prstGeom prst="rect">
            <a:avLst/>
          </a:prstGeom>
          <a:ln>
            <a:solidFill>
              <a:schemeClr val="bg1"/>
            </a:solidFill>
          </a:ln>
        </p:spPr>
      </p:pic>
      <p:pic>
        <p:nvPicPr>
          <p:cNvPr id="133" name="Picture 132" descr="A close-up of a device&#10;&#10;Description automatically generated">
            <a:extLst>
              <a:ext uri="{FF2B5EF4-FFF2-40B4-BE49-F238E27FC236}">
                <a16:creationId xmlns:a16="http://schemas.microsoft.com/office/drawing/2014/main" id="{766B15FD-F3C5-58D7-C3A0-613A3EB699E6}"/>
              </a:ext>
            </a:extLst>
          </p:cNvPr>
          <p:cNvPicPr>
            <a:picLocks noChangeAspect="1"/>
          </p:cNvPicPr>
          <p:nvPr/>
        </p:nvPicPr>
        <p:blipFill>
          <a:blip r:embed="rId16"/>
          <a:stretch>
            <a:fillRect/>
          </a:stretch>
        </p:blipFill>
        <p:spPr>
          <a:xfrm>
            <a:off x="13357912" y="25698292"/>
            <a:ext cx="1491045" cy="1987283"/>
          </a:xfrm>
          <a:prstGeom prst="rect">
            <a:avLst/>
          </a:prstGeom>
          <a:ln>
            <a:solidFill>
              <a:schemeClr val="bg1"/>
            </a:solidFill>
          </a:ln>
        </p:spPr>
      </p:pic>
      <p:pic>
        <p:nvPicPr>
          <p:cNvPr id="135" name="Picture 134" descr="A rectangular object with a purple square on it&#10;&#10;Description automatically generated">
            <a:extLst>
              <a:ext uri="{FF2B5EF4-FFF2-40B4-BE49-F238E27FC236}">
                <a16:creationId xmlns:a16="http://schemas.microsoft.com/office/drawing/2014/main" id="{A99D1EC1-E6A9-B5FB-4BFE-FB4DCE8DB1B2}"/>
              </a:ext>
            </a:extLst>
          </p:cNvPr>
          <p:cNvPicPr>
            <a:picLocks noChangeAspect="1"/>
          </p:cNvPicPr>
          <p:nvPr/>
        </p:nvPicPr>
        <p:blipFill>
          <a:blip r:embed="rId17"/>
          <a:stretch>
            <a:fillRect/>
          </a:stretch>
        </p:blipFill>
        <p:spPr>
          <a:xfrm>
            <a:off x="17681228" y="25604748"/>
            <a:ext cx="1491045" cy="1987283"/>
          </a:xfrm>
          <a:prstGeom prst="rect">
            <a:avLst/>
          </a:prstGeom>
          <a:ln>
            <a:solidFill>
              <a:schemeClr val="bg1"/>
            </a:solidFill>
          </a:ln>
        </p:spPr>
      </p:pic>
      <p:pic>
        <p:nvPicPr>
          <p:cNvPr id="136" name="Picture 135" descr="A drawing of a mechanical device&#10;&#10;Description automatically generated">
            <a:extLst>
              <a:ext uri="{FF2B5EF4-FFF2-40B4-BE49-F238E27FC236}">
                <a16:creationId xmlns:a16="http://schemas.microsoft.com/office/drawing/2014/main" id="{E4C56919-4690-5126-9AB8-8A4F1224B32B}"/>
              </a:ext>
            </a:extLst>
          </p:cNvPr>
          <p:cNvPicPr>
            <a:picLocks noChangeAspect="1"/>
          </p:cNvPicPr>
          <p:nvPr/>
        </p:nvPicPr>
        <p:blipFill rotWithShape="1">
          <a:blip r:embed="rId18" cstate="print">
            <a:extLst>
              <a:ext uri="{28A0092B-C50C-407E-A947-70E740481C1C}">
                <a14:useLocalDpi xmlns:a14="http://schemas.microsoft.com/office/drawing/2010/main" val="0"/>
              </a:ext>
            </a:extLst>
          </a:blip>
          <a:srcRect l="12859" r="14195"/>
          <a:stretch/>
        </p:blipFill>
        <p:spPr>
          <a:xfrm>
            <a:off x="17597252" y="18761438"/>
            <a:ext cx="1587585" cy="1934660"/>
          </a:xfrm>
          <a:prstGeom prst="rect">
            <a:avLst/>
          </a:prstGeom>
          <a:ln>
            <a:solidFill>
              <a:schemeClr val="bg1"/>
            </a:solidFill>
          </a:ln>
        </p:spPr>
      </p:pic>
      <p:pic>
        <p:nvPicPr>
          <p:cNvPr id="138" name="Picture 137" descr="A drawing of a metal object&#10;&#10;Description automatically generated">
            <a:extLst>
              <a:ext uri="{FF2B5EF4-FFF2-40B4-BE49-F238E27FC236}">
                <a16:creationId xmlns:a16="http://schemas.microsoft.com/office/drawing/2014/main" id="{04F05952-E51B-50F2-F232-15E64C65B7A6}"/>
              </a:ext>
            </a:extLst>
          </p:cNvPr>
          <p:cNvPicPr>
            <a:picLocks noChangeAspect="1"/>
          </p:cNvPicPr>
          <p:nvPr/>
        </p:nvPicPr>
        <p:blipFill>
          <a:blip r:embed="rId19"/>
          <a:stretch>
            <a:fillRect/>
          </a:stretch>
        </p:blipFill>
        <p:spPr>
          <a:xfrm>
            <a:off x="17683718" y="22258431"/>
            <a:ext cx="1587585" cy="1912856"/>
          </a:xfrm>
          <a:prstGeom prst="rect">
            <a:avLst/>
          </a:prstGeom>
          <a:ln>
            <a:solidFill>
              <a:schemeClr val="bg1"/>
            </a:solidFill>
          </a:ln>
        </p:spPr>
      </p:pic>
      <p:sp>
        <p:nvSpPr>
          <p:cNvPr id="139" name="TextBox 138">
            <a:extLst>
              <a:ext uri="{FF2B5EF4-FFF2-40B4-BE49-F238E27FC236}">
                <a16:creationId xmlns:a16="http://schemas.microsoft.com/office/drawing/2014/main" id="{0FC5F098-4775-969D-C749-7EF3ABE252A3}"/>
              </a:ext>
            </a:extLst>
          </p:cNvPr>
          <p:cNvSpPr txBox="1"/>
          <p:nvPr/>
        </p:nvSpPr>
        <p:spPr>
          <a:xfrm>
            <a:off x="14848957" y="8902685"/>
            <a:ext cx="2667954" cy="1200329"/>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5 (left): Bionic Ankle [side view]</a:t>
            </a:r>
          </a:p>
          <a:p>
            <a:r>
              <a:rPr lang="en-CN" dirty="0">
                <a:solidFill>
                  <a:schemeClr val="bg1"/>
                </a:solidFill>
                <a:latin typeface="Times New Roman" panose="02020603050405020304" pitchFamily="18" charset="0"/>
                <a:cs typeface="Times New Roman" panose="02020603050405020304" pitchFamily="18" charset="0"/>
              </a:rPr>
              <a:t>Figure 6 (right): Bionic A</a:t>
            </a:r>
            <a:r>
              <a:rPr lang="en-US" dirty="0">
                <a:solidFill>
                  <a:schemeClr val="bg1"/>
                </a:solidFill>
                <a:latin typeface="Times New Roman" panose="02020603050405020304" pitchFamily="18" charset="0"/>
                <a:cs typeface="Times New Roman" panose="02020603050405020304" pitchFamily="18" charset="0"/>
              </a:rPr>
              <a:t>n</a:t>
            </a:r>
            <a:r>
              <a:rPr lang="en-CN" dirty="0">
                <a:solidFill>
                  <a:schemeClr val="bg1"/>
                </a:solidFill>
                <a:latin typeface="Times New Roman" panose="02020603050405020304" pitchFamily="18" charset="0"/>
                <a:cs typeface="Times New Roman" panose="02020603050405020304" pitchFamily="18" charset="0"/>
              </a:rPr>
              <a:t>kle [back view]</a:t>
            </a:r>
          </a:p>
        </p:txBody>
      </p:sp>
      <p:sp>
        <p:nvSpPr>
          <p:cNvPr id="140" name="TextBox 139">
            <a:extLst>
              <a:ext uri="{FF2B5EF4-FFF2-40B4-BE49-F238E27FC236}">
                <a16:creationId xmlns:a16="http://schemas.microsoft.com/office/drawing/2014/main" id="{37843780-8AB0-2CE5-9F3E-2AF0740F3930}"/>
              </a:ext>
            </a:extLst>
          </p:cNvPr>
          <p:cNvSpPr txBox="1"/>
          <p:nvPr/>
        </p:nvSpPr>
        <p:spPr>
          <a:xfrm>
            <a:off x="14944229" y="12278745"/>
            <a:ext cx="2667954" cy="1200329"/>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7 (left): </a:t>
            </a:r>
            <a:r>
              <a:rPr lang="en-US" dirty="0">
                <a:solidFill>
                  <a:schemeClr val="bg1"/>
                </a:solidFill>
                <a:latin typeface="Times New Roman" panose="02020603050405020304" pitchFamily="18" charset="0"/>
                <a:cs typeface="Times New Roman" panose="02020603050405020304" pitchFamily="18" charset="0"/>
              </a:rPr>
              <a:t>Motor, Axle, Track rollers</a:t>
            </a:r>
          </a:p>
          <a:p>
            <a:r>
              <a:rPr lang="en-CN" dirty="0">
                <a:solidFill>
                  <a:schemeClr val="bg1"/>
                </a:solidFill>
                <a:latin typeface="Times New Roman" panose="02020603050405020304" pitchFamily="18" charset="0"/>
                <a:cs typeface="Times New Roman" panose="02020603050405020304" pitchFamily="18" charset="0"/>
              </a:rPr>
              <a:t>Figure 8 (right): </a:t>
            </a:r>
            <a:r>
              <a:rPr lang="en-US" dirty="0">
                <a:solidFill>
                  <a:schemeClr val="bg1"/>
                </a:solidFill>
                <a:latin typeface="Times New Roman" panose="02020603050405020304" pitchFamily="18" charset="0"/>
                <a:cs typeface="Times New Roman" panose="02020603050405020304" pitchFamily="18" charset="0"/>
              </a:rPr>
              <a:t>Flange Bearing</a:t>
            </a:r>
            <a:endParaRPr lang="en-CN" dirty="0">
              <a:solidFill>
                <a:schemeClr val="bg1"/>
              </a:solidFill>
              <a:latin typeface="Times New Roman" panose="02020603050405020304" pitchFamily="18" charset="0"/>
              <a:cs typeface="Times New Roman" panose="02020603050405020304" pitchFamily="18" charset="0"/>
            </a:endParaRPr>
          </a:p>
        </p:txBody>
      </p:sp>
      <p:sp>
        <p:nvSpPr>
          <p:cNvPr id="141" name="TextBox 140">
            <a:extLst>
              <a:ext uri="{FF2B5EF4-FFF2-40B4-BE49-F238E27FC236}">
                <a16:creationId xmlns:a16="http://schemas.microsoft.com/office/drawing/2014/main" id="{DC54E288-A395-4627-C045-F8383F71E42A}"/>
              </a:ext>
            </a:extLst>
          </p:cNvPr>
          <p:cNvSpPr txBox="1"/>
          <p:nvPr/>
        </p:nvSpPr>
        <p:spPr>
          <a:xfrm>
            <a:off x="14950671" y="15680717"/>
            <a:ext cx="2667954" cy="1200329"/>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9 (left): Guide wheels</a:t>
            </a:r>
          </a:p>
          <a:p>
            <a:r>
              <a:rPr lang="en-CN" dirty="0">
                <a:solidFill>
                  <a:schemeClr val="bg1"/>
                </a:solidFill>
                <a:latin typeface="Times New Roman" panose="02020603050405020304" pitchFamily="18" charset="0"/>
                <a:cs typeface="Times New Roman" panose="02020603050405020304" pitchFamily="18" charset="0"/>
              </a:rPr>
              <a:t>Figure 10 (right): Damping</a:t>
            </a:r>
          </a:p>
        </p:txBody>
      </p:sp>
      <p:sp>
        <p:nvSpPr>
          <p:cNvPr id="142" name="TextBox 141">
            <a:extLst>
              <a:ext uri="{FF2B5EF4-FFF2-40B4-BE49-F238E27FC236}">
                <a16:creationId xmlns:a16="http://schemas.microsoft.com/office/drawing/2014/main" id="{0A4EB1D6-5328-B53F-F282-9F5E9044D9E3}"/>
              </a:ext>
            </a:extLst>
          </p:cNvPr>
          <p:cNvSpPr txBox="1"/>
          <p:nvPr/>
        </p:nvSpPr>
        <p:spPr>
          <a:xfrm>
            <a:off x="15013274" y="19145974"/>
            <a:ext cx="2667954" cy="1200329"/>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11 (left): Spring system [model]</a:t>
            </a:r>
          </a:p>
          <a:p>
            <a:r>
              <a:rPr lang="en-CN" dirty="0">
                <a:solidFill>
                  <a:schemeClr val="bg1"/>
                </a:solidFill>
                <a:latin typeface="Times New Roman" panose="02020603050405020304" pitchFamily="18" charset="0"/>
                <a:cs typeface="Times New Roman" panose="02020603050405020304" pitchFamily="18" charset="0"/>
              </a:rPr>
              <a:t>Figure 12 (right):S</a:t>
            </a:r>
            <a:r>
              <a:rPr lang="en-US" dirty="0">
                <a:solidFill>
                  <a:schemeClr val="bg1"/>
                </a:solidFill>
                <a:latin typeface="Times New Roman" panose="02020603050405020304" pitchFamily="18" charset="0"/>
                <a:cs typeface="Times New Roman" panose="02020603050405020304" pitchFamily="18" charset="0"/>
              </a:rPr>
              <a:t>p</a:t>
            </a:r>
            <a:r>
              <a:rPr lang="en-CN" dirty="0">
                <a:solidFill>
                  <a:schemeClr val="bg1"/>
                </a:solidFill>
                <a:latin typeface="Times New Roman" panose="02020603050405020304" pitchFamily="18" charset="0"/>
                <a:cs typeface="Times New Roman" panose="02020603050405020304" pitchFamily="18" charset="0"/>
              </a:rPr>
              <a:t>ring system [transparent]</a:t>
            </a:r>
          </a:p>
        </p:txBody>
      </p:sp>
      <p:sp>
        <p:nvSpPr>
          <p:cNvPr id="143" name="TextBox 142">
            <a:extLst>
              <a:ext uri="{FF2B5EF4-FFF2-40B4-BE49-F238E27FC236}">
                <a16:creationId xmlns:a16="http://schemas.microsoft.com/office/drawing/2014/main" id="{98B4CFFD-BC59-517C-9843-BBE057AEC7BF}"/>
              </a:ext>
            </a:extLst>
          </p:cNvPr>
          <p:cNvSpPr txBox="1"/>
          <p:nvPr/>
        </p:nvSpPr>
        <p:spPr>
          <a:xfrm>
            <a:off x="15013274" y="22585852"/>
            <a:ext cx="2667954" cy="1200329"/>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13 (left): Universal Joint [in model]</a:t>
            </a:r>
          </a:p>
          <a:p>
            <a:r>
              <a:rPr lang="en-CN" dirty="0">
                <a:solidFill>
                  <a:schemeClr val="bg1"/>
                </a:solidFill>
                <a:latin typeface="Times New Roman" panose="02020603050405020304" pitchFamily="18" charset="0"/>
                <a:cs typeface="Times New Roman" panose="02020603050405020304" pitchFamily="18" charset="0"/>
              </a:rPr>
              <a:t>Figure 14 (right):Universal Joint</a:t>
            </a:r>
          </a:p>
        </p:txBody>
      </p:sp>
      <p:sp>
        <p:nvSpPr>
          <p:cNvPr id="144" name="TextBox 143">
            <a:extLst>
              <a:ext uri="{FF2B5EF4-FFF2-40B4-BE49-F238E27FC236}">
                <a16:creationId xmlns:a16="http://schemas.microsoft.com/office/drawing/2014/main" id="{EBD926EE-EE29-0EE3-D417-EA50302C6E19}"/>
              </a:ext>
            </a:extLst>
          </p:cNvPr>
          <p:cNvSpPr txBox="1"/>
          <p:nvPr/>
        </p:nvSpPr>
        <p:spPr>
          <a:xfrm>
            <a:off x="15040793" y="26129560"/>
            <a:ext cx="2667954" cy="1477328"/>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15 (left): Springs in strings</a:t>
            </a:r>
          </a:p>
          <a:p>
            <a:r>
              <a:rPr lang="en-CN" dirty="0">
                <a:solidFill>
                  <a:schemeClr val="bg1"/>
                </a:solidFill>
                <a:latin typeface="Times New Roman" panose="02020603050405020304" pitchFamily="18" charset="0"/>
                <a:cs typeface="Times New Roman" panose="02020603050405020304" pitchFamily="18" charset="0"/>
              </a:rPr>
              <a:t>Figure 16 (right): Foot bottom, with strings binding to it</a:t>
            </a:r>
          </a:p>
        </p:txBody>
      </p:sp>
      <p:pic>
        <p:nvPicPr>
          <p:cNvPr id="146" name="Picture 145">
            <a:extLst>
              <a:ext uri="{FF2B5EF4-FFF2-40B4-BE49-F238E27FC236}">
                <a16:creationId xmlns:a16="http://schemas.microsoft.com/office/drawing/2014/main" id="{B9252F97-5EF8-472F-6841-E62CD5D7CD6A}"/>
              </a:ext>
            </a:extLst>
          </p:cNvPr>
          <p:cNvPicPr>
            <a:picLocks noChangeAspect="1"/>
          </p:cNvPicPr>
          <p:nvPr/>
        </p:nvPicPr>
        <p:blipFill>
          <a:blip r:embed="rId20"/>
          <a:stretch>
            <a:fillRect/>
          </a:stretch>
        </p:blipFill>
        <p:spPr>
          <a:xfrm>
            <a:off x="34115840" y="3143517"/>
            <a:ext cx="3159700" cy="1904283"/>
          </a:xfrm>
          <a:prstGeom prst="rect">
            <a:avLst/>
          </a:prstGeom>
          <a:ln>
            <a:solidFill>
              <a:schemeClr val="bg1"/>
            </a:solidFill>
          </a:ln>
        </p:spPr>
      </p:pic>
      <p:pic>
        <p:nvPicPr>
          <p:cNvPr id="148" name="Picture 147" descr="A close up of a machine&#10;&#10;Description automatically generated">
            <a:extLst>
              <a:ext uri="{FF2B5EF4-FFF2-40B4-BE49-F238E27FC236}">
                <a16:creationId xmlns:a16="http://schemas.microsoft.com/office/drawing/2014/main" id="{836FCC7E-AD55-321E-E81A-F687BD34B1D9}"/>
              </a:ext>
            </a:extLst>
          </p:cNvPr>
          <p:cNvPicPr>
            <a:picLocks noChangeAspect="1"/>
          </p:cNvPicPr>
          <p:nvPr/>
        </p:nvPicPr>
        <p:blipFill>
          <a:blip r:embed="rId21"/>
          <a:stretch>
            <a:fillRect/>
          </a:stretch>
        </p:blipFill>
        <p:spPr>
          <a:xfrm>
            <a:off x="34164722" y="5982227"/>
            <a:ext cx="3110818" cy="2066053"/>
          </a:xfrm>
          <a:prstGeom prst="rect">
            <a:avLst/>
          </a:prstGeom>
          <a:ln>
            <a:solidFill>
              <a:schemeClr val="bg1"/>
            </a:solidFill>
          </a:ln>
        </p:spPr>
      </p:pic>
      <p:pic>
        <p:nvPicPr>
          <p:cNvPr id="150" name="Picture 149" descr="A red and silver machine with wires and a red box&#10;&#10;Description automatically generated with medium confidence">
            <a:extLst>
              <a:ext uri="{FF2B5EF4-FFF2-40B4-BE49-F238E27FC236}">
                <a16:creationId xmlns:a16="http://schemas.microsoft.com/office/drawing/2014/main" id="{FB118233-E978-72D1-4264-C945F6D4AF6D}"/>
              </a:ext>
            </a:extLst>
          </p:cNvPr>
          <p:cNvPicPr>
            <a:picLocks noChangeAspect="1"/>
          </p:cNvPicPr>
          <p:nvPr/>
        </p:nvPicPr>
        <p:blipFill>
          <a:blip r:embed="rId22"/>
          <a:stretch>
            <a:fillRect/>
          </a:stretch>
        </p:blipFill>
        <p:spPr>
          <a:xfrm>
            <a:off x="39029835" y="3124844"/>
            <a:ext cx="2092954" cy="1934139"/>
          </a:xfrm>
          <a:prstGeom prst="rect">
            <a:avLst/>
          </a:prstGeom>
          <a:ln>
            <a:solidFill>
              <a:schemeClr val="bg1"/>
            </a:solidFill>
          </a:ln>
        </p:spPr>
      </p:pic>
      <p:pic>
        <p:nvPicPr>
          <p:cNvPr id="152" name="Picture 151" descr="A close up of a machine&#10;&#10;Description automatically generated">
            <a:extLst>
              <a:ext uri="{FF2B5EF4-FFF2-40B4-BE49-F238E27FC236}">
                <a16:creationId xmlns:a16="http://schemas.microsoft.com/office/drawing/2014/main" id="{5F7EE66D-C9A2-B218-1693-D0E94E270D92}"/>
              </a:ext>
            </a:extLst>
          </p:cNvPr>
          <p:cNvPicPr>
            <a:picLocks noChangeAspect="1"/>
          </p:cNvPicPr>
          <p:nvPr/>
        </p:nvPicPr>
        <p:blipFill>
          <a:blip r:embed="rId23"/>
          <a:stretch>
            <a:fillRect/>
          </a:stretch>
        </p:blipFill>
        <p:spPr>
          <a:xfrm>
            <a:off x="38515515" y="5989142"/>
            <a:ext cx="3176512" cy="2057170"/>
          </a:xfrm>
          <a:prstGeom prst="rect">
            <a:avLst/>
          </a:prstGeom>
          <a:ln>
            <a:solidFill>
              <a:schemeClr val="bg1"/>
            </a:solidFill>
          </a:ln>
        </p:spPr>
      </p:pic>
      <p:sp>
        <p:nvSpPr>
          <p:cNvPr id="155" name="TextBox 154">
            <a:extLst>
              <a:ext uri="{FF2B5EF4-FFF2-40B4-BE49-F238E27FC236}">
                <a16:creationId xmlns:a16="http://schemas.microsoft.com/office/drawing/2014/main" id="{85424DAA-A540-C70D-26D6-3C026790031F}"/>
              </a:ext>
            </a:extLst>
          </p:cNvPr>
          <p:cNvSpPr txBox="1"/>
          <p:nvPr/>
        </p:nvSpPr>
        <p:spPr>
          <a:xfrm>
            <a:off x="33293188" y="30376799"/>
            <a:ext cx="8839583" cy="954107"/>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This adaption to the ground can help the users tranverse complex terrains and environment. </a:t>
            </a:r>
          </a:p>
        </p:txBody>
      </p:sp>
      <p:pic>
        <p:nvPicPr>
          <p:cNvPr id="3" name="Picture 2">
            <a:extLst>
              <a:ext uri="{FF2B5EF4-FFF2-40B4-BE49-F238E27FC236}">
                <a16:creationId xmlns:a16="http://schemas.microsoft.com/office/drawing/2014/main" id="{64FFDE88-2C6B-4E1F-4417-5E9D1CA1DE9A}"/>
              </a:ext>
            </a:extLst>
          </p:cNvPr>
          <p:cNvPicPr>
            <a:picLocks noChangeAspect="1"/>
          </p:cNvPicPr>
          <p:nvPr/>
        </p:nvPicPr>
        <p:blipFill>
          <a:blip r:embed="rId24"/>
          <a:stretch>
            <a:fillRect/>
          </a:stretch>
        </p:blipFill>
        <p:spPr>
          <a:xfrm>
            <a:off x="1015948" y="12117986"/>
            <a:ext cx="4153045" cy="3088461"/>
          </a:xfrm>
          <a:prstGeom prst="rect">
            <a:avLst/>
          </a:prstGeom>
        </p:spPr>
      </p:pic>
      <p:pic>
        <p:nvPicPr>
          <p:cNvPr id="34" name="Picture 33">
            <a:extLst>
              <a:ext uri="{FF2B5EF4-FFF2-40B4-BE49-F238E27FC236}">
                <a16:creationId xmlns:a16="http://schemas.microsoft.com/office/drawing/2014/main" id="{C6E9E390-172D-0743-B269-5D17DFA5641D}"/>
              </a:ext>
            </a:extLst>
          </p:cNvPr>
          <p:cNvPicPr>
            <a:picLocks noChangeAspect="1"/>
          </p:cNvPicPr>
          <p:nvPr/>
        </p:nvPicPr>
        <p:blipFill>
          <a:blip r:embed="rId25"/>
          <a:stretch>
            <a:fillRect/>
          </a:stretch>
        </p:blipFill>
        <p:spPr>
          <a:xfrm>
            <a:off x="22252857" y="3975798"/>
            <a:ext cx="9370513" cy="4782681"/>
          </a:xfrm>
          <a:prstGeom prst="rect">
            <a:avLst/>
          </a:prstGeom>
        </p:spPr>
      </p:pic>
      <p:pic>
        <p:nvPicPr>
          <p:cNvPr id="36" name="Picture 35">
            <a:extLst>
              <a:ext uri="{FF2B5EF4-FFF2-40B4-BE49-F238E27FC236}">
                <a16:creationId xmlns:a16="http://schemas.microsoft.com/office/drawing/2014/main" id="{781FDE9E-1A02-0700-ED6F-81F1ACD06675}"/>
              </a:ext>
            </a:extLst>
          </p:cNvPr>
          <p:cNvPicPr>
            <a:picLocks noChangeAspect="1"/>
          </p:cNvPicPr>
          <p:nvPr/>
        </p:nvPicPr>
        <p:blipFill>
          <a:blip r:embed="rId26"/>
          <a:stretch>
            <a:fillRect/>
          </a:stretch>
        </p:blipFill>
        <p:spPr>
          <a:xfrm>
            <a:off x="33572673" y="19242124"/>
            <a:ext cx="4576778" cy="2581053"/>
          </a:xfrm>
          <a:prstGeom prst="rect">
            <a:avLst/>
          </a:prstGeom>
        </p:spPr>
      </p:pic>
      <p:pic>
        <p:nvPicPr>
          <p:cNvPr id="37" name="Picture 36">
            <a:extLst>
              <a:ext uri="{FF2B5EF4-FFF2-40B4-BE49-F238E27FC236}">
                <a16:creationId xmlns:a16="http://schemas.microsoft.com/office/drawing/2014/main" id="{75D46FC1-6226-A740-CA46-4E21A0393BE9}"/>
              </a:ext>
            </a:extLst>
          </p:cNvPr>
          <p:cNvPicPr>
            <a:picLocks noChangeAspect="1"/>
          </p:cNvPicPr>
          <p:nvPr/>
        </p:nvPicPr>
        <p:blipFill>
          <a:blip r:embed="rId27"/>
          <a:stretch>
            <a:fillRect/>
          </a:stretch>
        </p:blipFill>
        <p:spPr>
          <a:xfrm>
            <a:off x="37260718" y="22092571"/>
            <a:ext cx="4765422" cy="2706889"/>
          </a:xfrm>
          <a:prstGeom prst="rect">
            <a:avLst/>
          </a:prstGeom>
        </p:spPr>
      </p:pic>
      <p:pic>
        <p:nvPicPr>
          <p:cNvPr id="38" name="Picture 37">
            <a:extLst>
              <a:ext uri="{FF2B5EF4-FFF2-40B4-BE49-F238E27FC236}">
                <a16:creationId xmlns:a16="http://schemas.microsoft.com/office/drawing/2014/main" id="{1E9F219C-B168-22E6-31DC-87C1763D30B0}"/>
              </a:ext>
            </a:extLst>
          </p:cNvPr>
          <p:cNvPicPr>
            <a:picLocks noChangeAspect="1"/>
          </p:cNvPicPr>
          <p:nvPr/>
        </p:nvPicPr>
        <p:blipFill>
          <a:blip r:embed="rId28"/>
          <a:stretch>
            <a:fillRect/>
          </a:stretch>
        </p:blipFill>
        <p:spPr>
          <a:xfrm>
            <a:off x="1033656" y="26577308"/>
            <a:ext cx="5367680" cy="2342394"/>
          </a:xfrm>
          <a:prstGeom prst="rect">
            <a:avLst/>
          </a:prstGeom>
        </p:spPr>
      </p:pic>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00A11453-5CA5-D751-F4E5-BCFF6B25F862}"/>
                  </a:ext>
                </a:extLst>
              </p:cNvPr>
              <p:cNvSpPr txBox="1"/>
              <p:nvPr/>
            </p:nvSpPr>
            <p:spPr>
              <a:xfrm>
                <a:off x="972740" y="28988340"/>
                <a:ext cx="8625157" cy="2869375"/>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Using the Distance sensors, the ankle can use trignometry to find out the angle between using the equation </a:t>
                </a:r>
                <a14:m>
                  <m:oMath xmlns:m="http://schemas.openxmlformats.org/officeDocument/2006/math">
                    <m:r>
                      <a:rPr lang="en-CN" sz="2800" i="1" smtClean="0">
                        <a:solidFill>
                          <a:schemeClr val="bg1"/>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𝐴</m:t>
                    </m:r>
                    <m:r>
                      <a:rPr lang="en-US" sz="2800" b="0" i="1" smtClean="0">
                        <a:solidFill>
                          <a:schemeClr val="bg1"/>
                        </a:solidFill>
                        <a:latin typeface="Cambria Math" panose="02040503050406030204" pitchFamily="18" charset="0"/>
                        <a:ea typeface="Cambria Math" panose="02040503050406030204" pitchFamily="18" charset="0"/>
                      </a:rPr>
                      <m:t>=</m:t>
                    </m:r>
                    <m:func>
                      <m:funcPr>
                        <m:ctrlPr>
                          <a:rPr lang="en-US" sz="2800" b="0" i="1" smtClean="0">
                            <a:solidFill>
                              <a:schemeClr val="bg1"/>
                            </a:solidFill>
                            <a:latin typeface="Cambria Math" panose="02040503050406030204" pitchFamily="18" charset="0"/>
                            <a:ea typeface="Cambria Math" panose="02040503050406030204" pitchFamily="18" charset="0"/>
                          </a:rPr>
                        </m:ctrlPr>
                      </m:funcPr>
                      <m:fName>
                        <m:sSup>
                          <m:sSupPr>
                            <m:ctrlPr>
                              <a:rPr lang="en-US" sz="2800" b="0" i="1" smtClean="0">
                                <a:solidFill>
                                  <a:schemeClr val="bg1"/>
                                </a:solidFill>
                                <a:latin typeface="Cambria Math" panose="02040503050406030204" pitchFamily="18" charset="0"/>
                                <a:ea typeface="Cambria Math" panose="02040503050406030204" pitchFamily="18" charset="0"/>
                              </a:rPr>
                            </m:ctrlPr>
                          </m:sSupPr>
                          <m:e>
                            <m:r>
                              <m:rPr>
                                <m:sty m:val="p"/>
                              </m:rPr>
                              <a:rPr lang="en-US" sz="2800" b="0" i="0" smtClean="0">
                                <a:solidFill>
                                  <a:schemeClr val="bg1"/>
                                </a:solidFill>
                                <a:latin typeface="Cambria Math" panose="02040503050406030204" pitchFamily="18" charset="0"/>
                                <a:ea typeface="Cambria Math" panose="02040503050406030204" pitchFamily="18" charset="0"/>
                              </a:rPr>
                              <m:t>tan</m:t>
                            </m:r>
                          </m:e>
                          <m:sup>
                            <m:r>
                              <a:rPr lang="en-US" sz="2800" b="0" i="1" smtClean="0">
                                <a:solidFill>
                                  <a:schemeClr val="bg1"/>
                                </a:solidFill>
                                <a:latin typeface="Cambria Math" panose="02040503050406030204" pitchFamily="18" charset="0"/>
                                <a:ea typeface="Cambria Math" panose="02040503050406030204" pitchFamily="18" charset="0"/>
                              </a:rPr>
                              <m:t>−1</m:t>
                            </m:r>
                          </m:sup>
                        </m:sSup>
                      </m:fName>
                      <m:e>
                        <m:f>
                          <m:fPr>
                            <m:ctrlPr>
                              <a:rPr lang="en-US" sz="2800" i="1">
                                <a:solidFill>
                                  <a:schemeClr val="bg1"/>
                                </a:solidFill>
                                <a:latin typeface="Cambria Math" panose="02040503050406030204" pitchFamily="18" charset="0"/>
                                <a:ea typeface="Cambria Math" panose="02040503050406030204" pitchFamily="18" charset="0"/>
                              </a:rPr>
                            </m:ctrlPr>
                          </m:fPr>
                          <m:num>
                            <m:r>
                              <a:rPr lang="en-US" sz="2800" i="1">
                                <a:solidFill>
                                  <a:schemeClr val="bg1"/>
                                </a:solidFill>
                                <a:latin typeface="Cambria Math" panose="02040503050406030204" pitchFamily="18" charset="0"/>
                                <a:ea typeface="Cambria Math" panose="02040503050406030204" pitchFamily="18" charset="0"/>
                              </a:rPr>
                              <m:t>∆</m:t>
                            </m:r>
                            <m:r>
                              <a:rPr lang="en-US" sz="2800" i="1">
                                <a:solidFill>
                                  <a:schemeClr val="bg1"/>
                                </a:solidFill>
                                <a:latin typeface="Cambria Math" panose="02040503050406030204" pitchFamily="18" charset="0"/>
                                <a:ea typeface="Cambria Math" panose="02040503050406030204" pitchFamily="18" charset="0"/>
                              </a:rPr>
                              <m:t>𝑑</m:t>
                            </m:r>
                          </m:num>
                          <m:den>
                            <m:r>
                              <a:rPr lang="en-US" sz="2800" i="1">
                                <a:solidFill>
                                  <a:schemeClr val="bg1"/>
                                </a:solidFill>
                                <a:latin typeface="Cambria Math" panose="02040503050406030204" pitchFamily="18" charset="0"/>
                                <a:ea typeface="Cambria Math" panose="02040503050406030204" pitchFamily="18" charset="0"/>
                              </a:rPr>
                              <m:t>𝑙</m:t>
                            </m:r>
                          </m:den>
                        </m:f>
                      </m:e>
                    </m:func>
                  </m:oMath>
                </a14:m>
                <a:r>
                  <a:rPr lang="en-CN" sz="2800" dirty="0">
                    <a:solidFill>
                      <a:schemeClr val="bg1"/>
                    </a:solidFill>
                    <a:latin typeface="Times New Roman" panose="02020603050405020304" pitchFamily="18" charset="0"/>
                    <a:cs typeface="Times New Roman" panose="02020603050405020304" pitchFamily="18" charset="0"/>
                  </a:rPr>
                  <a:t>. Since one distance sensors cannot fully represent the ground, each end’s distance is the average of the 2 distance sensors on that end in order to represent the whole plane. </a:t>
                </a:r>
                <a:endParaRPr lang="en-CN" sz="2800" dirty="0">
                  <a:latin typeface="Times New Roman" panose="02020603050405020304" pitchFamily="18" charset="0"/>
                  <a:cs typeface="Times New Roman" panose="02020603050405020304" pitchFamily="18" charset="0"/>
                </a:endParaRPr>
              </a:p>
            </p:txBody>
          </p:sp>
        </mc:Choice>
        <mc:Fallback>
          <p:sp>
            <p:nvSpPr>
              <p:cNvPr id="39" name="TextBox 38">
                <a:extLst>
                  <a:ext uri="{FF2B5EF4-FFF2-40B4-BE49-F238E27FC236}">
                    <a16:creationId xmlns:a16="http://schemas.microsoft.com/office/drawing/2014/main" id="{00A11453-5CA5-D751-F4E5-BCFF6B25F862}"/>
                  </a:ext>
                </a:extLst>
              </p:cNvPr>
              <p:cNvSpPr txBox="1">
                <a:spLocks noRot="1" noChangeAspect="1" noMove="1" noResize="1" noEditPoints="1" noAdjustHandles="1" noChangeArrowheads="1" noChangeShapeType="1" noTextEdit="1"/>
              </p:cNvSpPr>
              <p:nvPr/>
            </p:nvSpPr>
            <p:spPr>
              <a:xfrm>
                <a:off x="972740" y="28988340"/>
                <a:ext cx="8625157" cy="2869375"/>
              </a:xfrm>
              <a:prstGeom prst="rect">
                <a:avLst/>
              </a:prstGeom>
              <a:blipFill>
                <a:blip r:embed="rId29"/>
                <a:stretch>
                  <a:fillRect l="-1471" t="-2203" r="-2059" b="-5286"/>
                </a:stretch>
              </a:blipFill>
            </p:spPr>
            <p:txBody>
              <a:bodyPr/>
              <a:lstStyle/>
              <a:p>
                <a:r>
                  <a:rPr lang="en-CN">
                    <a:noFill/>
                  </a:rPr>
                  <a:t> </a:t>
                </a:r>
              </a:p>
            </p:txBody>
          </p:sp>
        </mc:Fallback>
      </mc:AlternateContent>
      <p:sp>
        <p:nvSpPr>
          <p:cNvPr id="41" name="TextBox 40">
            <a:extLst>
              <a:ext uri="{FF2B5EF4-FFF2-40B4-BE49-F238E27FC236}">
                <a16:creationId xmlns:a16="http://schemas.microsoft.com/office/drawing/2014/main" id="{85B6E17E-AAAC-1E29-802B-87088E376713}"/>
              </a:ext>
            </a:extLst>
          </p:cNvPr>
          <p:cNvSpPr txBox="1"/>
          <p:nvPr/>
        </p:nvSpPr>
        <p:spPr>
          <a:xfrm>
            <a:off x="6515265" y="26672933"/>
            <a:ext cx="3387791" cy="2246769"/>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Detecting the ground is one of the important objective in the self-adpative program.</a:t>
            </a:r>
            <a:endParaRPr lang="en-CN" sz="2800" dirty="0"/>
          </a:p>
        </p:txBody>
      </p:sp>
    </p:spTree>
    <p:extLst>
      <p:ext uri="{BB962C8B-B14F-4D97-AF65-F5344CB8AC3E}">
        <p14:creationId xmlns:p14="http://schemas.microsoft.com/office/powerpoint/2010/main" val="29735135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jBmZjc3ZDJlZTk3NWM1MDgyM2Y3OWRhNDY0NjEyMDI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{EF6E30C8-B3CD-9241-B67C-B41B7EE781D9}tf10001122</Template>
  <TotalTime>4375</TotalTime>
  <Words>1086</Words>
  <Application>Microsoft Macintosh PowerPoint</Application>
  <PresentationFormat>Custom</PresentationFormat>
  <Paragraphs>136</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Cambria Math</vt:lpstr>
      <vt:lpstr>Times New Roman</vt:lpstr>
      <vt:lpstr>Tw Cen MT</vt:lpstr>
      <vt:lpstr>Circuit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Kit Chin</dc:creator>
  <cp:lastModifiedBy>Zhaohua Guo</cp:lastModifiedBy>
  <cp:revision>107</cp:revision>
  <cp:lastPrinted>2021-12-31T07:36:00Z</cp:lastPrinted>
  <dcterms:created xsi:type="dcterms:W3CDTF">2021-12-31T07:36:00Z</dcterms:created>
  <dcterms:modified xsi:type="dcterms:W3CDTF">2024-10-30T12:20:06Z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6650810975AC4470ABDBCE82C36DF916_12</vt:lpwstr>
  </property>
  <property fmtid="{D5CDD505-2E9C-101B-9397-08002B2CF9AE}" pid="3" name="KSOProductBuildVer">
    <vt:lpwstr>2052-12.1.0.16120</vt:lpwstr>
  </property>
</Properties>
</file>