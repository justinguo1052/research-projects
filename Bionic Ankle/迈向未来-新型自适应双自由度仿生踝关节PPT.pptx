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0" r:id="rId4"/>
    <p:sldId id="263" r:id="rId5"/>
    <p:sldId id="258" r:id="rId6"/>
    <p:sldId id="259" r:id="rId7"/>
    <p:sldId id="261" r:id="rId8"/>
    <p:sldId id="262" r:id="rId9"/>
    <p:sldId id="265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163"/>
    <p:restoredTop sz="96327"/>
  </p:normalViewPr>
  <p:slideViewPr>
    <p:cSldViewPr snapToGrid="0">
      <p:cViewPr varScale="1">
        <p:scale>
          <a:sx n="124" d="100"/>
          <a:sy n="124" d="100"/>
        </p:scale>
        <p:origin x="76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5/21/25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5/21/25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5/21/25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5/21/25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5/21/25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5/21/25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5/21/25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5/21/25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5/21/25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5/21/25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5/21/25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5/21/25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2.png"/><Relationship Id="rId7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3CE65-1E89-7DB5-08DF-819B7A98FD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4400" dirty="0">
                <a:effectLst/>
                <a:latin typeface="GTICMC+"/>
              </a:rPr>
              <a:t>迈向未来</a:t>
            </a:r>
            <a:r>
              <a:rPr lang="en-US" altLang="zh-CN" sz="4400" dirty="0">
                <a:effectLst/>
                <a:latin typeface="GTICMC+"/>
              </a:rPr>
              <a:t>:</a:t>
            </a:r>
            <a:r>
              <a:rPr lang="zh-CN" altLang="en-US" sz="4400" dirty="0">
                <a:effectLst/>
                <a:latin typeface="GTICMC+"/>
              </a:rPr>
              <a:t>新型自适应双自由 度仿生踝关节 </a:t>
            </a:r>
            <a:br>
              <a:rPr lang="zh-CN" altLang="en-US" dirty="0"/>
            </a:br>
            <a:endParaRPr lang="en-C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E79FFC-5FC1-9AF4-36B1-46D5F45C03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005089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454F7-7DD8-8CBC-E237-C55F20632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一个双自由度自适应脚踝的困难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F3E29-63E0-6004-A7BB-B11E58E30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 机械结构：双自由度需要两个电机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 反应地面：自适应需要反应地面</a:t>
            </a:r>
            <a:endParaRPr lang="en-US" altLang="zh-CN" dirty="0"/>
          </a:p>
          <a:p>
            <a:r>
              <a:rPr lang="en-US" altLang="zh-CN" dirty="0"/>
              <a:t>3.</a:t>
            </a:r>
            <a:r>
              <a:rPr lang="zh-CN" altLang="en-US" dirty="0"/>
              <a:t> 联动调和：如何用地面的信息来驱动电机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771247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22F0272-3878-4604-AA91-01CA8F08D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F60EAEC-22E3-4448-8F0A-9ADAA793A9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55E0F90-3FFF-4E04-B3C8-3C969A415D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C63A4EF-A033-4ED0-9EB6-6E1A8D264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64965EE-80F2-417F-9652-5BFF14DA7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3C9611-CFD7-4C23-A8F2-00E7865A5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DEFAF5-9C7A-B5B5-D858-0586D9844A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9156" y="326017"/>
            <a:ext cx="4657687" cy="62102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DC5B796-3E10-A99B-17D0-5ED91FA6EC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8746" y="326017"/>
            <a:ext cx="4657687" cy="621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1491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63E52-2050-A7F2-8F93-D717F50CF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创新点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A35C7-72BD-FDD6-3F49-D579B664CE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43078" indent="-743078">
              <a:buFont typeface="+mj-lt"/>
              <a:buAutoNum type="arabicPeriod"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增加了内翻和外翻动作</a:t>
            </a:r>
          </a:p>
          <a:p>
            <a:pPr marL="743078" indent="-743078">
              <a:buFont typeface="+mj-lt"/>
              <a:buAutoNum type="arabicPeriod"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使用电机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绳子系统来使整个机械脚踝的结构更加合理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3078" indent="-743078">
              <a:buFont typeface="+mj-lt"/>
              <a:buAutoNum type="arabicPeriod"/>
            </a:pP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创建了一个自适应程序，该程序结合使用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IMU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和激光距离传感器来帮助在不平坦的地面上行走。</a:t>
            </a:r>
            <a:endParaRPr lang="en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22798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FD6CE23-240D-415B-81B0-F15CE60767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9867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6E66A48-7796-4FE2-8042-B87F1E3A54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5DED009-4FA7-4A3F-B64A-86EE7D5C4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FC58165-2D0C-46A8-9039-E47107B796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AB394C5-66AD-4654-96DD-5F7A5B2820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0006BD7-716F-4665-AEF3-99B318822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33" y="0"/>
            <a:ext cx="10378001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530E9A-BDF2-E0F4-D51E-0D7792EAF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9804" y="808056"/>
            <a:ext cx="3317492" cy="1077229"/>
          </a:xfrm>
        </p:spPr>
        <p:txBody>
          <a:bodyPr>
            <a:normAutofit/>
          </a:bodyPr>
          <a:lstStyle/>
          <a:p>
            <a:pPr algn="l"/>
            <a:r>
              <a:rPr lang="en-CN" dirty="0"/>
              <a:t>机械结构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F01F3A-2F3E-0201-707D-3FB595D6F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9803" y="2052116"/>
            <a:ext cx="3317493" cy="3997828"/>
          </a:xfrm>
        </p:spPr>
        <p:txBody>
          <a:bodyPr>
            <a:normAutofit/>
          </a:bodyPr>
          <a:lstStyle/>
          <a:p>
            <a:r>
              <a:rPr lang="en-CN" sz="1800" dirty="0"/>
              <a:t>利用电机</a:t>
            </a:r>
            <a:r>
              <a:rPr lang="en-US" altLang="zh-CN" sz="1800" dirty="0"/>
              <a:t>-</a:t>
            </a:r>
            <a:r>
              <a:rPr lang="zh-CN" altLang="en-US" sz="1800" dirty="0"/>
              <a:t>绳子系统来将电机安放在一个更合适的位置</a:t>
            </a:r>
            <a:endParaRPr lang="en-US" altLang="zh-CN" sz="1800" dirty="0"/>
          </a:p>
          <a:p>
            <a:endParaRPr lang="en-US" altLang="zh-CN" sz="1800" dirty="0"/>
          </a:p>
          <a:p>
            <a:r>
              <a:rPr lang="en-US" sz="1800" dirty="0" err="1"/>
              <a:t>一些其他考量</a:t>
            </a:r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CN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F99EE4-61A9-2CA7-EBBF-EB4348D09EA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270" r="4356" b="2"/>
          <a:stretch/>
        </p:blipFill>
        <p:spPr>
          <a:xfrm>
            <a:off x="6094766" y="647190"/>
            <a:ext cx="4651619" cy="5564283"/>
          </a:xfrm>
          <a:prstGeom prst="rect">
            <a:avLst/>
          </a:prstGeom>
          <a:ln>
            <a:gradFill flip="none" rotWithShape="1">
              <a:gsLst>
                <a:gs pos="86000">
                  <a:schemeClr val="accent6">
                    <a:lumMod val="67000"/>
                  </a:schemeClr>
                </a:gs>
                <a:gs pos="20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  <a:effectLst>
            <a:innerShdw blurRad="127000">
              <a:prstClr val="black">
                <a:alpha val="90000"/>
              </a:prstClr>
            </a:innerShdw>
          </a:effec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17038EEB-6071-4BDA-AA8F-6D46EB56DE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7666" y="-2718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close-up of a mechanical device&#10;&#10;Description automatically generated">
            <a:extLst>
              <a:ext uri="{FF2B5EF4-FFF2-40B4-BE49-F238E27FC236}">
                <a16:creationId xmlns:a16="http://schemas.microsoft.com/office/drawing/2014/main" id="{D0D70FB1-F04D-2E3D-E47A-8D5A69CFD63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9273" r="23456" b="1999"/>
          <a:stretch/>
        </p:blipFill>
        <p:spPr>
          <a:xfrm rot="10800000" flipV="1">
            <a:off x="2947598" y="4665685"/>
            <a:ext cx="1298540" cy="1665892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6" name="Picture 5" descr="A close-up of a device&#10;&#10;Description automatically generated">
            <a:extLst>
              <a:ext uri="{FF2B5EF4-FFF2-40B4-BE49-F238E27FC236}">
                <a16:creationId xmlns:a16="http://schemas.microsoft.com/office/drawing/2014/main" id="{F44A3E86-2888-2D96-D890-FA314B569C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97243" y="4660017"/>
            <a:ext cx="1254161" cy="1671561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7" name="Picture 6" descr="A close-up of a machine&#10;&#10;Description automatically generated">
            <a:extLst>
              <a:ext uri="{FF2B5EF4-FFF2-40B4-BE49-F238E27FC236}">
                <a16:creationId xmlns:a16="http://schemas.microsoft.com/office/drawing/2014/main" id="{45185ED1-3948-4E09-E8DD-4A899DA43F3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75438" y="4660017"/>
            <a:ext cx="1249908" cy="1665893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615955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CD557CE-2AB8-44E1-AABA-A21D2274F3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9867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8DCB6E5-A344-4A17-A353-EC4D71E6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D82F4F2-6117-4CCD-94A7-4AFD603EC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CCA9FB2-FFC7-4B6D-8E30-9D2CC14E7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CF6D6F6-E7F9-4521-BD22-74A61D8ED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B566E74-1425-46AC-885D-D2DAEE365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33" y="0"/>
            <a:ext cx="10378001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9215C7-6180-5E68-051B-48018530C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9804" y="808056"/>
            <a:ext cx="3317492" cy="1077229"/>
          </a:xfrm>
        </p:spPr>
        <p:txBody>
          <a:bodyPr>
            <a:normAutofit/>
          </a:bodyPr>
          <a:lstStyle/>
          <a:p>
            <a:pPr algn="l"/>
            <a:r>
              <a:rPr lang="en-CN" dirty="0"/>
              <a:t>距离传感器的应用</a:t>
            </a:r>
            <a:endParaRPr lang="en-C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B36E13-A0BB-0EDB-2E0C-B6E6CFCE52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69803" y="2052116"/>
                <a:ext cx="3317493" cy="399782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zh-CN" alt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利用距离传感器，脚踝可以使用三角函数来找出使用方程之间的角度</a:t>
                </a:r>
                <a:endParaRPr lang="en-US" sz="2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CN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∠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fName>
                      <m:e>
                        <m:f>
                          <m:fPr>
                            <m:ctrlP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num>
                          <m:den>
                            <m:r>
                              <a:rPr lang="en-US" sz="20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𝑙</m:t>
                            </m:r>
                          </m:den>
                        </m:f>
                      </m:e>
                    </m:func>
                  </m:oMath>
                </a14:m>
                <a:r>
                  <a:rPr lang="en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r>
                  <a:rPr lang="zh-CN" alt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由于一个距离传感器无法完全代表地面，因此每端的距离是该端 </a:t>
                </a:r>
                <a:r>
                  <a:rPr lang="en-US" altLang="zh-CN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 </a:t>
                </a:r>
                <a:r>
                  <a:rPr lang="zh-CN" altLang="en-US" sz="2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个距离传感器的平均值，以代表整个平面。</a:t>
                </a:r>
                <a:endParaRPr lang="en-CN" sz="2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CN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B36E13-A0BB-0EDB-2E0C-B6E6CFCE52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69803" y="2052116"/>
                <a:ext cx="3317493" cy="3997828"/>
              </a:xfrm>
              <a:blipFill>
                <a:blip r:embed="rId5"/>
                <a:stretch>
                  <a:fillRect l="-1145" t="-2848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21A08C54-8682-72F7-095F-36A38E2924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4933" y="1346670"/>
            <a:ext cx="4651619" cy="2023454"/>
          </a:xfrm>
          <a:prstGeom prst="rect">
            <a:avLst/>
          </a:prstGeom>
          <a:ln>
            <a:gradFill flip="none" rotWithShape="1">
              <a:gsLst>
                <a:gs pos="86000">
                  <a:schemeClr val="accent6">
                    <a:lumMod val="67000"/>
                  </a:schemeClr>
                </a:gs>
                <a:gs pos="20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  <a:effectLst>
            <a:innerShdw blurRad="127000">
              <a:prstClr val="black">
                <a:alpha val="90000"/>
              </a:prstClr>
            </a:innerShdw>
          </a:effec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06858379-D070-40E4-8A3D-F29E90C5C7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7666" y="-2718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grey object with wires&#10;&#10;Description automatically generated">
            <a:extLst>
              <a:ext uri="{FF2B5EF4-FFF2-40B4-BE49-F238E27FC236}">
                <a16:creationId xmlns:a16="http://schemas.microsoft.com/office/drawing/2014/main" id="{BADC0031-F932-9A30-D090-408F7067C6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3753" y="3908570"/>
            <a:ext cx="2856285" cy="2141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542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CD557CE-2AB8-44E1-AABA-A21D2274F3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9867" cy="68552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8DCB6E5-A344-4A17-A353-EC4D71E6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D82F4F2-6117-4CCD-94A7-4AFD603EC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3CCA9FB2-FFC7-4B6D-8E30-9D2CC14E7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CF6D6F6-E7F9-4521-BD22-74A61D8ED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B566E74-1425-46AC-885D-D2DAEE365F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33" y="0"/>
            <a:ext cx="10378001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8B61BA-780A-0CF2-4668-89C6E926C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9804" y="808056"/>
            <a:ext cx="3317492" cy="1077229"/>
          </a:xfrm>
        </p:spPr>
        <p:txBody>
          <a:bodyPr>
            <a:normAutofit/>
          </a:bodyPr>
          <a:lstStyle/>
          <a:p>
            <a:pPr algn="l"/>
            <a:r>
              <a:rPr lang="en-CN" dirty="0"/>
              <a:t>利用PID控制器来实现跟随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B604A-A164-60BF-23E3-B484119A1F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9803" y="2052116"/>
            <a:ext cx="3317493" cy="399782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仿生脚踝的编程依赖于 </a:t>
            </a:r>
            <a:r>
              <a:rPr lang="en-US" altLang="zh-CN" sz="150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zh-CN" alt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个变量 </a:t>
            </a:r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PID </a:t>
            </a:r>
            <a:r>
              <a:rPr lang="zh-CN" alt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控制。四个距离传感器将计算脚相对于地面的倾斜度。然后，自适应程序将分别对两个元素应用 </a:t>
            </a:r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PID </a:t>
            </a:r>
            <a:r>
              <a:rPr lang="zh-CN" alt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控制器。然后，将两个结果组合起来并将其发送到两个电机，让它们增加或减少角度。</a:t>
            </a:r>
            <a:endParaRPr lang="en-CN" sz="1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1500"/>
              <a:t>两个电机的 </a:t>
            </a:r>
            <a:r>
              <a:rPr lang="en-US" sz="1500"/>
              <a:t>PID </a:t>
            </a:r>
            <a:r>
              <a:rPr lang="zh-CN" altLang="en-US" sz="1500"/>
              <a:t>控制器更复杂，因为有两个数据，俯仰和滚动，需要使用两个电机进行控制。我假设两个电机的增量无论方向如何都提供相同的拉力，所以我需要为俯仰和滚动做两个 </a:t>
            </a:r>
            <a:r>
              <a:rPr lang="en-US" sz="1500"/>
              <a:t>PID </a:t>
            </a:r>
            <a:r>
              <a:rPr lang="zh-CN" altLang="en-US" sz="1500"/>
              <a:t>控制器。</a:t>
            </a:r>
            <a:endParaRPr lang="en-CN" sz="1500"/>
          </a:p>
          <a:p>
            <a:pPr>
              <a:lnSpc>
                <a:spcPct val="110000"/>
              </a:lnSpc>
            </a:pPr>
            <a:endParaRPr lang="en-CN" sz="15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858379-D070-40E4-8A3D-F29E90C5C7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87666" y="-2718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4E2B0A4-BD59-2F0A-C85F-231D5391CFA9}"/>
              </a:ext>
            </a:extLst>
          </p:cNvPr>
          <p:cNvGrpSpPr/>
          <p:nvPr/>
        </p:nvGrpSpPr>
        <p:grpSpPr>
          <a:xfrm>
            <a:off x="6094766" y="1523011"/>
            <a:ext cx="4651619" cy="3812641"/>
            <a:chOff x="22350540" y="12627545"/>
            <a:chExt cx="5137590" cy="4145238"/>
          </a:xfrm>
        </p:grpSpPr>
        <p:pic>
          <p:nvPicPr>
            <p:cNvPr id="6" name="Picture 5" descr="A computer screen shot of a program code&#10;&#10;Description automatically generated">
              <a:extLst>
                <a:ext uri="{FF2B5EF4-FFF2-40B4-BE49-F238E27FC236}">
                  <a16:creationId xmlns:a16="http://schemas.microsoft.com/office/drawing/2014/main" id="{0D168903-5EAD-FFB9-256B-12A1D17A676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2350540" y="12627545"/>
              <a:ext cx="5137590" cy="3748919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219090F-C798-F45A-D8DE-93E27E2A0B9D}"/>
                </a:ext>
              </a:extLst>
            </p:cNvPr>
            <p:cNvSpPr txBox="1"/>
            <p:nvPr/>
          </p:nvSpPr>
          <p:spPr>
            <a:xfrm>
              <a:off x="23473712" y="16403451"/>
              <a:ext cx="32660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434340">
                <a:spcAft>
                  <a:spcPts val="600"/>
                </a:spcAft>
              </a:pPr>
              <a:r>
                <a:rPr lang="zh-CN" altLang="en-US" sz="1710" kern="1200">
                  <a:solidFill>
                    <a:srgbClr val="B7B7B7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图 </a:t>
              </a:r>
              <a:r>
                <a:rPr lang="en-US" altLang="zh-CN" sz="1710" kern="1200">
                  <a:solidFill>
                    <a:srgbClr val="B7B7B7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17</a:t>
              </a:r>
              <a:r>
                <a:rPr lang="zh-CN" altLang="en-US" sz="1710" kern="1200">
                  <a:solidFill>
                    <a:srgbClr val="B7B7B7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：</a:t>
              </a:r>
              <a:r>
                <a:rPr lang="en-US" sz="1710" kern="1200">
                  <a:solidFill>
                    <a:srgbClr val="B7B7B7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PID </a:t>
              </a:r>
              <a:r>
                <a:rPr lang="zh-CN" altLang="en-US" sz="1710" kern="1200">
                  <a:solidFill>
                    <a:srgbClr val="B7B7B7"/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控制器代码</a:t>
              </a:r>
              <a:endParaRPr lang="en-CN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14363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D7E54-B268-1D5A-B353-811883A2B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算法流程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3A79F-44CF-2965-77AC-5C7ECF674B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D3C598-F7B1-63A3-E7C5-00EA4323A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434" y="1824211"/>
            <a:ext cx="9413132" cy="4804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912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49926-5EC5-EF1F-21EE-18DB4D850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N" dirty="0"/>
              <a:t>实验</a:t>
            </a:r>
          </a:p>
        </p:txBody>
      </p: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A25301A7-520B-63B9-AE92-8F67B4783A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18487" y="1395176"/>
            <a:ext cx="2678086" cy="5390803"/>
          </a:xfr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9CEC50B0-F870-F4F7-9338-A3E54F5DB0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1416" y="1443971"/>
            <a:ext cx="3432097" cy="5342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761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DBBA26C-89C3-411F-9753-606A413F89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EAD2215-6311-4D1C-B6B5-F57CB6BFC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BA5DE79-30D1-4A10-8DB9-0A6E523A97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ABD0D63-D23F-4AE7-8270-4185EF9C1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168E9E-94E9-4BE3-B88C-C8A468117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2107AC1-AA0D-4097-B03D-FD3C632AB8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8D231A-EC46-4736-B00F-76D307082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BE3D13-5BE5-4B05-AFCF-2A2E059D2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AC85C80-0175-4214-A13D-03C224658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09124" y="487443"/>
            <a:ext cx="5841548" cy="584154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5ADB788-8569-409E-862D-665AD53C99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" y="0"/>
            <a:ext cx="12189867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0C755B-4B19-1984-1459-DDA6C8AB0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9048" y="2568817"/>
            <a:ext cx="7155598" cy="313396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6600" dirty="0" err="1">
                <a:solidFill>
                  <a:srgbClr val="1F2D29"/>
                </a:solidFill>
              </a:rPr>
              <a:t>谢谢</a:t>
            </a:r>
            <a:endParaRPr lang="en-US" sz="6600" dirty="0">
              <a:solidFill>
                <a:srgbClr val="1F2D29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6562092-3AA7-4EF0-9007-C44F879A13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Right Triangle 29">
            <a:extLst>
              <a:ext uri="{FF2B5EF4-FFF2-40B4-BE49-F238E27FC236}">
                <a16:creationId xmlns:a16="http://schemas.microsoft.com/office/drawing/2014/main" id="{2663C086-1480-4E81-BD6F-3E43A4C38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585313" y="2747897"/>
            <a:ext cx="353147" cy="353147"/>
          </a:xfrm>
          <a:prstGeom prst="rtTriangl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2167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37</TotalTime>
  <Words>295</Words>
  <Application>Microsoft Macintosh PowerPoint</Application>
  <PresentationFormat>Widescreen</PresentationFormat>
  <Paragraphs>26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GTICMC+</vt:lpstr>
      <vt:lpstr>MS Shell Dlg 2</vt:lpstr>
      <vt:lpstr>Arial</vt:lpstr>
      <vt:lpstr>Cambria Math</vt:lpstr>
      <vt:lpstr>Times New Roman</vt:lpstr>
      <vt:lpstr>Wingdings</vt:lpstr>
      <vt:lpstr>Wingdings 3</vt:lpstr>
      <vt:lpstr>Madison</vt:lpstr>
      <vt:lpstr>迈向未来:新型自适应双自由 度仿生踝关节  </vt:lpstr>
      <vt:lpstr>一个双自由度自适应脚踝的困难</vt:lpstr>
      <vt:lpstr>PowerPoint Presentation</vt:lpstr>
      <vt:lpstr>创新点</vt:lpstr>
      <vt:lpstr>机械结构</vt:lpstr>
      <vt:lpstr>距离传感器的应用</vt:lpstr>
      <vt:lpstr>利用PID控制器来实现跟随</vt:lpstr>
      <vt:lpstr>算法流程</vt:lpstr>
      <vt:lpstr>实验</vt:lpstr>
      <vt:lpstr>谢谢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迈向未来:新型自适应双自由 度仿生踝关节  </dc:title>
  <dc:creator>Zhaohua Guo</dc:creator>
  <cp:lastModifiedBy>Zhaohua Guo</cp:lastModifiedBy>
  <cp:revision>15</cp:revision>
  <dcterms:created xsi:type="dcterms:W3CDTF">2024-12-15T03:07:34Z</dcterms:created>
  <dcterms:modified xsi:type="dcterms:W3CDTF">2025-05-21T14:57:01Z</dcterms:modified>
</cp:coreProperties>
</file>