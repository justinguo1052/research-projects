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3"/>
  </p:notesMasterIdLst>
  <p:sldIdLst>
    <p:sldId id="256" r:id="rId2"/>
    <p:sldId id="257" r:id="rId3"/>
    <p:sldId id="273" r:id="rId4"/>
    <p:sldId id="268" r:id="rId5"/>
    <p:sldId id="259" r:id="rId6"/>
    <p:sldId id="261" r:id="rId7"/>
    <p:sldId id="272" r:id="rId8"/>
    <p:sldId id="262" r:id="rId9"/>
    <p:sldId id="270" r:id="rId10"/>
    <p:sldId id="275" r:id="rId11"/>
    <p:sldId id="27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76"/>
    <p:restoredTop sz="94694"/>
  </p:normalViewPr>
  <p:slideViewPr>
    <p:cSldViewPr snapToGrid="0">
      <p:cViewPr varScale="1">
        <p:scale>
          <a:sx n="183" d="100"/>
          <a:sy n="183" d="100"/>
        </p:scale>
        <p:origin x="6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69A78-2B3E-454D-A7FA-041AA354A2C1}" type="datetimeFigureOut">
              <a:rPr lang="en-CN" smtClean="0"/>
              <a:t>2025/6/7</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181452-B3EF-EE48-AC04-66FAD30A94F4}" type="slidenum">
              <a:rPr lang="en-CN" smtClean="0"/>
              <a:t>‹#›</a:t>
            </a:fld>
            <a:endParaRPr lang="en-CN"/>
          </a:p>
        </p:txBody>
      </p:sp>
    </p:spTree>
    <p:extLst>
      <p:ext uri="{BB962C8B-B14F-4D97-AF65-F5344CB8AC3E}">
        <p14:creationId xmlns:p14="http://schemas.microsoft.com/office/powerpoint/2010/main" val="254964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2181452-B3EF-EE48-AC04-66FAD30A94F4}" type="slidenum">
              <a:rPr lang="en-CN" smtClean="0"/>
              <a:t>7</a:t>
            </a:fld>
            <a:endParaRPr lang="en-CN"/>
          </a:p>
        </p:txBody>
      </p:sp>
    </p:spTree>
    <p:extLst>
      <p:ext uri="{BB962C8B-B14F-4D97-AF65-F5344CB8AC3E}">
        <p14:creationId xmlns:p14="http://schemas.microsoft.com/office/powerpoint/2010/main" val="1274728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9B6C2D2-C58F-5548-A64A-8AD08F679533}" type="datetimeFigureOut">
              <a:rPr lang="en-CN" smtClean="0"/>
              <a:t>2025/6/7</a:t>
            </a:fld>
            <a:endParaRPr lang="en-CN"/>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D2947F7-B245-3D42-9440-FA4435798BAB}" type="slidenum">
              <a:rPr lang="en-CN" smtClean="0"/>
              <a:t>‹#›</a:t>
            </a:fld>
            <a:endParaRPr lang="en-C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8124287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2025/6/7</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77260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9B6C2D2-C58F-5548-A64A-8AD08F679533}" type="datetimeFigureOut">
              <a:rPr lang="en-CN" smtClean="0"/>
              <a:t>2025/6/7</a:t>
            </a:fld>
            <a:endParaRPr lang="en-C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8258252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B6C2D2-C58F-5548-A64A-8AD08F679533}" type="datetimeFigureOut">
              <a:rPr lang="en-CN" smtClean="0"/>
              <a:t>2025/6/7</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4251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B6C2D2-C58F-5548-A64A-8AD08F679533}" type="datetimeFigureOut">
              <a:rPr lang="en-CN" smtClean="0"/>
              <a:t>2025/6/7</a:t>
            </a:fld>
            <a:endParaRPr lang="en-CN"/>
          </a:p>
        </p:txBody>
      </p:sp>
      <p:sp>
        <p:nvSpPr>
          <p:cNvPr id="8" name="Footer Placeholder 7"/>
          <p:cNvSpPr>
            <a:spLocks noGrp="1"/>
          </p:cNvSpPr>
          <p:nvPr>
            <p:ph type="ftr" sz="quarter" idx="11"/>
          </p:nvPr>
        </p:nvSpPr>
        <p:spPr/>
        <p:txBody>
          <a:bodyPr/>
          <a:lstStyle/>
          <a:p>
            <a:endParaRPr lang="en-CN"/>
          </a:p>
        </p:txBody>
      </p:sp>
      <p:sp>
        <p:nvSpPr>
          <p:cNvPr id="9" name="Slide Number Placeholder 8"/>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38553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B6C2D2-C58F-5548-A64A-8AD08F679533}" type="datetimeFigureOut">
              <a:rPr lang="en-CN" smtClean="0"/>
              <a:t>2025/6/7</a:t>
            </a:fld>
            <a:endParaRPr lang="en-CN"/>
          </a:p>
        </p:txBody>
      </p:sp>
      <p:sp>
        <p:nvSpPr>
          <p:cNvPr id="4" name="Footer Placeholder 3"/>
          <p:cNvSpPr>
            <a:spLocks noGrp="1"/>
          </p:cNvSpPr>
          <p:nvPr>
            <p:ph type="ftr" sz="quarter" idx="11"/>
          </p:nvPr>
        </p:nvSpPr>
        <p:spPr/>
        <p:txBody>
          <a:bodyPr/>
          <a:lstStyle/>
          <a:p>
            <a:endParaRPr lang="en-CN"/>
          </a:p>
        </p:txBody>
      </p:sp>
      <p:sp>
        <p:nvSpPr>
          <p:cNvPr id="5" name="Slide Number Placeholder 4"/>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509130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6C2D2-C58F-5548-A64A-8AD08F679533}" type="datetimeFigureOut">
              <a:rPr lang="en-CN" smtClean="0"/>
              <a:t>2025/6/7</a:t>
            </a:fld>
            <a:endParaRPr lang="en-CN"/>
          </a:p>
        </p:txBody>
      </p:sp>
      <p:sp>
        <p:nvSpPr>
          <p:cNvPr id="3" name="Footer Placeholder 2"/>
          <p:cNvSpPr>
            <a:spLocks noGrp="1"/>
          </p:cNvSpPr>
          <p:nvPr>
            <p:ph type="ftr" sz="quarter" idx="11"/>
          </p:nvPr>
        </p:nvSpPr>
        <p:spPr/>
        <p:txBody>
          <a:bodyPr/>
          <a:lstStyle/>
          <a:p>
            <a:endParaRPr lang="en-CN"/>
          </a:p>
        </p:txBody>
      </p:sp>
      <p:sp>
        <p:nvSpPr>
          <p:cNvPr id="4" name="Slide Number Placeholder 3"/>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11318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2025/6/7</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468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2025/6/7</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96359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2025/6/7</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212609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2025/6/7</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986111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9B6C2D2-C58F-5548-A64A-8AD08F679533}" type="datetimeFigureOut">
              <a:rPr lang="en-CN" smtClean="0"/>
              <a:t>2025/6/7</a:t>
            </a:fld>
            <a:endParaRPr lang="en-C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C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D2947F7-B245-3D42-9440-FA4435798BAB}" type="slidenum">
              <a:rPr lang="en-CN" smtClean="0"/>
              <a:t>‹#›</a:t>
            </a:fld>
            <a:endParaRPr lang="en-CN"/>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77172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51D149FF-24EA-4575-93C6-D58A02586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8680CA-58BE-ED2F-DC5F-AFB5A5B47AFC}"/>
              </a:ext>
            </a:extLst>
          </p:cNvPr>
          <p:cNvSpPr>
            <a:spLocks noGrp="1"/>
          </p:cNvSpPr>
          <p:nvPr>
            <p:ph type="ctrTitle"/>
          </p:nvPr>
        </p:nvSpPr>
        <p:spPr>
          <a:xfrm>
            <a:off x="2558956" y="1480930"/>
            <a:ext cx="4975700" cy="3672027"/>
          </a:xfrm>
        </p:spPr>
        <p:txBody>
          <a:bodyPr anchor="ctr">
            <a:normAutofit/>
          </a:bodyPr>
          <a:lstStyle/>
          <a:p>
            <a:pPr algn="r"/>
            <a:r>
              <a:rPr lang="en-CN" sz="4800">
                <a:latin typeface="Times New Roman" panose="02020603050405020304" pitchFamily="18" charset="0"/>
                <a:cs typeface="Times New Roman" panose="02020603050405020304" pitchFamily="18" charset="0"/>
              </a:rPr>
              <a:t>A Two DoF Self Adaptive Bionic Ankle</a:t>
            </a:r>
          </a:p>
        </p:txBody>
      </p:sp>
      <p:sp>
        <p:nvSpPr>
          <p:cNvPr id="3" name="Subtitle 2">
            <a:extLst>
              <a:ext uri="{FF2B5EF4-FFF2-40B4-BE49-F238E27FC236}">
                <a16:creationId xmlns:a16="http://schemas.microsoft.com/office/drawing/2014/main" id="{C024A849-4908-56D8-64A8-8D1E085090F0}"/>
              </a:ext>
            </a:extLst>
          </p:cNvPr>
          <p:cNvSpPr>
            <a:spLocks noGrp="1"/>
          </p:cNvSpPr>
          <p:nvPr>
            <p:ph type="subTitle" idx="1"/>
          </p:nvPr>
        </p:nvSpPr>
        <p:spPr>
          <a:xfrm>
            <a:off x="8698058" y="1480930"/>
            <a:ext cx="2728917" cy="3732515"/>
          </a:xfrm>
        </p:spPr>
        <p:txBody>
          <a:bodyPr anchor="ctr">
            <a:normAutofit/>
          </a:bodyPr>
          <a:lstStyle/>
          <a:p>
            <a:pPr algn="l">
              <a:spcAft>
                <a:spcPts val="600"/>
              </a:spcAft>
            </a:pPr>
            <a:r>
              <a:rPr lang="en-CN" sz="2000" dirty="0">
                <a:latin typeface="Times New Roman" panose="02020603050405020304" pitchFamily="18" charset="0"/>
                <a:cs typeface="Times New Roman" panose="02020603050405020304" pitchFamily="18" charset="0"/>
              </a:rPr>
              <a:t>Justin Guo</a:t>
            </a:r>
          </a:p>
        </p:txBody>
      </p:sp>
      <p:sp>
        <p:nvSpPr>
          <p:cNvPr id="16" name="Rectangle 9">
            <a:extLst>
              <a:ext uri="{FF2B5EF4-FFF2-40B4-BE49-F238E27FC236}">
                <a16:creationId xmlns:a16="http://schemas.microsoft.com/office/drawing/2014/main" id="{CC965133-69F4-4869-A4C0-97C9B2B60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2108425" cy="68576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 name="Freeform 6">
            <a:extLst>
              <a:ext uri="{FF2B5EF4-FFF2-40B4-BE49-F238E27FC236}">
                <a16:creationId xmlns:a16="http://schemas.microsoft.com/office/drawing/2014/main" id="{43FEB8E0-28C6-45D4-B8D7-F36F09074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1125266"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CN"/>
          </a:p>
        </p:txBody>
      </p:sp>
      <p:cxnSp>
        <p:nvCxnSpPr>
          <p:cNvPr id="14" name="Straight Connector 13">
            <a:extLst>
              <a:ext uri="{FF2B5EF4-FFF2-40B4-BE49-F238E27FC236}">
                <a16:creationId xmlns:a16="http://schemas.microsoft.com/office/drawing/2014/main" id="{409EBF91-BD5B-4CA7-8B07-993751CD3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6357" y="2463421"/>
            <a:ext cx="0" cy="203351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7042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98CA5AE-F2E4-4A6F-B986-89804B1EC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F5595E-CA13-D84C-033B-2FFEC4D8BA72}"/>
              </a:ext>
            </a:extLst>
          </p:cNvPr>
          <p:cNvSpPr>
            <a:spLocks noGrp="1"/>
          </p:cNvSpPr>
          <p:nvPr>
            <p:ph type="title"/>
          </p:nvPr>
        </p:nvSpPr>
        <p:spPr>
          <a:xfrm>
            <a:off x="784743" y="685800"/>
            <a:ext cx="5793475" cy="1485900"/>
          </a:xfrm>
        </p:spPr>
        <p:txBody>
          <a:bodyPr>
            <a:normAutofit/>
          </a:bodyPr>
          <a:lstStyle/>
          <a:p>
            <a:r>
              <a:rPr lang="en-CN" dirty="0">
                <a:latin typeface="Times New Roman" panose="02020603050405020304" pitchFamily="18" charset="0"/>
                <a:cs typeface="Times New Roman" panose="02020603050405020304" pitchFamily="18" charset="0"/>
              </a:rPr>
              <a:t>Background Signficance and Proposal</a:t>
            </a:r>
          </a:p>
        </p:txBody>
      </p:sp>
      <p:sp>
        <p:nvSpPr>
          <p:cNvPr id="3" name="Content Placeholder 2">
            <a:extLst>
              <a:ext uri="{FF2B5EF4-FFF2-40B4-BE49-F238E27FC236}">
                <a16:creationId xmlns:a16="http://schemas.microsoft.com/office/drawing/2014/main" id="{8EF00257-F331-F55C-5BE3-A7383AE94B3A}"/>
              </a:ext>
            </a:extLst>
          </p:cNvPr>
          <p:cNvSpPr>
            <a:spLocks noGrp="1"/>
          </p:cNvSpPr>
          <p:nvPr>
            <p:ph idx="1"/>
          </p:nvPr>
        </p:nvSpPr>
        <p:spPr>
          <a:xfrm>
            <a:off x="784743" y="2016691"/>
            <a:ext cx="5793475" cy="4850766"/>
          </a:xfrm>
        </p:spPr>
        <p:txBody>
          <a:bodyPr>
            <a:normAutofit/>
          </a:bodyPr>
          <a:lstStyle/>
          <a:p>
            <a:r>
              <a:rPr lang="en-US" sz="1800" dirty="0">
                <a:latin typeface="Times New Roman" panose="02020603050405020304" pitchFamily="18" charset="0"/>
                <a:cs typeface="Times New Roman" panose="02020603050405020304" pitchFamily="18" charset="0"/>
              </a:rPr>
              <a:t>In rough terrains, we are not going to build flat roads during our exploration. We need robots that focuses on movement ability, including the ability to move through rough terrain and great cliffs. These robots are taking the role to going on a mission to rescue in wild environments, and in rubbles.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machinery need to stabilize and adapt to the unknown surroundings.</a:t>
            </a:r>
          </a:p>
          <a:p>
            <a:endParaRPr lang="en-US" sz="1800" dirty="0">
              <a:latin typeface="Times New Roman" panose="02020603050405020304" pitchFamily="18" charset="0"/>
              <a:cs typeface="Times New Roman" panose="02020603050405020304" pitchFamily="18" charset="0"/>
            </a:endParaRPr>
          </a:p>
          <a:p>
            <a:r>
              <a:rPr lang="en-US" sz="1800" b="1" u="sng" dirty="0">
                <a:latin typeface="Times New Roman" panose="02020603050405020304" pitchFamily="18" charset="0"/>
                <a:cs typeface="Times New Roman" panose="02020603050405020304" pitchFamily="18" charset="0"/>
              </a:rPr>
              <a:t>Proposal: A good leg, or more specific, a good ankle will help the machinery to traverse better in rough environments.</a:t>
            </a:r>
          </a:p>
        </p:txBody>
      </p:sp>
      <p:pic>
        <p:nvPicPr>
          <p:cNvPr id="4" name="Picture 3">
            <a:extLst>
              <a:ext uri="{FF2B5EF4-FFF2-40B4-BE49-F238E27FC236}">
                <a16:creationId xmlns:a16="http://schemas.microsoft.com/office/drawing/2014/main" id="{8BE09806-1C31-8A97-E609-E71A477603B6}"/>
              </a:ext>
            </a:extLst>
          </p:cNvPr>
          <p:cNvPicPr>
            <a:picLocks noChangeAspect="1"/>
          </p:cNvPicPr>
          <p:nvPr/>
        </p:nvPicPr>
        <p:blipFill>
          <a:blip r:embed="rId2"/>
          <a:srcRect l="18101" r="7312"/>
          <a:stretch/>
        </p:blipFill>
        <p:spPr>
          <a:xfrm>
            <a:off x="7612260" y="-1"/>
            <a:ext cx="4579739" cy="3438457"/>
          </a:xfrm>
          <a:prstGeom prst="rect">
            <a:avLst/>
          </a:prstGeom>
        </p:spPr>
      </p:pic>
      <p:sp>
        <p:nvSpPr>
          <p:cNvPr id="20" name="Rectangle 19">
            <a:extLst>
              <a:ext uri="{FF2B5EF4-FFF2-40B4-BE49-F238E27FC236}">
                <a16:creationId xmlns:a16="http://schemas.microsoft.com/office/drawing/2014/main" id="{E67E3959-D0D8-49DB-A48B-CE4FC3687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6" name="Picture 5">
            <a:extLst>
              <a:ext uri="{FF2B5EF4-FFF2-40B4-BE49-F238E27FC236}">
                <a16:creationId xmlns:a16="http://schemas.microsoft.com/office/drawing/2014/main" id="{1E390260-62AD-B13A-0359-02F63C3AF5EF}"/>
              </a:ext>
            </a:extLst>
          </p:cNvPr>
          <p:cNvPicPr>
            <a:picLocks noChangeAspect="1"/>
          </p:cNvPicPr>
          <p:nvPr/>
        </p:nvPicPr>
        <p:blipFill>
          <a:blip r:embed="rId3"/>
          <a:srcRect l="8332" r="-3" b="-3"/>
          <a:stretch/>
        </p:blipFill>
        <p:spPr>
          <a:xfrm>
            <a:off x="7612260" y="3438457"/>
            <a:ext cx="4579739" cy="3429000"/>
          </a:xfrm>
          <a:prstGeom prst="rect">
            <a:avLst/>
          </a:prstGeom>
        </p:spPr>
      </p:pic>
    </p:spTree>
    <p:extLst>
      <p:ext uri="{BB962C8B-B14F-4D97-AF65-F5344CB8AC3E}">
        <p14:creationId xmlns:p14="http://schemas.microsoft.com/office/powerpoint/2010/main" val="595308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B08E-E18D-D485-E4A9-A50BEE429BAA}"/>
              </a:ext>
            </a:extLst>
          </p:cNvPr>
          <p:cNvSpPr>
            <a:spLocks noGrp="1"/>
          </p:cNvSpPr>
          <p:nvPr>
            <p:ph type="title"/>
          </p:nvPr>
        </p:nvSpPr>
        <p:spPr>
          <a:xfrm>
            <a:off x="1371600" y="685800"/>
            <a:ext cx="3282695" cy="1485900"/>
          </a:xfrm>
        </p:spPr>
        <p:txBody>
          <a:bodyPr>
            <a:normAutofit/>
          </a:bodyPr>
          <a:lstStyle/>
          <a:p>
            <a:r>
              <a:rPr lang="en-CN" sz="4100" dirty="0"/>
              <a:t>Why Human Ankle?</a:t>
            </a:r>
          </a:p>
        </p:txBody>
      </p:sp>
      <p:sp>
        <p:nvSpPr>
          <p:cNvPr id="3" name="Content Placeholder 2">
            <a:extLst>
              <a:ext uri="{FF2B5EF4-FFF2-40B4-BE49-F238E27FC236}">
                <a16:creationId xmlns:a16="http://schemas.microsoft.com/office/drawing/2014/main" id="{A42FD7EB-03CC-CB1E-9009-B0C97A4F11C0}"/>
              </a:ext>
            </a:extLst>
          </p:cNvPr>
          <p:cNvSpPr>
            <a:spLocks noGrp="1"/>
          </p:cNvSpPr>
          <p:nvPr>
            <p:ph idx="1"/>
          </p:nvPr>
        </p:nvSpPr>
        <p:spPr>
          <a:xfrm>
            <a:off x="1371600" y="2286000"/>
            <a:ext cx="3282694" cy="3581400"/>
          </a:xfrm>
        </p:spPr>
        <p:txBody>
          <a:bodyPr>
            <a:normAutofit fontScale="92500" lnSpcReduction="20000"/>
          </a:bodyPr>
          <a:lstStyle/>
          <a:p>
            <a:r>
              <a:rPr lang="en-CN" dirty="0"/>
              <a:t>I need an ankle, allowing 2 dimensional movement, that have the ability to travel in all kinds of terrain.</a:t>
            </a:r>
          </a:p>
          <a:p>
            <a:r>
              <a:rPr lang="en-CN" dirty="0"/>
              <a:t>Human ankle:</a:t>
            </a:r>
          </a:p>
          <a:p>
            <a:pPr lvl="1"/>
            <a:r>
              <a:rPr lang="en-CN" dirty="0"/>
              <a:t>exceled at self adapting to different environment, </a:t>
            </a:r>
          </a:p>
          <a:p>
            <a:pPr lvl="1"/>
            <a:r>
              <a:rPr lang="en-CN" dirty="0"/>
              <a:t>is stable in these different environments, </a:t>
            </a:r>
          </a:p>
          <a:p>
            <a:pPr lvl="1"/>
            <a:r>
              <a:rPr lang="en-CN" dirty="0"/>
              <a:t>and is energy efficent</a:t>
            </a:r>
          </a:p>
        </p:txBody>
      </p:sp>
      <p:pic>
        <p:nvPicPr>
          <p:cNvPr id="4" name="Picture 3">
            <a:extLst>
              <a:ext uri="{FF2B5EF4-FFF2-40B4-BE49-F238E27FC236}">
                <a16:creationId xmlns:a16="http://schemas.microsoft.com/office/drawing/2014/main" id="{A7B7D730-A650-CA99-5738-0E413C461864}"/>
              </a:ext>
            </a:extLst>
          </p:cNvPr>
          <p:cNvPicPr>
            <a:picLocks noChangeAspect="1"/>
          </p:cNvPicPr>
          <p:nvPr/>
        </p:nvPicPr>
        <p:blipFill>
          <a:blip r:embed="rId2"/>
          <a:stretch>
            <a:fillRect/>
          </a:stretch>
        </p:blipFill>
        <p:spPr>
          <a:xfrm>
            <a:off x="9851244" y="3429000"/>
            <a:ext cx="2232910" cy="1485900"/>
          </a:xfrm>
          <a:prstGeom prst="rect">
            <a:avLst/>
          </a:prstGeom>
        </p:spPr>
      </p:pic>
      <p:pic>
        <p:nvPicPr>
          <p:cNvPr id="6" name="Picture 5" descr="A close-up of a rocky surface&#10;&#10;Description automatically generated">
            <a:extLst>
              <a:ext uri="{FF2B5EF4-FFF2-40B4-BE49-F238E27FC236}">
                <a16:creationId xmlns:a16="http://schemas.microsoft.com/office/drawing/2014/main" id="{32C6D198-3B57-98AF-976A-8882D34BBFDF}"/>
              </a:ext>
            </a:extLst>
          </p:cNvPr>
          <p:cNvPicPr>
            <a:picLocks noChangeAspect="1"/>
          </p:cNvPicPr>
          <p:nvPr/>
        </p:nvPicPr>
        <p:blipFill>
          <a:blip r:embed="rId3"/>
          <a:stretch>
            <a:fillRect/>
          </a:stretch>
        </p:blipFill>
        <p:spPr>
          <a:xfrm>
            <a:off x="5863523" y="4418665"/>
            <a:ext cx="4044297" cy="1908589"/>
          </a:xfrm>
          <a:prstGeom prst="rect">
            <a:avLst/>
          </a:prstGeom>
        </p:spPr>
      </p:pic>
      <p:pic>
        <p:nvPicPr>
          <p:cNvPr id="8" name="Picture 7" descr="A close-up of a rocky hill&#10;&#10;Description automatically generated">
            <a:extLst>
              <a:ext uri="{FF2B5EF4-FFF2-40B4-BE49-F238E27FC236}">
                <a16:creationId xmlns:a16="http://schemas.microsoft.com/office/drawing/2014/main" id="{0B4F603C-8CA6-9D5C-5FAB-DACC062CABA4}"/>
              </a:ext>
            </a:extLst>
          </p:cNvPr>
          <p:cNvPicPr>
            <a:picLocks noChangeAspect="1"/>
          </p:cNvPicPr>
          <p:nvPr/>
        </p:nvPicPr>
        <p:blipFill>
          <a:blip r:embed="rId4"/>
          <a:stretch>
            <a:fillRect/>
          </a:stretch>
        </p:blipFill>
        <p:spPr>
          <a:xfrm>
            <a:off x="5863523" y="1874098"/>
            <a:ext cx="4044297" cy="1877922"/>
          </a:xfrm>
          <a:prstGeom prst="rect">
            <a:avLst/>
          </a:prstGeom>
        </p:spPr>
      </p:pic>
    </p:spTree>
    <p:extLst>
      <p:ext uri="{BB962C8B-B14F-4D97-AF65-F5344CB8AC3E}">
        <p14:creationId xmlns:p14="http://schemas.microsoft.com/office/powerpoint/2010/main" val="421712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19F8B-B1E4-986E-36EB-E5F4383B8E0A}"/>
              </a:ext>
            </a:extLst>
          </p:cNvPr>
          <p:cNvSpPr>
            <a:spLocks noGrp="1"/>
          </p:cNvSpPr>
          <p:nvPr>
            <p:ph type="title"/>
          </p:nvPr>
        </p:nvSpPr>
        <p:spPr/>
        <p:txBody>
          <a:bodyPr/>
          <a:lstStyle/>
          <a:p>
            <a:r>
              <a:rPr lang="en-CN" dirty="0">
                <a:latin typeface="Times New Roman" panose="02020603050405020304" pitchFamily="18" charset="0"/>
                <a:cs typeface="Times New Roman" panose="02020603050405020304" pitchFamily="18" charset="0"/>
              </a:rPr>
              <a:t>Innovation and Challenges</a:t>
            </a:r>
          </a:p>
        </p:txBody>
      </p:sp>
      <p:sp>
        <p:nvSpPr>
          <p:cNvPr id="3" name="Content Placeholder 2">
            <a:extLst>
              <a:ext uri="{FF2B5EF4-FFF2-40B4-BE49-F238E27FC236}">
                <a16:creationId xmlns:a16="http://schemas.microsoft.com/office/drawing/2014/main" id="{10266FE6-B29F-D87D-2683-ECBC185E0BB0}"/>
              </a:ext>
            </a:extLst>
          </p:cNvPr>
          <p:cNvSpPr>
            <a:spLocks noGrp="1"/>
          </p:cNvSpPr>
          <p:nvPr>
            <p:ph idx="1"/>
          </p:nvPr>
        </p:nvSpPr>
        <p:spPr>
          <a:xfrm>
            <a:off x="1371600" y="1460310"/>
            <a:ext cx="9601200" cy="4407090"/>
          </a:xfrm>
        </p:spPr>
        <p:txBody>
          <a:bodyPr>
            <a:normAutofit/>
          </a:bodyPr>
          <a:lstStyle/>
          <a:p>
            <a:r>
              <a:rPr lang="en-US" sz="2000" dirty="0">
                <a:latin typeface="Times New Roman" panose="02020603050405020304" pitchFamily="18" charset="0"/>
                <a:cs typeface="Times New Roman" panose="02020603050405020304" pitchFamily="18" charset="0"/>
              </a:rPr>
              <a:t>Which will include: </a:t>
            </a:r>
          </a:p>
          <a:p>
            <a:pPr lvl="1"/>
            <a:r>
              <a:rPr lang="en-US" dirty="0">
                <a:latin typeface="Times New Roman" panose="02020603050405020304" pitchFamily="18" charset="0"/>
                <a:cs typeface="Times New Roman" panose="02020603050405020304" pitchFamily="18" charset="0"/>
              </a:rPr>
              <a:t>an additional motor to control not only the leg's dorsiflexion and plantar flexion, but also </a:t>
            </a:r>
            <a:r>
              <a:rPr lang="en-US" b="1" dirty="0">
                <a:latin typeface="Times New Roman" panose="02020603050405020304" pitchFamily="18" charset="0"/>
                <a:cs typeface="Times New Roman" panose="02020603050405020304" pitchFamily="18" charset="0"/>
              </a:rPr>
              <a:t>inversion and eversion movement </a:t>
            </a:r>
            <a:r>
              <a:rPr lang="en-US" dirty="0">
                <a:latin typeface="Times New Roman" panose="02020603050405020304" pitchFamily="18" charset="0"/>
                <a:cs typeface="Times New Roman" panose="02020603050405020304" pitchFamily="18" charset="0"/>
              </a:rPr>
              <a:t>of an ankle in human leg</a:t>
            </a:r>
          </a:p>
          <a:p>
            <a:pPr lvl="1"/>
            <a:r>
              <a:rPr lang="en-US" b="1" dirty="0">
                <a:latin typeface="Times New Roman" panose="02020603050405020304" pitchFamily="18" charset="0"/>
                <a:cs typeface="Times New Roman" panose="02020603050405020304" pitchFamily="18" charset="0"/>
              </a:rPr>
              <a:t>a self adaptive program </a:t>
            </a:r>
            <a:r>
              <a:rPr lang="en-US" dirty="0">
                <a:latin typeface="Times New Roman" panose="02020603050405020304" pitchFamily="18" charset="0"/>
                <a:cs typeface="Times New Roman" panose="02020603050405020304" pitchFamily="18" charset="0"/>
              </a:rPr>
              <a:t>for it to aid movement</a:t>
            </a:r>
          </a:p>
          <a:p>
            <a:pPr lvl="1"/>
            <a:r>
              <a:rPr lang="en-US" b="1" dirty="0">
                <a:latin typeface="Times New Roman" panose="02020603050405020304" pitchFamily="18" charset="0"/>
                <a:cs typeface="Times New Roman" panose="02020603050405020304" pitchFamily="18" charset="0"/>
              </a:rPr>
              <a:t>the usage of motor system </a:t>
            </a:r>
            <a:r>
              <a:rPr lang="en-US" dirty="0">
                <a:latin typeface="Times New Roman" panose="02020603050405020304" pitchFamily="18" charset="0"/>
                <a:cs typeface="Times New Roman" panose="02020603050405020304" pitchFamily="18" charset="0"/>
              </a:rPr>
              <a:t>to simulate the muscles in human leg</a:t>
            </a:r>
          </a:p>
          <a:p>
            <a:pPr lvl="1"/>
            <a:r>
              <a:rPr lang="en-US" b="1" dirty="0">
                <a:latin typeface="Times New Roman" panose="02020603050405020304" pitchFamily="18" charset="0"/>
                <a:cs typeface="Times New Roman" panose="02020603050405020304" pitchFamily="18" charset="0"/>
              </a:rPr>
              <a:t>the usage of springs</a:t>
            </a:r>
            <a:r>
              <a:rPr lang="en-US" dirty="0">
                <a:latin typeface="Times New Roman" panose="02020603050405020304" pitchFamily="18" charset="0"/>
                <a:cs typeface="Times New Roman" panose="02020603050405020304" pitchFamily="18" charset="0"/>
              </a:rPr>
              <a:t> to simulate the shock absorption mechanics in human leg</a:t>
            </a:r>
          </a:p>
          <a:p>
            <a:r>
              <a:rPr lang="en-US" sz="2000" dirty="0">
                <a:latin typeface="Times New Roman" panose="02020603050405020304" pitchFamily="18" charset="0"/>
                <a:cs typeface="Times New Roman" panose="02020603050405020304" pitchFamily="18" charset="0"/>
              </a:rPr>
              <a:t>Challenges:</a:t>
            </a:r>
          </a:p>
          <a:p>
            <a:pPr lvl="1"/>
            <a:r>
              <a:rPr lang="en-CN" dirty="0">
                <a:latin typeface="Times New Roman" panose="02020603050405020304" pitchFamily="18" charset="0"/>
                <a:cs typeface="Times New Roman" panose="02020603050405020304" pitchFamily="18" charset="0"/>
              </a:rPr>
              <a:t>1. Mechanical Structure: How are the two motors in the ankle goint to be placed?</a:t>
            </a:r>
          </a:p>
          <a:p>
            <a:pPr lvl="1"/>
            <a:r>
              <a:rPr lang="en-CN" dirty="0">
                <a:latin typeface="Times New Roman" panose="02020603050405020304" pitchFamily="18" charset="0"/>
                <a:cs typeface="Times New Roman" panose="02020603050405020304" pitchFamily="18" charset="0"/>
              </a:rPr>
              <a:t>2. Reaction to the Ground: How does the bionic ankle sense the ground?</a:t>
            </a:r>
          </a:p>
          <a:p>
            <a:pPr lvl="1"/>
            <a:r>
              <a:rPr lang="en-CN" dirty="0">
                <a:latin typeface="Times New Roman" panose="02020603050405020304" pitchFamily="18" charset="0"/>
                <a:cs typeface="Times New Roman" panose="02020603050405020304" pitchFamily="18" charset="0"/>
              </a:rPr>
              <a:t>3. Connection: How should the motors and the sensors collborate?</a:t>
            </a:r>
          </a:p>
          <a:p>
            <a:endParaRPr lang="en-US" sz="2000" dirty="0">
              <a:latin typeface="Times New Roman" panose="02020603050405020304" pitchFamily="18" charset="0"/>
              <a:cs typeface="Times New Roman" panose="02020603050405020304" pitchFamily="18" charset="0"/>
            </a:endParaRPr>
          </a:p>
          <a:p>
            <a:endParaRPr lang="en-CN" sz="2000" dirty="0"/>
          </a:p>
          <a:p>
            <a:endParaRPr lang="en-CN" dirty="0"/>
          </a:p>
        </p:txBody>
      </p:sp>
    </p:spTree>
    <p:extLst>
      <p:ext uri="{BB962C8B-B14F-4D97-AF65-F5344CB8AC3E}">
        <p14:creationId xmlns:p14="http://schemas.microsoft.com/office/powerpoint/2010/main" val="3116676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620B-E66B-5957-16A5-2E952D8FFD01}"/>
              </a:ext>
            </a:extLst>
          </p:cNvPr>
          <p:cNvSpPr>
            <a:spLocks noGrp="1"/>
          </p:cNvSpPr>
          <p:nvPr>
            <p:ph type="title"/>
          </p:nvPr>
        </p:nvSpPr>
        <p:spPr>
          <a:xfrm>
            <a:off x="1371600" y="685800"/>
            <a:ext cx="9601200" cy="1485900"/>
          </a:xfrm>
        </p:spPr>
        <p:txBody>
          <a:bodyPr>
            <a:normAutofit/>
          </a:bodyPr>
          <a:lstStyle/>
          <a:p>
            <a:r>
              <a:rPr lang="en-CN">
                <a:latin typeface="Times New Roman" panose="02020603050405020304" pitchFamily="18" charset="0"/>
                <a:cs typeface="Times New Roman" panose="02020603050405020304" pitchFamily="18" charset="0"/>
              </a:rPr>
              <a:t>Structural Design</a:t>
            </a:r>
            <a:endParaRPr lang="en-C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E4DB61-D531-7AD3-10C6-2CB864814BF4}"/>
              </a:ext>
            </a:extLst>
          </p:cNvPr>
          <p:cNvSpPr>
            <a:spLocks noGrp="1"/>
          </p:cNvSpPr>
          <p:nvPr>
            <p:ph idx="1"/>
          </p:nvPr>
        </p:nvSpPr>
        <p:spPr>
          <a:xfrm>
            <a:off x="1371600" y="2286000"/>
            <a:ext cx="4435310" cy="3581400"/>
          </a:xfrm>
        </p:spPr>
        <p:txBody>
          <a:bodyPr>
            <a:normAutofit/>
          </a:bodyPr>
          <a:lstStyle/>
          <a:p>
            <a:r>
              <a:rPr lang="en-US" dirty="0">
                <a:latin typeface="Times New Roman" panose="02020603050405020304" pitchFamily="18" charset="0"/>
                <a:cs typeface="Times New Roman" panose="02020603050405020304" pitchFamily="18" charset="0"/>
              </a:rPr>
              <a:t>U</a:t>
            </a:r>
            <a:r>
              <a:rPr lang="en-CN" dirty="0">
                <a:latin typeface="Times New Roman" panose="02020603050405020304" pitchFamily="18" charset="0"/>
                <a:cs typeface="Times New Roman" panose="02020603050405020304" pitchFamily="18" charset="0"/>
              </a:rPr>
              <a:t>se Solidworks to plan out the whole structure and record the parts needed to build the whole structure. </a:t>
            </a:r>
          </a:p>
          <a:p>
            <a:r>
              <a:rPr lang="en-CN" dirty="0">
                <a:latin typeface="Times New Roman" panose="02020603050405020304" pitchFamily="18" charset="0"/>
                <a:cs typeface="Times New Roman" panose="02020603050405020304" pitchFamily="18" charset="0"/>
              </a:rPr>
              <a:t>Motor-string system to bal</a:t>
            </a:r>
            <a:r>
              <a:rPr lang="en-US" dirty="0">
                <a:latin typeface="Times New Roman" panose="02020603050405020304" pitchFamily="18" charset="0"/>
                <a:cs typeface="Times New Roman" panose="02020603050405020304" pitchFamily="18" charset="0"/>
              </a:rPr>
              <a:t>a</a:t>
            </a:r>
            <a:r>
              <a:rPr lang="en-CN" dirty="0">
                <a:latin typeface="Times New Roman" panose="02020603050405020304" pitchFamily="18" charset="0"/>
                <a:cs typeface="Times New Roman" panose="02020603050405020304" pitchFamily="18" charset="0"/>
              </a:rPr>
              <a:t>nce the weight of the object</a:t>
            </a:r>
          </a:p>
          <a:p>
            <a:r>
              <a:rPr lang="en-CN" dirty="0">
                <a:latin typeface="Times New Roman" panose="02020603050405020304" pitchFamily="18" charset="0"/>
                <a:cs typeface="Times New Roman" panose="02020603050405020304" pitchFamily="18" charset="0"/>
              </a:rPr>
              <a:t>Usage of springs to absorb shock</a:t>
            </a:r>
          </a:p>
          <a:p>
            <a:pPr marL="0" indent="0">
              <a:buNone/>
            </a:pPr>
            <a:endParaRPr lang="en-CN" dirty="0">
              <a:latin typeface="Times New Roman" panose="02020603050405020304" pitchFamily="18" charset="0"/>
              <a:cs typeface="Times New Roman" panose="02020603050405020304" pitchFamily="18" charset="0"/>
            </a:endParaRPr>
          </a:p>
          <a:p>
            <a:pPr marL="0" indent="0">
              <a:buNone/>
            </a:pPr>
            <a:endParaRPr lang="en-CN" dirty="0">
              <a:latin typeface="Times New Roman" panose="02020603050405020304" pitchFamily="18" charset="0"/>
              <a:cs typeface="Times New Roman" panose="02020603050405020304" pitchFamily="18" charset="0"/>
            </a:endParaRPr>
          </a:p>
          <a:p>
            <a:pPr algn="r"/>
            <a:r>
              <a:rPr lang="en-CN" dirty="0"/>
              <a:t>3.17 – 3.31</a:t>
            </a:r>
          </a:p>
        </p:txBody>
      </p:sp>
      <p:pic>
        <p:nvPicPr>
          <p:cNvPr id="6" name="Picture 5" descr="A mechanical device with a metal base&#10;&#10;Description automatically generated with medium confidence">
            <a:extLst>
              <a:ext uri="{FF2B5EF4-FFF2-40B4-BE49-F238E27FC236}">
                <a16:creationId xmlns:a16="http://schemas.microsoft.com/office/drawing/2014/main" id="{B6D4FFE0-F149-4D99-4D5A-E73E203B1872}"/>
              </a:ext>
            </a:extLst>
          </p:cNvPr>
          <p:cNvPicPr>
            <a:picLocks noChangeAspect="1"/>
          </p:cNvPicPr>
          <p:nvPr/>
        </p:nvPicPr>
        <p:blipFill>
          <a:blip r:embed="rId2"/>
          <a:srcRect l="15202" r="14291" b="4"/>
          <a:stretch/>
        </p:blipFill>
        <p:spPr>
          <a:xfrm>
            <a:off x="6104467" y="2265037"/>
            <a:ext cx="2445173" cy="3749039"/>
          </a:xfrm>
          <a:prstGeom prst="rect">
            <a:avLst/>
          </a:prstGeom>
        </p:spPr>
      </p:pic>
      <p:pic>
        <p:nvPicPr>
          <p:cNvPr id="5" name="Picture 4">
            <a:extLst>
              <a:ext uri="{FF2B5EF4-FFF2-40B4-BE49-F238E27FC236}">
                <a16:creationId xmlns:a16="http://schemas.microsoft.com/office/drawing/2014/main" id="{45437F8A-65DC-58E1-1094-0452860CCF9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41" r="25137" b="4"/>
          <a:stretch/>
        </p:blipFill>
        <p:spPr bwMode="auto">
          <a:xfrm>
            <a:off x="8558107" y="423884"/>
            <a:ext cx="2262293" cy="1747816"/>
          </a:xfrm>
          <a:prstGeom prst="rect">
            <a:avLst/>
          </a:prstGeom>
          <a:extLst>
            <a:ext uri="{53640926-AAD7-44D8-BBD7-CCE9431645EC}">
              <a14:shadowObscured xmlns:a14="http://schemas.microsoft.com/office/drawing/2010/main"/>
            </a:ext>
          </a:extLst>
        </p:spPr>
      </p:pic>
      <p:pic>
        <p:nvPicPr>
          <p:cNvPr id="8" name="Picture 7" descr="A drawing of a mechanical arm&#10;&#10;Description automatically generated">
            <a:extLst>
              <a:ext uri="{FF2B5EF4-FFF2-40B4-BE49-F238E27FC236}">
                <a16:creationId xmlns:a16="http://schemas.microsoft.com/office/drawing/2014/main" id="{38E24579-EC92-8138-C902-4F321C9DCC0F}"/>
              </a:ext>
            </a:extLst>
          </p:cNvPr>
          <p:cNvPicPr>
            <a:picLocks noChangeAspect="1"/>
          </p:cNvPicPr>
          <p:nvPr/>
        </p:nvPicPr>
        <p:blipFill>
          <a:blip r:embed="rId4"/>
          <a:stretch>
            <a:fillRect/>
          </a:stretch>
        </p:blipFill>
        <p:spPr>
          <a:xfrm>
            <a:off x="8372576" y="2286000"/>
            <a:ext cx="3389910" cy="3728076"/>
          </a:xfrm>
          <a:prstGeom prst="rect">
            <a:avLst/>
          </a:prstGeom>
        </p:spPr>
      </p:pic>
    </p:spTree>
    <p:extLst>
      <p:ext uri="{BB962C8B-B14F-4D97-AF65-F5344CB8AC3E}">
        <p14:creationId xmlns:p14="http://schemas.microsoft.com/office/powerpoint/2010/main" val="3552364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D7D7F0C-622D-4D84-A68D-C1AF54B63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 name="Title 1">
            <a:extLst>
              <a:ext uri="{FF2B5EF4-FFF2-40B4-BE49-F238E27FC236}">
                <a16:creationId xmlns:a16="http://schemas.microsoft.com/office/drawing/2014/main" id="{B3503ACF-2B55-7A22-7477-E0664DF193B9}"/>
              </a:ext>
            </a:extLst>
          </p:cNvPr>
          <p:cNvSpPr>
            <a:spLocks noGrp="1"/>
          </p:cNvSpPr>
          <p:nvPr>
            <p:ph type="title"/>
          </p:nvPr>
        </p:nvSpPr>
        <p:spPr>
          <a:xfrm>
            <a:off x="640081" y="631373"/>
            <a:ext cx="4470538" cy="2035628"/>
          </a:xfrm>
        </p:spPr>
        <p:txBody>
          <a:bodyPr vert="horz" lIns="91440" tIns="45720" rIns="91440" bIns="45720" rtlCol="0" anchor="t">
            <a:normAutofit/>
          </a:bodyPr>
          <a:lstStyle/>
          <a:p>
            <a:r>
              <a:rPr lang="en-US" cap="all" dirty="0">
                <a:latin typeface="Times New Roman" panose="02020603050405020304" pitchFamily="18" charset="0"/>
                <a:cs typeface="Times New Roman" panose="02020603050405020304" pitchFamily="18" charset="0"/>
              </a:rPr>
              <a:t>Software Programming</a:t>
            </a:r>
          </a:p>
        </p:txBody>
      </p:sp>
      <p:sp>
        <p:nvSpPr>
          <p:cNvPr id="3" name="TextBox 2">
            <a:extLst>
              <a:ext uri="{FF2B5EF4-FFF2-40B4-BE49-F238E27FC236}">
                <a16:creationId xmlns:a16="http://schemas.microsoft.com/office/drawing/2014/main" id="{000E0117-C5A0-1AB4-F1E1-972889344F3D}"/>
              </a:ext>
            </a:extLst>
          </p:cNvPr>
          <p:cNvSpPr txBox="1"/>
          <p:nvPr/>
        </p:nvSpPr>
        <p:spPr>
          <a:xfrm>
            <a:off x="640082" y="2479355"/>
            <a:ext cx="3984170" cy="4173994"/>
          </a:xfrm>
          <a:prstGeom prst="rect">
            <a:avLst/>
          </a:prstGeom>
        </p:spPr>
        <p:txBody>
          <a:bodyPr vert="horz" lIns="91440" tIns="45720" rIns="91440" bIns="45720" rtlCol="0">
            <a:normAutofit/>
          </a:bodyPr>
          <a:lstStyle/>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r>
              <a:rPr lang="en-US" sz="2000" dirty="0">
                <a:solidFill>
                  <a:schemeClr val="tx2"/>
                </a:solidFill>
                <a:latin typeface="Times New Roman" panose="02020603050405020304" pitchFamily="18" charset="0"/>
                <a:cs typeface="Times New Roman" panose="02020603050405020304" pitchFamily="18" charset="0"/>
              </a:rPr>
              <a:t>The laser distance sensors is implemented with the right diagram.</a:t>
            </a: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r>
              <a:rPr lang="en-US" sz="2000" dirty="0">
                <a:solidFill>
                  <a:schemeClr val="tx2"/>
                </a:solidFill>
                <a:latin typeface="Times New Roman" panose="02020603050405020304" pitchFamily="18" charset="0"/>
                <a:cs typeface="Times New Roman" panose="02020603050405020304" pitchFamily="18" charset="0"/>
              </a:rPr>
              <a:t>The PID controller will self-adjust the two angles, roll and pitch to quickly and efficiently adjust the angle of the foot, making it parallel to the ground.</a:t>
            </a:r>
          </a:p>
          <a:p>
            <a:pPr indent="-384048" defTabSz="914400">
              <a:lnSpc>
                <a:spcPct val="94000"/>
              </a:lnSpc>
              <a:spcAft>
                <a:spcPts val="200"/>
              </a:spcAft>
              <a:buFont typeface="Franklin Gothic Book" panose="020B0503020102020204" pitchFamily="34" charset="0"/>
            </a:pPr>
            <a:endParaRPr lang="en-US"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p:txBody>
      </p:sp>
      <p:sp>
        <p:nvSpPr>
          <p:cNvPr id="73" name="Rectangle 72">
            <a:extLst>
              <a:ext uri="{FF2B5EF4-FFF2-40B4-BE49-F238E27FC236}">
                <a16:creationId xmlns:a16="http://schemas.microsoft.com/office/drawing/2014/main" id="{02A2E7B6-CE50-4B96-A981-2A0250732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5" name="Content Placeholder 4" descr="A diagram of a box&#10;&#10;Description automatically generated">
            <a:extLst>
              <a:ext uri="{FF2B5EF4-FFF2-40B4-BE49-F238E27FC236}">
                <a16:creationId xmlns:a16="http://schemas.microsoft.com/office/drawing/2014/main" id="{5FE7FA65-BBDD-C26D-E54D-2656E0A26743}"/>
              </a:ext>
            </a:extLst>
          </p:cNvPr>
          <p:cNvPicPr>
            <a:picLocks noChangeAspect="1"/>
          </p:cNvPicPr>
          <p:nvPr/>
        </p:nvPicPr>
        <p:blipFill>
          <a:blip r:embed="rId2"/>
          <a:stretch>
            <a:fillRect/>
          </a:stretch>
        </p:blipFill>
        <p:spPr>
          <a:xfrm>
            <a:off x="6096000" y="393026"/>
            <a:ext cx="5384074" cy="2086329"/>
          </a:xfrm>
          <a:prstGeom prst="rect">
            <a:avLst/>
          </a:prstGeom>
        </p:spPr>
      </p:pic>
      <p:pic>
        <p:nvPicPr>
          <p:cNvPr id="10" name="Content Placeholder 9" descr="A diagram of a flowchart&#10;&#10;Description automatically generated">
            <a:extLst>
              <a:ext uri="{FF2B5EF4-FFF2-40B4-BE49-F238E27FC236}">
                <a16:creationId xmlns:a16="http://schemas.microsoft.com/office/drawing/2014/main" id="{FB1DF090-C9F4-2FE9-E0C6-15FCA5CB53C4}"/>
              </a:ext>
            </a:extLst>
          </p:cNvPr>
          <p:cNvPicPr>
            <a:picLocks noGrp="1" noChangeAspect="1"/>
          </p:cNvPicPr>
          <p:nvPr>
            <p:ph idx="1"/>
          </p:nvPr>
        </p:nvPicPr>
        <p:blipFill>
          <a:blip r:embed="rId3"/>
          <a:stretch>
            <a:fillRect/>
          </a:stretch>
        </p:blipFill>
        <p:spPr>
          <a:xfrm>
            <a:off x="5855330" y="2877535"/>
            <a:ext cx="5886710" cy="3002221"/>
          </a:xfrm>
          <a:prstGeom prst="rect">
            <a:avLst/>
          </a:prstGeom>
        </p:spPr>
      </p:pic>
    </p:spTree>
    <p:extLst>
      <p:ext uri="{BB962C8B-B14F-4D97-AF65-F5344CB8AC3E}">
        <p14:creationId xmlns:p14="http://schemas.microsoft.com/office/powerpoint/2010/main" val="334619481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E2B8A2D-F46F-4DA5-8AFF-BC57461C2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C8775-C7CB-B211-293F-CB72520F0FC6}"/>
              </a:ext>
            </a:extLst>
          </p:cNvPr>
          <p:cNvSpPr>
            <a:spLocks noGrp="1"/>
          </p:cNvSpPr>
          <p:nvPr>
            <p:ph type="title"/>
          </p:nvPr>
        </p:nvSpPr>
        <p:spPr>
          <a:xfrm>
            <a:off x="1025318" y="109413"/>
            <a:ext cx="11166682" cy="1485900"/>
          </a:xfrm>
        </p:spPr>
        <p:txBody>
          <a:bodyPr>
            <a:normAutofit/>
          </a:bodyPr>
          <a:lstStyle/>
          <a:p>
            <a:r>
              <a:rPr lang="en-CN" dirty="0"/>
              <a:t>First model                                 Second Model</a:t>
            </a:r>
          </a:p>
        </p:txBody>
      </p:sp>
      <p:sp>
        <p:nvSpPr>
          <p:cNvPr id="3" name="Content Placeholder 2">
            <a:extLst>
              <a:ext uri="{FF2B5EF4-FFF2-40B4-BE49-F238E27FC236}">
                <a16:creationId xmlns:a16="http://schemas.microsoft.com/office/drawing/2014/main" id="{71D2BB23-F68C-6E5A-B978-BA09B9614D01}"/>
              </a:ext>
            </a:extLst>
          </p:cNvPr>
          <p:cNvSpPr>
            <a:spLocks noGrp="1"/>
          </p:cNvSpPr>
          <p:nvPr>
            <p:ph idx="1"/>
          </p:nvPr>
        </p:nvSpPr>
        <p:spPr>
          <a:xfrm>
            <a:off x="4221183" y="1793019"/>
            <a:ext cx="3053074" cy="3581400"/>
          </a:xfrm>
        </p:spPr>
        <p:txBody>
          <a:bodyPr>
            <a:normAutofit fontScale="85000" lnSpcReduction="10000"/>
          </a:bodyPr>
          <a:lstStyle/>
          <a:p>
            <a:r>
              <a:rPr lang="en-CN" dirty="0"/>
              <a:t>I started on the first prototype of the bionic ankle to work on the code.</a:t>
            </a:r>
          </a:p>
          <a:p>
            <a:pPr algn="r"/>
            <a:r>
              <a:rPr lang="en-CN" dirty="0"/>
              <a:t>4.5 – 6.24</a:t>
            </a:r>
          </a:p>
          <a:p>
            <a:r>
              <a:rPr lang="en-CN" dirty="0"/>
              <a:t>3D printed materials cannot withstand the force exerted by the motors, so aluminium boards are needed. </a:t>
            </a:r>
          </a:p>
          <a:p>
            <a:r>
              <a:rPr lang="en-CN" dirty="0"/>
              <a:t>A damping is needed to use up the additional motors force.</a:t>
            </a:r>
          </a:p>
          <a:p>
            <a:pPr marL="0" indent="0" algn="r">
              <a:buNone/>
            </a:pPr>
            <a:r>
              <a:rPr lang="en-CN" dirty="0"/>
              <a:t>6.24 - now</a:t>
            </a:r>
          </a:p>
          <a:p>
            <a:pPr marL="0" indent="0" algn="r">
              <a:buNone/>
            </a:pPr>
            <a:endParaRPr lang="en-CN" dirty="0"/>
          </a:p>
          <a:p>
            <a:pPr algn="r"/>
            <a:endParaRPr lang="en-CN" dirty="0"/>
          </a:p>
        </p:txBody>
      </p:sp>
      <p:sp>
        <p:nvSpPr>
          <p:cNvPr id="1033" name="Rectangle 1032">
            <a:extLst>
              <a:ext uri="{FF2B5EF4-FFF2-40B4-BE49-F238E27FC236}">
                <a16:creationId xmlns:a16="http://schemas.microsoft.com/office/drawing/2014/main" id="{292BAD85-00E4-4D0A-993C-8372E78E1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1026" name="Picture 2">
            <a:extLst>
              <a:ext uri="{FF2B5EF4-FFF2-40B4-BE49-F238E27FC236}">
                <a16:creationId xmlns:a16="http://schemas.microsoft.com/office/drawing/2014/main" id="{765A9B94-8333-9586-960B-B7899C0E1DA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38399" y="878619"/>
            <a:ext cx="3606799" cy="2705100"/>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5" name="Picture 4" descr="A machine with a metal object&#10;&#10;Description automatically generated with medium confidence">
            <a:extLst>
              <a:ext uri="{FF2B5EF4-FFF2-40B4-BE49-F238E27FC236}">
                <a16:creationId xmlns:a16="http://schemas.microsoft.com/office/drawing/2014/main" id="{A98DF40C-0BAC-2C93-961F-6DEC6137B8E3}"/>
              </a:ext>
            </a:extLst>
          </p:cNvPr>
          <p:cNvPicPr>
            <a:picLocks noChangeAspect="1"/>
          </p:cNvPicPr>
          <p:nvPr/>
        </p:nvPicPr>
        <p:blipFill>
          <a:blip r:embed="rId4"/>
          <a:stretch>
            <a:fillRect/>
          </a:stretch>
        </p:blipFill>
        <p:spPr>
          <a:xfrm>
            <a:off x="413385" y="3781425"/>
            <a:ext cx="3606800" cy="2705100"/>
          </a:xfrm>
          <a:prstGeom prst="rect">
            <a:avLst/>
          </a:prstGeom>
          <a:ln>
            <a:noFill/>
          </a:ln>
          <a:effectLst/>
        </p:spPr>
      </p:pic>
      <p:sp>
        <p:nvSpPr>
          <p:cNvPr id="6" name="AutoShape 1">
            <a:extLst>
              <a:ext uri="{FF2B5EF4-FFF2-40B4-BE49-F238E27FC236}">
                <a16:creationId xmlns:a16="http://schemas.microsoft.com/office/drawing/2014/main" id="{2237F074-C0FF-36C9-62CC-480D264D59E1}"/>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pic>
        <p:nvPicPr>
          <p:cNvPr id="4" name="Picture 3" descr="A machine on a table&#10;&#10;Description automatically generated">
            <a:extLst>
              <a:ext uri="{FF2B5EF4-FFF2-40B4-BE49-F238E27FC236}">
                <a16:creationId xmlns:a16="http://schemas.microsoft.com/office/drawing/2014/main" id="{80F81CA7-CA89-2522-B0C4-7F8543C8E7EA}"/>
              </a:ext>
            </a:extLst>
          </p:cNvPr>
          <p:cNvPicPr>
            <a:picLocks noChangeAspect="1"/>
          </p:cNvPicPr>
          <p:nvPr/>
        </p:nvPicPr>
        <p:blipFill>
          <a:blip r:embed="rId5"/>
          <a:stretch>
            <a:fillRect/>
          </a:stretch>
        </p:blipFill>
        <p:spPr>
          <a:xfrm>
            <a:off x="9598307" y="878619"/>
            <a:ext cx="2028825" cy="2705100"/>
          </a:xfrm>
          <a:prstGeom prst="rect">
            <a:avLst/>
          </a:prstGeom>
          <a:ln>
            <a:noFill/>
          </a:ln>
          <a:effectLst/>
        </p:spPr>
      </p:pic>
      <p:pic>
        <p:nvPicPr>
          <p:cNvPr id="7" name="Picture 6" descr="A close up of a machine&#10;&#10;Description automatically generated">
            <a:extLst>
              <a:ext uri="{FF2B5EF4-FFF2-40B4-BE49-F238E27FC236}">
                <a16:creationId xmlns:a16="http://schemas.microsoft.com/office/drawing/2014/main" id="{C59AEF45-8005-99BD-F9C6-E97CF9E271C6}"/>
              </a:ext>
            </a:extLst>
          </p:cNvPr>
          <p:cNvPicPr>
            <a:picLocks noChangeAspect="1"/>
          </p:cNvPicPr>
          <p:nvPr/>
        </p:nvPicPr>
        <p:blipFill>
          <a:blip r:embed="rId6"/>
          <a:stretch>
            <a:fillRect/>
          </a:stretch>
        </p:blipFill>
        <p:spPr>
          <a:xfrm>
            <a:off x="8020712" y="3781425"/>
            <a:ext cx="3730079" cy="2415226"/>
          </a:xfrm>
          <a:prstGeom prst="rect">
            <a:avLst/>
          </a:prstGeom>
          <a:ln>
            <a:noFill/>
          </a:ln>
          <a:effectLst/>
        </p:spPr>
      </p:pic>
    </p:spTree>
    <p:extLst>
      <p:ext uri="{BB962C8B-B14F-4D97-AF65-F5344CB8AC3E}">
        <p14:creationId xmlns:p14="http://schemas.microsoft.com/office/powerpoint/2010/main" val="273948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25E602A-53EB-4CB1-9633-3EC058740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2516E-9763-0B3D-66D9-9C6800BD1396}"/>
              </a:ext>
            </a:extLst>
          </p:cNvPr>
          <p:cNvSpPr>
            <a:spLocks noGrp="1"/>
          </p:cNvSpPr>
          <p:nvPr>
            <p:ph type="title"/>
          </p:nvPr>
        </p:nvSpPr>
        <p:spPr>
          <a:xfrm>
            <a:off x="311520" y="106651"/>
            <a:ext cx="11977315"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Maximum Angle         Self-adaptive Experiments</a:t>
            </a:r>
          </a:p>
        </p:txBody>
      </p:sp>
      <p:pic>
        <p:nvPicPr>
          <p:cNvPr id="5" name="Content Placeholder 4" descr="A collage of different types of objects&#10;&#10;Description automatically generated">
            <a:extLst>
              <a:ext uri="{FF2B5EF4-FFF2-40B4-BE49-F238E27FC236}">
                <a16:creationId xmlns:a16="http://schemas.microsoft.com/office/drawing/2014/main" id="{7C097249-F200-5C99-80F5-042C0E478C78}"/>
              </a:ext>
            </a:extLst>
          </p:cNvPr>
          <p:cNvPicPr>
            <a:picLocks noChangeAspect="1"/>
          </p:cNvPicPr>
          <p:nvPr/>
        </p:nvPicPr>
        <p:blipFill>
          <a:blip r:embed="rId2"/>
          <a:stretch>
            <a:fillRect/>
          </a:stretch>
        </p:blipFill>
        <p:spPr>
          <a:xfrm>
            <a:off x="311520" y="1378562"/>
            <a:ext cx="3730079" cy="2452526"/>
          </a:xfrm>
          <a:prstGeom prst="rect">
            <a:avLst/>
          </a:prstGeom>
          <a:ln>
            <a:noFill/>
          </a:ln>
          <a:effectLst/>
        </p:spPr>
      </p:pic>
      <p:pic>
        <p:nvPicPr>
          <p:cNvPr id="7" name="Picture 6" descr="A table with text and numbers&#10;&#10;Description automatically generated">
            <a:extLst>
              <a:ext uri="{FF2B5EF4-FFF2-40B4-BE49-F238E27FC236}">
                <a16:creationId xmlns:a16="http://schemas.microsoft.com/office/drawing/2014/main" id="{37E37A86-9E4A-D36A-E53C-BCCD75EC5901}"/>
              </a:ext>
            </a:extLst>
          </p:cNvPr>
          <p:cNvPicPr>
            <a:picLocks noChangeAspect="1"/>
          </p:cNvPicPr>
          <p:nvPr/>
        </p:nvPicPr>
        <p:blipFill>
          <a:blip r:embed="rId3"/>
          <a:stretch>
            <a:fillRect/>
          </a:stretch>
        </p:blipFill>
        <p:spPr>
          <a:xfrm>
            <a:off x="355844" y="4248811"/>
            <a:ext cx="3661857" cy="823917"/>
          </a:xfrm>
          <a:prstGeom prst="rect">
            <a:avLst/>
          </a:prstGeom>
          <a:ln>
            <a:noFill/>
          </a:ln>
          <a:effectLst/>
        </p:spPr>
      </p:pic>
      <p:sp>
        <p:nvSpPr>
          <p:cNvPr id="16" name="Rectangle 15">
            <a:extLst>
              <a:ext uri="{FF2B5EF4-FFF2-40B4-BE49-F238E27FC236}">
                <a16:creationId xmlns:a16="http://schemas.microsoft.com/office/drawing/2014/main" id="{E832F3F2-2294-4A8D-ABDC-234B853C7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3" name="Picture 2" descr="A blue mat with foam on it&#10;&#10;Description automatically generated">
            <a:extLst>
              <a:ext uri="{FF2B5EF4-FFF2-40B4-BE49-F238E27FC236}">
                <a16:creationId xmlns:a16="http://schemas.microsoft.com/office/drawing/2014/main" id="{0E94341D-671D-C961-E019-7142E81C5862}"/>
              </a:ext>
            </a:extLst>
          </p:cNvPr>
          <p:cNvPicPr>
            <a:picLocks noChangeAspect="1"/>
          </p:cNvPicPr>
          <p:nvPr/>
        </p:nvPicPr>
        <p:blipFill>
          <a:blip r:embed="rId4"/>
          <a:stretch>
            <a:fillRect/>
          </a:stretch>
        </p:blipFill>
        <p:spPr>
          <a:xfrm>
            <a:off x="5274535" y="1210021"/>
            <a:ext cx="5973151" cy="1314093"/>
          </a:xfrm>
          <a:prstGeom prst="rect">
            <a:avLst/>
          </a:prstGeom>
        </p:spPr>
      </p:pic>
      <p:pic>
        <p:nvPicPr>
          <p:cNvPr id="6" name="Content Placeholder 5">
            <a:extLst>
              <a:ext uri="{FF2B5EF4-FFF2-40B4-BE49-F238E27FC236}">
                <a16:creationId xmlns:a16="http://schemas.microsoft.com/office/drawing/2014/main" id="{94DD770F-16DF-5308-B758-5F708CFC5E29}"/>
              </a:ext>
            </a:extLst>
          </p:cNvPr>
          <p:cNvPicPr>
            <a:picLocks noGrp="1" noChangeAspect="1"/>
          </p:cNvPicPr>
          <p:nvPr>
            <p:ph idx="1"/>
          </p:nvPr>
        </p:nvPicPr>
        <p:blipFill>
          <a:blip r:embed="rId5"/>
          <a:stretch>
            <a:fillRect/>
          </a:stretch>
        </p:blipFill>
        <p:spPr>
          <a:xfrm>
            <a:off x="8975690" y="2749355"/>
            <a:ext cx="2548933" cy="3397250"/>
          </a:xfrm>
          <a:prstGeom prst="rect">
            <a:avLst/>
          </a:prstGeom>
        </p:spPr>
      </p:pic>
      <p:pic>
        <p:nvPicPr>
          <p:cNvPr id="8" name="Picture 7">
            <a:extLst>
              <a:ext uri="{FF2B5EF4-FFF2-40B4-BE49-F238E27FC236}">
                <a16:creationId xmlns:a16="http://schemas.microsoft.com/office/drawing/2014/main" id="{3B6DF6D7-705C-1530-D3B8-6476A21D2B82}"/>
              </a:ext>
            </a:extLst>
          </p:cNvPr>
          <p:cNvPicPr>
            <a:picLocks noChangeAspect="1"/>
          </p:cNvPicPr>
          <p:nvPr/>
        </p:nvPicPr>
        <p:blipFill>
          <a:blip r:embed="rId6"/>
          <a:stretch>
            <a:fillRect/>
          </a:stretch>
        </p:blipFill>
        <p:spPr>
          <a:xfrm>
            <a:off x="5000817" y="4563863"/>
            <a:ext cx="3651745" cy="1654268"/>
          </a:xfrm>
          <a:prstGeom prst="rect">
            <a:avLst/>
          </a:prstGeom>
        </p:spPr>
      </p:pic>
    </p:spTree>
    <p:extLst>
      <p:ext uri="{BB962C8B-B14F-4D97-AF65-F5344CB8AC3E}">
        <p14:creationId xmlns:p14="http://schemas.microsoft.com/office/powerpoint/2010/main" val="3541415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BFF8-9361-6514-CF54-151368C144D6}"/>
              </a:ext>
            </a:extLst>
          </p:cNvPr>
          <p:cNvSpPr>
            <a:spLocks noGrp="1"/>
          </p:cNvSpPr>
          <p:nvPr>
            <p:ph type="title"/>
          </p:nvPr>
        </p:nvSpPr>
        <p:spPr/>
        <p:txBody>
          <a:bodyPr/>
          <a:lstStyle/>
          <a:p>
            <a:r>
              <a:rPr lang="en-CN" dirty="0"/>
              <a:t>Future Improvements</a:t>
            </a:r>
          </a:p>
        </p:txBody>
      </p:sp>
      <p:sp>
        <p:nvSpPr>
          <p:cNvPr id="3" name="Content Placeholder 2">
            <a:extLst>
              <a:ext uri="{FF2B5EF4-FFF2-40B4-BE49-F238E27FC236}">
                <a16:creationId xmlns:a16="http://schemas.microsoft.com/office/drawing/2014/main" id="{8284140E-7048-D545-CD1B-51A254E3FE00}"/>
              </a:ext>
            </a:extLst>
          </p:cNvPr>
          <p:cNvSpPr>
            <a:spLocks noGrp="1"/>
          </p:cNvSpPr>
          <p:nvPr>
            <p:ph idx="1"/>
          </p:nvPr>
        </p:nvSpPr>
        <p:spPr/>
        <p:txBody>
          <a:bodyPr/>
          <a:lstStyle/>
          <a:p>
            <a:r>
              <a:rPr lang="en-CN" dirty="0"/>
              <a:t>In this prototype, we have sucessfully demonstarted the basic functions of such 2 dof bionic ankle. Of course, there is still nessary steps for it to be used on robots</a:t>
            </a:r>
          </a:p>
          <a:p>
            <a:pPr lvl="1"/>
            <a:r>
              <a:rPr lang="en-US" dirty="0"/>
              <a:t>E</a:t>
            </a:r>
            <a:r>
              <a:rPr lang="en-CN" dirty="0"/>
              <a:t>xperiment on different foot types for different situations (such as for stability on rough ground)</a:t>
            </a:r>
          </a:p>
          <a:p>
            <a:pPr lvl="1"/>
            <a:r>
              <a:rPr lang="en-CN" dirty="0"/>
              <a:t>Coordination of ankle with legs and upper body</a:t>
            </a:r>
          </a:p>
          <a:p>
            <a:pPr lvl="1"/>
            <a:endParaRPr lang="en-CN" dirty="0"/>
          </a:p>
          <a:p>
            <a:pPr lvl="1"/>
            <a:endParaRPr lang="en-CN" dirty="0"/>
          </a:p>
          <a:p>
            <a:pPr lvl="1"/>
            <a:endParaRPr lang="en-CN" dirty="0"/>
          </a:p>
          <a:p>
            <a:pPr lvl="1"/>
            <a:endParaRPr lang="en-CN" dirty="0"/>
          </a:p>
          <a:p>
            <a:pPr lvl="1"/>
            <a:endParaRPr lang="en-CN" dirty="0"/>
          </a:p>
          <a:p>
            <a:endParaRPr lang="en-CN" dirty="0"/>
          </a:p>
        </p:txBody>
      </p:sp>
    </p:spTree>
    <p:extLst>
      <p:ext uri="{BB962C8B-B14F-4D97-AF65-F5344CB8AC3E}">
        <p14:creationId xmlns:p14="http://schemas.microsoft.com/office/powerpoint/2010/main" val="572384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79550-F4C0-315C-F2A4-D14D906B689E}"/>
              </a:ext>
            </a:extLst>
          </p:cNvPr>
          <p:cNvSpPr>
            <a:spLocks noGrp="1"/>
          </p:cNvSpPr>
          <p:nvPr>
            <p:ph type="title"/>
          </p:nvPr>
        </p:nvSpPr>
        <p:spPr/>
        <p:txBody>
          <a:bodyPr/>
          <a:lstStyle/>
          <a:p>
            <a:r>
              <a:rPr lang="en-CN" dirty="0"/>
              <a:t>Video</a:t>
            </a:r>
          </a:p>
        </p:txBody>
      </p:sp>
      <p:sp>
        <p:nvSpPr>
          <p:cNvPr id="3" name="Content Placeholder 2">
            <a:extLst>
              <a:ext uri="{FF2B5EF4-FFF2-40B4-BE49-F238E27FC236}">
                <a16:creationId xmlns:a16="http://schemas.microsoft.com/office/drawing/2014/main" id="{11C0334D-78E3-E895-9446-FC16E1774572}"/>
              </a:ext>
            </a:extLst>
          </p:cNvPr>
          <p:cNvSpPr>
            <a:spLocks noGrp="1"/>
          </p:cNvSpPr>
          <p:nvPr>
            <p:ph idx="1"/>
          </p:nvPr>
        </p:nvSpPr>
        <p:spPr/>
        <p:txBody>
          <a:bodyPr/>
          <a:lstStyle/>
          <a:p>
            <a:endParaRPr lang="en-CN" dirty="0"/>
          </a:p>
        </p:txBody>
      </p:sp>
    </p:spTree>
    <p:extLst>
      <p:ext uri="{BB962C8B-B14F-4D97-AF65-F5344CB8AC3E}">
        <p14:creationId xmlns:p14="http://schemas.microsoft.com/office/powerpoint/2010/main" val="2027289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191F5-E23F-7400-78FA-4339872CF1E8}"/>
              </a:ext>
            </a:extLst>
          </p:cNvPr>
          <p:cNvSpPr>
            <a:spLocks noGrp="1"/>
          </p:cNvSpPr>
          <p:nvPr>
            <p:ph type="title"/>
          </p:nvPr>
        </p:nvSpPr>
        <p:spPr>
          <a:xfrm>
            <a:off x="2995212" y="3112275"/>
            <a:ext cx="6201575" cy="633449"/>
          </a:xfrm>
        </p:spPr>
        <p:txBody>
          <a:bodyPr>
            <a:noAutofit/>
          </a:bodyPr>
          <a:lstStyle/>
          <a:p>
            <a:r>
              <a:rPr lang="en-CN" sz="4800" dirty="0"/>
              <a:t>Thank You for Listening</a:t>
            </a:r>
          </a:p>
        </p:txBody>
      </p:sp>
      <p:sp>
        <p:nvSpPr>
          <p:cNvPr id="3" name="Content Placeholder 2">
            <a:extLst>
              <a:ext uri="{FF2B5EF4-FFF2-40B4-BE49-F238E27FC236}">
                <a16:creationId xmlns:a16="http://schemas.microsoft.com/office/drawing/2014/main" id="{D54E9E00-6BA4-C669-CCC7-23B0D23AF5CF}"/>
              </a:ext>
            </a:extLst>
          </p:cNvPr>
          <p:cNvSpPr>
            <a:spLocks noGrp="1"/>
          </p:cNvSpPr>
          <p:nvPr>
            <p:ph idx="1"/>
          </p:nvPr>
        </p:nvSpPr>
        <p:spPr>
          <a:xfrm>
            <a:off x="-3591288" y="4442867"/>
            <a:ext cx="9601200" cy="3581400"/>
          </a:xfrm>
        </p:spPr>
        <p:txBody>
          <a:bodyPr/>
          <a:lstStyle/>
          <a:p>
            <a:pPr marL="0" indent="0">
              <a:buNone/>
            </a:pPr>
            <a:endParaRPr lang="en-CN" dirty="0"/>
          </a:p>
        </p:txBody>
      </p:sp>
    </p:spTree>
    <p:extLst>
      <p:ext uri="{BB962C8B-B14F-4D97-AF65-F5344CB8AC3E}">
        <p14:creationId xmlns:p14="http://schemas.microsoft.com/office/powerpoint/2010/main" val="10924925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{D7266DEF-B306-F248-B2C7-F955E1044753}tf10001072</Template>
  <TotalTime>3574</TotalTime>
  <Words>483</Words>
  <Application>Microsoft Macintosh PowerPoint</Application>
  <PresentationFormat>Widescreen</PresentationFormat>
  <Paragraphs>58</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Franklin Gothic Book</vt:lpstr>
      <vt:lpstr>Times New Roman</vt:lpstr>
      <vt:lpstr>Crop</vt:lpstr>
      <vt:lpstr>A Two DoF Self Adaptive Bionic Ankle</vt:lpstr>
      <vt:lpstr>Background Signficance and Proposal</vt:lpstr>
      <vt:lpstr>Why Human Ankle?</vt:lpstr>
      <vt:lpstr>Innovation and Challenges</vt:lpstr>
      <vt:lpstr>Structural Design</vt:lpstr>
      <vt:lpstr>Software Programming</vt:lpstr>
      <vt:lpstr>First model                                 Second Model</vt:lpstr>
      <vt:lpstr>Maximum Angle         Self-adaptive Experiments</vt:lpstr>
      <vt:lpstr>Future Improvements</vt:lpstr>
      <vt:lpstr>Video</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Two DoF Self Adaptive Bionic Ankle</dc:title>
  <dc:creator>Zhaohua Guo</dc:creator>
  <cp:lastModifiedBy>Zhaohua Guo</cp:lastModifiedBy>
  <cp:revision>52</cp:revision>
  <dcterms:created xsi:type="dcterms:W3CDTF">2024-08-10T03:12:19Z</dcterms:created>
  <dcterms:modified xsi:type="dcterms:W3CDTF">2025-06-07T11:18:19Z</dcterms:modified>
</cp:coreProperties>
</file>