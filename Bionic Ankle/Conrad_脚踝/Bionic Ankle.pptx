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69" r:id="rId3"/>
    <p:sldId id="257" r:id="rId4"/>
    <p:sldId id="273" r:id="rId5"/>
    <p:sldId id="268" r:id="rId6"/>
    <p:sldId id="267" r:id="rId7"/>
    <p:sldId id="259" r:id="rId8"/>
    <p:sldId id="261" r:id="rId9"/>
    <p:sldId id="272" r:id="rId10"/>
    <p:sldId id="271" r:id="rId11"/>
    <p:sldId id="262" r:id="rId12"/>
    <p:sldId id="263"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00"/>
    <p:restoredTop sz="94694"/>
  </p:normalViewPr>
  <p:slideViewPr>
    <p:cSldViewPr snapToGrid="0">
      <p:cViewPr varScale="1">
        <p:scale>
          <a:sx n="187" d="100"/>
          <a:sy n="187" d="100"/>
        </p:scale>
        <p:origin x="24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59B6C2D2-C58F-5548-A64A-8AD08F679533}" type="datetimeFigureOut">
              <a:rPr lang="en-CN" smtClean="0"/>
              <a:t>2025/2/28</a:t>
            </a:fld>
            <a:endParaRPr lang="en-C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D2947F7-B245-3D42-9440-FA4435798BAB}" type="slidenum">
              <a:rPr lang="en-CN" smtClean="0"/>
              <a:t>‹#›</a:t>
            </a:fld>
            <a:endParaRPr lang="en-C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81242871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2025/2/28</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77260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59B6C2D2-C58F-5548-A64A-8AD08F679533}" type="datetimeFigureOut">
              <a:rPr lang="en-CN" smtClean="0"/>
              <a:t>2025/2/28</a:t>
            </a:fld>
            <a:endParaRPr lang="en-C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C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258252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B6C2D2-C58F-5548-A64A-8AD08F679533}" type="datetimeFigureOut">
              <a:rPr lang="en-CN" smtClean="0"/>
              <a:t>2025/2/28</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425197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B6C2D2-C58F-5548-A64A-8AD08F679533}" type="datetimeFigureOut">
              <a:rPr lang="en-CN" smtClean="0"/>
              <a:t>2025/2/28</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38553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B6C2D2-C58F-5548-A64A-8AD08F679533}" type="datetimeFigureOut">
              <a:rPr lang="en-CN" smtClean="0"/>
              <a:t>2025/2/28</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50913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B6C2D2-C58F-5548-A64A-8AD08F679533}" type="datetimeFigureOut">
              <a:rPr lang="en-CN" smtClean="0"/>
              <a:t>2025/2/28</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113186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2025/2/28</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54685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59B6C2D2-C58F-5548-A64A-8AD08F679533}" type="datetimeFigureOut">
              <a:rPr lang="en-CN" smtClean="0"/>
              <a:t>2025/2/28</a:t>
            </a:fld>
            <a:endParaRPr lang="en-C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C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D2947F7-B245-3D42-9440-FA4435798BAB}" type="slidenum">
              <a:rPr lang="en-CN" smtClean="0"/>
              <a:t>‹#›</a:t>
            </a:fld>
            <a:endParaRPr lang="en-C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29635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2025/2/28</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4212609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6C2D2-C58F-5548-A64A-8AD08F679533}" type="datetimeFigureOut">
              <a:rPr lang="en-CN" smtClean="0"/>
              <a:t>2025/2/28</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0D2947F7-B245-3D42-9440-FA4435798BAB}" type="slidenum">
              <a:rPr lang="en-CN" smtClean="0"/>
              <a:t>‹#›</a:t>
            </a:fld>
            <a:endParaRPr lang="en-CN"/>
          </a:p>
        </p:txBody>
      </p:sp>
    </p:spTree>
    <p:extLst>
      <p:ext uri="{BB962C8B-B14F-4D97-AF65-F5344CB8AC3E}">
        <p14:creationId xmlns:p14="http://schemas.microsoft.com/office/powerpoint/2010/main" val="986111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9B6C2D2-C58F-5548-A64A-8AD08F679533}" type="datetimeFigureOut">
              <a:rPr lang="en-CN" smtClean="0"/>
              <a:t>2025/2/28</a:t>
            </a:fld>
            <a:endParaRPr lang="en-C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C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D2947F7-B245-3D42-9440-FA4435798BAB}" type="slidenum">
              <a:rPr lang="en-CN" smtClean="0"/>
              <a:t>‹#›</a:t>
            </a:fld>
            <a:endParaRPr lang="en-C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9771729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51D149FF-24EA-4575-93C6-D58A02586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8680CA-58BE-ED2F-DC5F-AFB5A5B47AFC}"/>
              </a:ext>
            </a:extLst>
          </p:cNvPr>
          <p:cNvSpPr>
            <a:spLocks noGrp="1"/>
          </p:cNvSpPr>
          <p:nvPr>
            <p:ph type="ctrTitle"/>
          </p:nvPr>
        </p:nvSpPr>
        <p:spPr>
          <a:xfrm>
            <a:off x="2558956" y="1480930"/>
            <a:ext cx="4975700" cy="3672027"/>
          </a:xfrm>
        </p:spPr>
        <p:txBody>
          <a:bodyPr anchor="ctr">
            <a:normAutofit/>
          </a:bodyPr>
          <a:lstStyle/>
          <a:p>
            <a:pPr algn="r"/>
            <a:r>
              <a:rPr lang="en-CN" sz="4800">
                <a:latin typeface="Times New Roman" panose="02020603050405020304" pitchFamily="18" charset="0"/>
                <a:cs typeface="Times New Roman" panose="02020603050405020304" pitchFamily="18" charset="0"/>
              </a:rPr>
              <a:t>A Two DoF Self Adaptive Bionic Ankle</a:t>
            </a:r>
          </a:p>
        </p:txBody>
      </p:sp>
      <p:sp>
        <p:nvSpPr>
          <p:cNvPr id="3" name="Subtitle 2">
            <a:extLst>
              <a:ext uri="{FF2B5EF4-FFF2-40B4-BE49-F238E27FC236}">
                <a16:creationId xmlns:a16="http://schemas.microsoft.com/office/drawing/2014/main" id="{C024A849-4908-56D8-64A8-8D1E085090F0}"/>
              </a:ext>
            </a:extLst>
          </p:cNvPr>
          <p:cNvSpPr>
            <a:spLocks noGrp="1"/>
          </p:cNvSpPr>
          <p:nvPr>
            <p:ph type="subTitle" idx="1"/>
          </p:nvPr>
        </p:nvSpPr>
        <p:spPr>
          <a:xfrm>
            <a:off x="8698058" y="1480930"/>
            <a:ext cx="2728917" cy="3732515"/>
          </a:xfrm>
        </p:spPr>
        <p:txBody>
          <a:bodyPr anchor="ctr">
            <a:normAutofit/>
          </a:bodyPr>
          <a:lstStyle/>
          <a:p>
            <a:pPr algn="l">
              <a:spcAft>
                <a:spcPts val="600"/>
              </a:spcAft>
            </a:pPr>
            <a:r>
              <a:rPr lang="en-CN" sz="2000">
                <a:latin typeface="Times New Roman" panose="02020603050405020304" pitchFamily="18" charset="0"/>
                <a:cs typeface="Times New Roman" panose="02020603050405020304" pitchFamily="18" charset="0"/>
              </a:rPr>
              <a:t>Dream Aero</a:t>
            </a:r>
          </a:p>
          <a:p>
            <a:pPr algn="l">
              <a:spcAft>
                <a:spcPts val="600"/>
              </a:spcAft>
            </a:pPr>
            <a:r>
              <a:rPr lang="en-CN" sz="2000">
                <a:latin typeface="Times New Roman" panose="02020603050405020304" pitchFamily="18" charset="0"/>
                <a:cs typeface="Times New Roman" panose="02020603050405020304" pitchFamily="18" charset="0"/>
              </a:rPr>
              <a:t>Lucas Chen &amp; Justin Guo</a:t>
            </a:r>
          </a:p>
        </p:txBody>
      </p:sp>
      <p:sp>
        <p:nvSpPr>
          <p:cNvPr id="16" name="Rectangle 9">
            <a:extLst>
              <a:ext uri="{FF2B5EF4-FFF2-40B4-BE49-F238E27FC236}">
                <a16:creationId xmlns:a16="http://schemas.microsoft.com/office/drawing/2014/main" id="{CC965133-69F4-4869-A4C0-97C9B2B60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76"/>
            <a:ext cx="2108425" cy="68576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2" name="Freeform 6">
            <a:extLst>
              <a:ext uri="{FF2B5EF4-FFF2-40B4-BE49-F238E27FC236}">
                <a16:creationId xmlns:a16="http://schemas.microsoft.com/office/drawing/2014/main" id="{43FEB8E0-28C6-45D4-B8D7-F36F09074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1125266"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cxnSp>
        <p:nvCxnSpPr>
          <p:cNvPr id="14" name="Straight Connector 13">
            <a:extLst>
              <a:ext uri="{FF2B5EF4-FFF2-40B4-BE49-F238E27FC236}">
                <a16:creationId xmlns:a16="http://schemas.microsoft.com/office/drawing/2014/main" id="{409EBF91-BD5B-4CA7-8B07-993751CD39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16357" y="2463421"/>
            <a:ext cx="0" cy="2033516"/>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70425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ED3DC-1791-353D-ABB2-6A3DE8440ADF}"/>
              </a:ext>
            </a:extLst>
          </p:cNvPr>
          <p:cNvSpPr>
            <a:spLocks noGrp="1"/>
          </p:cNvSpPr>
          <p:nvPr>
            <p:ph type="title"/>
          </p:nvPr>
        </p:nvSpPr>
        <p:spPr/>
        <p:txBody>
          <a:bodyPr/>
          <a:lstStyle/>
          <a:p>
            <a:r>
              <a:rPr lang="en-CN" dirty="0"/>
              <a:t>Space Exploration</a:t>
            </a:r>
          </a:p>
        </p:txBody>
      </p:sp>
      <p:sp>
        <p:nvSpPr>
          <p:cNvPr id="3" name="Content Placeholder 2">
            <a:extLst>
              <a:ext uri="{FF2B5EF4-FFF2-40B4-BE49-F238E27FC236}">
                <a16:creationId xmlns:a16="http://schemas.microsoft.com/office/drawing/2014/main" id="{0FA73447-2B21-A9C4-011C-A525C78902CF}"/>
              </a:ext>
            </a:extLst>
          </p:cNvPr>
          <p:cNvSpPr>
            <a:spLocks noGrp="1"/>
          </p:cNvSpPr>
          <p:nvPr>
            <p:ph idx="1"/>
          </p:nvPr>
        </p:nvSpPr>
        <p:spPr/>
        <p:txBody>
          <a:bodyPr/>
          <a:lstStyle/>
          <a:p>
            <a:r>
              <a:rPr lang="en-CN" dirty="0"/>
              <a:t>Everyone is going for space exploration: </a:t>
            </a:r>
          </a:p>
          <a:p>
            <a:pPr lvl="1"/>
            <a:r>
              <a:rPr lang="en-CN" i="1" dirty="0"/>
              <a:t>Elon Musk founded SpaceX, aiming for a migration to Mars </a:t>
            </a:r>
          </a:p>
          <a:p>
            <a:pPr lvl="1"/>
            <a:r>
              <a:rPr lang="en-CN" i="1" dirty="0"/>
              <a:t>NASA is planning on Artemis III, sending human to the moon</a:t>
            </a:r>
          </a:p>
          <a:p>
            <a:pPr lvl="1"/>
            <a:r>
              <a:rPr lang="en-CN" i="1" dirty="0"/>
              <a:t>China finished Chang’e 6, the first probe reaching to the backside of the moon</a:t>
            </a:r>
          </a:p>
          <a:p>
            <a:r>
              <a:rPr lang="en-CN" u="sng" dirty="0"/>
              <a:t>Why?</a:t>
            </a:r>
            <a:r>
              <a:rPr lang="en-CN" dirty="0"/>
              <a:t> Earth resources are depleting: Overpopulation is a problem</a:t>
            </a:r>
          </a:p>
          <a:p>
            <a:r>
              <a:rPr lang="en-CN" dirty="0"/>
              <a:t>We need to explore Space, in search of </a:t>
            </a:r>
            <a:r>
              <a:rPr lang="en-CN" b="1" dirty="0"/>
              <a:t>resources and living space </a:t>
            </a:r>
          </a:p>
        </p:txBody>
      </p:sp>
    </p:spTree>
    <p:extLst>
      <p:ext uri="{BB962C8B-B14F-4D97-AF65-F5344CB8AC3E}">
        <p14:creationId xmlns:p14="http://schemas.microsoft.com/office/powerpoint/2010/main" val="34022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98CA5AE-F2E4-4A6F-B986-89804B1EC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F5595E-CA13-D84C-033B-2FFEC4D8BA72}"/>
              </a:ext>
            </a:extLst>
          </p:cNvPr>
          <p:cNvSpPr>
            <a:spLocks noGrp="1"/>
          </p:cNvSpPr>
          <p:nvPr>
            <p:ph type="title"/>
          </p:nvPr>
        </p:nvSpPr>
        <p:spPr>
          <a:xfrm>
            <a:off x="784743" y="685800"/>
            <a:ext cx="5793475" cy="1485900"/>
          </a:xfrm>
        </p:spPr>
        <p:txBody>
          <a:bodyPr>
            <a:normAutofit/>
          </a:bodyPr>
          <a:lstStyle/>
          <a:p>
            <a:r>
              <a:rPr lang="en-CN" dirty="0">
                <a:latin typeface="Times New Roman" panose="02020603050405020304" pitchFamily="18" charset="0"/>
                <a:cs typeface="Times New Roman" panose="02020603050405020304" pitchFamily="18" charset="0"/>
              </a:rPr>
              <a:t>Background Signficance and Proposal</a:t>
            </a:r>
          </a:p>
        </p:txBody>
      </p:sp>
      <p:sp>
        <p:nvSpPr>
          <p:cNvPr id="3" name="Content Placeholder 2">
            <a:extLst>
              <a:ext uri="{FF2B5EF4-FFF2-40B4-BE49-F238E27FC236}">
                <a16:creationId xmlns:a16="http://schemas.microsoft.com/office/drawing/2014/main" id="{8EF00257-F331-F55C-5BE3-A7383AE94B3A}"/>
              </a:ext>
            </a:extLst>
          </p:cNvPr>
          <p:cNvSpPr>
            <a:spLocks noGrp="1"/>
          </p:cNvSpPr>
          <p:nvPr>
            <p:ph idx="1"/>
          </p:nvPr>
        </p:nvSpPr>
        <p:spPr>
          <a:xfrm>
            <a:off x="784743" y="2016691"/>
            <a:ext cx="5793475" cy="4850766"/>
          </a:xfrm>
        </p:spPr>
        <p:txBody>
          <a:bodyPr>
            <a:normAutofit/>
          </a:bodyPr>
          <a:lstStyle/>
          <a:p>
            <a:r>
              <a:rPr lang="en-US" sz="1800" dirty="0">
                <a:latin typeface="Times New Roman" panose="02020603050405020304" pitchFamily="18" charset="0"/>
                <a:cs typeface="Times New Roman" panose="02020603050405020304" pitchFamily="18" charset="0"/>
              </a:rPr>
              <a:t>In Space, we are not going to build flat roads during our exploration. We need robots that focuses on movement ability, including the ability to move through rough terrain and great cliffs. These robots are taking the role to going on a mission to Mars. </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The machinery need to stabilize and adapt to the unknown surroundings.</a:t>
            </a:r>
          </a:p>
          <a:p>
            <a:endParaRPr lang="en-US" sz="1800" dirty="0">
              <a:latin typeface="Times New Roman" panose="02020603050405020304" pitchFamily="18" charset="0"/>
              <a:cs typeface="Times New Roman" panose="02020603050405020304" pitchFamily="18" charset="0"/>
            </a:endParaRPr>
          </a:p>
          <a:p>
            <a:r>
              <a:rPr lang="en-US" sz="1800" b="1" u="sng" dirty="0">
                <a:latin typeface="Times New Roman" panose="02020603050405020304" pitchFamily="18" charset="0"/>
                <a:cs typeface="Times New Roman" panose="02020603050405020304" pitchFamily="18" charset="0"/>
              </a:rPr>
              <a:t>Proposal: A good leg, or more specific, a good ankle will help the machinery to traverse better in space environments.</a:t>
            </a:r>
          </a:p>
          <a:p>
            <a:endParaRPr lang="en-CN" sz="1400" dirty="0"/>
          </a:p>
        </p:txBody>
      </p:sp>
      <p:pic>
        <p:nvPicPr>
          <p:cNvPr id="4" name="Picture 3">
            <a:extLst>
              <a:ext uri="{FF2B5EF4-FFF2-40B4-BE49-F238E27FC236}">
                <a16:creationId xmlns:a16="http://schemas.microsoft.com/office/drawing/2014/main" id="{8BE09806-1C31-8A97-E609-E71A477603B6}"/>
              </a:ext>
            </a:extLst>
          </p:cNvPr>
          <p:cNvPicPr>
            <a:picLocks noChangeAspect="1"/>
          </p:cNvPicPr>
          <p:nvPr/>
        </p:nvPicPr>
        <p:blipFill>
          <a:blip r:embed="rId2"/>
          <a:srcRect l="18101" r="7312"/>
          <a:stretch/>
        </p:blipFill>
        <p:spPr>
          <a:xfrm>
            <a:off x="7612260" y="-1"/>
            <a:ext cx="4579739" cy="3438457"/>
          </a:xfrm>
          <a:prstGeom prst="rect">
            <a:avLst/>
          </a:prstGeom>
        </p:spPr>
      </p:pic>
      <p:sp>
        <p:nvSpPr>
          <p:cNvPr id="20" name="Rectangle 19">
            <a:extLst>
              <a:ext uri="{FF2B5EF4-FFF2-40B4-BE49-F238E27FC236}">
                <a16:creationId xmlns:a16="http://schemas.microsoft.com/office/drawing/2014/main" id="{E67E3959-D0D8-49DB-A48B-CE4FC3687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a:extLst>
              <a:ext uri="{FF2B5EF4-FFF2-40B4-BE49-F238E27FC236}">
                <a16:creationId xmlns:a16="http://schemas.microsoft.com/office/drawing/2014/main" id="{1E390260-62AD-B13A-0359-02F63C3AF5EF}"/>
              </a:ext>
            </a:extLst>
          </p:cNvPr>
          <p:cNvPicPr>
            <a:picLocks noChangeAspect="1"/>
          </p:cNvPicPr>
          <p:nvPr/>
        </p:nvPicPr>
        <p:blipFill>
          <a:blip r:embed="rId3"/>
          <a:srcRect l="8332" r="-3" b="-3"/>
          <a:stretch/>
        </p:blipFill>
        <p:spPr>
          <a:xfrm>
            <a:off x="7612260" y="3438457"/>
            <a:ext cx="4579739" cy="3429000"/>
          </a:xfrm>
          <a:prstGeom prst="rect">
            <a:avLst/>
          </a:prstGeom>
        </p:spPr>
      </p:pic>
    </p:spTree>
    <p:extLst>
      <p:ext uri="{BB962C8B-B14F-4D97-AF65-F5344CB8AC3E}">
        <p14:creationId xmlns:p14="http://schemas.microsoft.com/office/powerpoint/2010/main" val="595308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BB08E-E18D-D485-E4A9-A50BEE429BAA}"/>
              </a:ext>
            </a:extLst>
          </p:cNvPr>
          <p:cNvSpPr>
            <a:spLocks noGrp="1"/>
          </p:cNvSpPr>
          <p:nvPr>
            <p:ph type="title"/>
          </p:nvPr>
        </p:nvSpPr>
        <p:spPr>
          <a:xfrm>
            <a:off x="1371600" y="685800"/>
            <a:ext cx="3282695" cy="1485900"/>
          </a:xfrm>
        </p:spPr>
        <p:txBody>
          <a:bodyPr>
            <a:normAutofit/>
          </a:bodyPr>
          <a:lstStyle/>
          <a:p>
            <a:r>
              <a:rPr lang="en-CN" sz="4100" dirty="0"/>
              <a:t>Why Human Ankle?</a:t>
            </a:r>
          </a:p>
        </p:txBody>
      </p:sp>
      <p:sp>
        <p:nvSpPr>
          <p:cNvPr id="3" name="Content Placeholder 2">
            <a:extLst>
              <a:ext uri="{FF2B5EF4-FFF2-40B4-BE49-F238E27FC236}">
                <a16:creationId xmlns:a16="http://schemas.microsoft.com/office/drawing/2014/main" id="{A42FD7EB-03CC-CB1E-9009-B0C97A4F11C0}"/>
              </a:ext>
            </a:extLst>
          </p:cNvPr>
          <p:cNvSpPr>
            <a:spLocks noGrp="1"/>
          </p:cNvSpPr>
          <p:nvPr>
            <p:ph idx="1"/>
          </p:nvPr>
        </p:nvSpPr>
        <p:spPr>
          <a:xfrm>
            <a:off x="1371600" y="2286000"/>
            <a:ext cx="3282694" cy="3581400"/>
          </a:xfrm>
        </p:spPr>
        <p:txBody>
          <a:bodyPr>
            <a:normAutofit fontScale="92500" lnSpcReduction="10000"/>
          </a:bodyPr>
          <a:lstStyle/>
          <a:p>
            <a:r>
              <a:rPr lang="en-CN" dirty="0"/>
              <a:t>We need an ankle that have the ability to travel in all kinds of terrain.</a:t>
            </a:r>
          </a:p>
          <a:p>
            <a:r>
              <a:rPr lang="en-CN" dirty="0"/>
              <a:t>Human ankle:</a:t>
            </a:r>
          </a:p>
          <a:p>
            <a:pPr lvl="1"/>
            <a:r>
              <a:rPr lang="en-CN" dirty="0"/>
              <a:t>exceled at balencing,</a:t>
            </a:r>
          </a:p>
          <a:p>
            <a:pPr lvl="1"/>
            <a:r>
              <a:rPr lang="en-CN" dirty="0"/>
              <a:t>travel in different environments, </a:t>
            </a:r>
          </a:p>
          <a:p>
            <a:pPr lvl="1"/>
            <a:r>
              <a:rPr lang="en-CN" dirty="0"/>
              <a:t>is stable in these different environments, </a:t>
            </a:r>
          </a:p>
          <a:p>
            <a:pPr lvl="1"/>
            <a:r>
              <a:rPr lang="en-CN" dirty="0"/>
              <a:t>and is energy efficent</a:t>
            </a:r>
          </a:p>
        </p:txBody>
      </p:sp>
      <p:pic>
        <p:nvPicPr>
          <p:cNvPr id="4" name="Picture 3">
            <a:extLst>
              <a:ext uri="{FF2B5EF4-FFF2-40B4-BE49-F238E27FC236}">
                <a16:creationId xmlns:a16="http://schemas.microsoft.com/office/drawing/2014/main" id="{A7B7D730-A650-CA99-5738-0E413C461864}"/>
              </a:ext>
            </a:extLst>
          </p:cNvPr>
          <p:cNvPicPr>
            <a:picLocks noChangeAspect="1"/>
          </p:cNvPicPr>
          <p:nvPr/>
        </p:nvPicPr>
        <p:blipFill>
          <a:blip r:embed="rId2"/>
          <a:stretch>
            <a:fillRect/>
          </a:stretch>
        </p:blipFill>
        <p:spPr>
          <a:xfrm>
            <a:off x="5031467" y="1100574"/>
            <a:ext cx="6517065" cy="4336810"/>
          </a:xfrm>
          <a:prstGeom prst="rect">
            <a:avLst/>
          </a:prstGeom>
        </p:spPr>
      </p:pic>
    </p:spTree>
    <p:extLst>
      <p:ext uri="{BB962C8B-B14F-4D97-AF65-F5344CB8AC3E}">
        <p14:creationId xmlns:p14="http://schemas.microsoft.com/office/powerpoint/2010/main" val="4217126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19F8B-B1E4-986E-36EB-E5F4383B8E0A}"/>
              </a:ext>
            </a:extLst>
          </p:cNvPr>
          <p:cNvSpPr>
            <a:spLocks noGrp="1"/>
          </p:cNvSpPr>
          <p:nvPr>
            <p:ph type="title"/>
          </p:nvPr>
        </p:nvSpPr>
        <p:spPr/>
        <p:txBody>
          <a:bodyPr/>
          <a:lstStyle/>
          <a:p>
            <a:r>
              <a:rPr lang="en-CN" dirty="0">
                <a:latin typeface="Times New Roman" panose="02020603050405020304" pitchFamily="18" charset="0"/>
                <a:cs typeface="Times New Roman" panose="02020603050405020304" pitchFamily="18" charset="0"/>
              </a:rPr>
              <a:t>Innovation</a:t>
            </a:r>
          </a:p>
        </p:txBody>
      </p:sp>
      <p:sp>
        <p:nvSpPr>
          <p:cNvPr id="3" name="Content Placeholder 2">
            <a:extLst>
              <a:ext uri="{FF2B5EF4-FFF2-40B4-BE49-F238E27FC236}">
                <a16:creationId xmlns:a16="http://schemas.microsoft.com/office/drawing/2014/main" id="{10266FE6-B29F-D87D-2683-ECBC185E0BB0}"/>
              </a:ext>
            </a:extLst>
          </p:cNvPr>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Which will include: </a:t>
            </a:r>
          </a:p>
          <a:p>
            <a:r>
              <a:rPr lang="en-US" sz="2000" dirty="0">
                <a:latin typeface="Times New Roman" panose="02020603050405020304" pitchFamily="18" charset="0"/>
                <a:cs typeface="Times New Roman" panose="02020603050405020304" pitchFamily="18" charset="0"/>
              </a:rPr>
              <a:t>an additional motor to control not only the leg's dorsiflexion and plantar flexion, but also </a:t>
            </a:r>
            <a:r>
              <a:rPr lang="en-US" sz="2000" b="1" dirty="0">
                <a:latin typeface="Times New Roman" panose="02020603050405020304" pitchFamily="18" charset="0"/>
                <a:cs typeface="Times New Roman" panose="02020603050405020304" pitchFamily="18" charset="0"/>
              </a:rPr>
              <a:t>inversion and eversion movement </a:t>
            </a:r>
            <a:r>
              <a:rPr lang="en-US" sz="2000" dirty="0">
                <a:latin typeface="Times New Roman" panose="02020603050405020304" pitchFamily="18" charset="0"/>
                <a:cs typeface="Times New Roman" panose="02020603050405020304" pitchFamily="18" charset="0"/>
              </a:rPr>
              <a:t>of an ankle in human leg</a:t>
            </a:r>
          </a:p>
          <a:p>
            <a:r>
              <a:rPr lang="en-US" sz="2000" b="1" dirty="0">
                <a:latin typeface="Times New Roman" panose="02020603050405020304" pitchFamily="18" charset="0"/>
                <a:cs typeface="Times New Roman" panose="02020603050405020304" pitchFamily="18" charset="0"/>
              </a:rPr>
              <a:t>a self adaptive program </a:t>
            </a:r>
            <a:r>
              <a:rPr lang="en-US" sz="2000" dirty="0">
                <a:latin typeface="Times New Roman" panose="02020603050405020304" pitchFamily="18" charset="0"/>
                <a:cs typeface="Times New Roman" panose="02020603050405020304" pitchFamily="18" charset="0"/>
              </a:rPr>
              <a:t>for it to aid movement</a:t>
            </a:r>
          </a:p>
          <a:p>
            <a:r>
              <a:rPr lang="en-US" sz="2000" b="1" dirty="0">
                <a:latin typeface="Times New Roman" panose="02020603050405020304" pitchFamily="18" charset="0"/>
                <a:cs typeface="Times New Roman" panose="02020603050405020304" pitchFamily="18" charset="0"/>
              </a:rPr>
              <a:t>the usage of motor system </a:t>
            </a:r>
            <a:r>
              <a:rPr lang="en-US" sz="2000" dirty="0">
                <a:latin typeface="Times New Roman" panose="02020603050405020304" pitchFamily="18" charset="0"/>
                <a:cs typeface="Times New Roman" panose="02020603050405020304" pitchFamily="18" charset="0"/>
              </a:rPr>
              <a:t>to simulate the muscles in human leg</a:t>
            </a: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the usage of springs</a:t>
            </a:r>
            <a:r>
              <a:rPr lang="en-US" sz="2000" dirty="0">
                <a:latin typeface="Times New Roman" panose="02020603050405020304" pitchFamily="18" charset="0"/>
                <a:cs typeface="Times New Roman" panose="02020603050405020304" pitchFamily="18" charset="0"/>
              </a:rPr>
              <a:t> to simulate the shock absorption mechanics in human leg</a:t>
            </a:r>
            <a:endParaRPr lang="en-CN" sz="2000" dirty="0"/>
          </a:p>
          <a:p>
            <a:endParaRPr lang="en-CN" dirty="0"/>
          </a:p>
        </p:txBody>
      </p:sp>
    </p:spTree>
    <p:extLst>
      <p:ext uri="{BB962C8B-B14F-4D97-AF65-F5344CB8AC3E}">
        <p14:creationId xmlns:p14="http://schemas.microsoft.com/office/powerpoint/2010/main" val="3116676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8BB91-9662-B727-CEA5-D5AF88FA1E4F}"/>
              </a:ext>
            </a:extLst>
          </p:cNvPr>
          <p:cNvSpPr>
            <a:spLocks noGrp="1"/>
          </p:cNvSpPr>
          <p:nvPr>
            <p:ph type="title"/>
          </p:nvPr>
        </p:nvSpPr>
        <p:spPr/>
        <p:txBody>
          <a:bodyPr/>
          <a:lstStyle/>
          <a:p>
            <a:r>
              <a:rPr lang="en-CN" dirty="0">
                <a:latin typeface="Times New Roman" panose="02020603050405020304" pitchFamily="18" charset="0"/>
                <a:cs typeface="Times New Roman" panose="02020603050405020304" pitchFamily="18" charset="0"/>
              </a:rPr>
              <a:t>Challenges with a 2 dof bionic ankle</a:t>
            </a:r>
          </a:p>
        </p:txBody>
      </p:sp>
      <p:sp>
        <p:nvSpPr>
          <p:cNvPr id="3" name="Content Placeholder 2">
            <a:extLst>
              <a:ext uri="{FF2B5EF4-FFF2-40B4-BE49-F238E27FC236}">
                <a16:creationId xmlns:a16="http://schemas.microsoft.com/office/drawing/2014/main" id="{606F8889-EAD4-634D-CC42-A2B92FB77F8E}"/>
              </a:ext>
            </a:extLst>
          </p:cNvPr>
          <p:cNvSpPr>
            <a:spLocks noGrp="1"/>
          </p:cNvSpPr>
          <p:nvPr>
            <p:ph idx="1"/>
          </p:nvPr>
        </p:nvSpPr>
        <p:spPr/>
        <p:txBody>
          <a:bodyPr>
            <a:normAutofit/>
          </a:bodyPr>
          <a:lstStyle/>
          <a:p>
            <a:r>
              <a:rPr lang="en-CN" sz="2800" dirty="0">
                <a:latin typeface="Times New Roman" panose="02020603050405020304" pitchFamily="18" charset="0"/>
                <a:cs typeface="Times New Roman" panose="02020603050405020304" pitchFamily="18" charset="0"/>
              </a:rPr>
              <a:t>1. Mechanical Structure: How are the two motors in the ankle goint to be placed?</a:t>
            </a:r>
          </a:p>
          <a:p>
            <a:r>
              <a:rPr lang="en-CN" sz="2800" dirty="0">
                <a:latin typeface="Times New Roman" panose="02020603050405020304" pitchFamily="18" charset="0"/>
                <a:cs typeface="Times New Roman" panose="02020603050405020304" pitchFamily="18" charset="0"/>
              </a:rPr>
              <a:t>2. Reaction to the Ground: How does the bionic ankle sense the ground?</a:t>
            </a:r>
          </a:p>
          <a:p>
            <a:r>
              <a:rPr lang="en-CN" sz="2800" dirty="0">
                <a:latin typeface="Times New Roman" panose="02020603050405020304" pitchFamily="18" charset="0"/>
                <a:cs typeface="Times New Roman" panose="02020603050405020304" pitchFamily="18" charset="0"/>
              </a:rPr>
              <a:t>3. Connection: How should the motors and the sensors collborate?</a:t>
            </a:r>
          </a:p>
        </p:txBody>
      </p:sp>
    </p:spTree>
    <p:extLst>
      <p:ext uri="{BB962C8B-B14F-4D97-AF65-F5344CB8AC3E}">
        <p14:creationId xmlns:p14="http://schemas.microsoft.com/office/powerpoint/2010/main" val="1162409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A620B-E66B-5957-16A5-2E952D8FFD01}"/>
              </a:ext>
            </a:extLst>
          </p:cNvPr>
          <p:cNvSpPr>
            <a:spLocks noGrp="1"/>
          </p:cNvSpPr>
          <p:nvPr>
            <p:ph type="title"/>
          </p:nvPr>
        </p:nvSpPr>
        <p:spPr>
          <a:xfrm>
            <a:off x="1371600" y="685800"/>
            <a:ext cx="9601200" cy="1485900"/>
          </a:xfrm>
        </p:spPr>
        <p:txBody>
          <a:bodyPr>
            <a:normAutofit/>
          </a:bodyPr>
          <a:lstStyle/>
          <a:p>
            <a:r>
              <a:rPr lang="en-CN">
                <a:latin typeface="Times New Roman" panose="02020603050405020304" pitchFamily="18" charset="0"/>
                <a:cs typeface="Times New Roman" panose="02020603050405020304" pitchFamily="18" charset="0"/>
              </a:rPr>
              <a:t>Structural Design</a:t>
            </a:r>
            <a:endParaRPr lang="en-C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EE4DB61-D531-7AD3-10C6-2CB864814BF4}"/>
              </a:ext>
            </a:extLst>
          </p:cNvPr>
          <p:cNvSpPr>
            <a:spLocks noGrp="1"/>
          </p:cNvSpPr>
          <p:nvPr>
            <p:ph idx="1"/>
          </p:nvPr>
        </p:nvSpPr>
        <p:spPr>
          <a:xfrm>
            <a:off x="1371600" y="2286000"/>
            <a:ext cx="4435310" cy="3581400"/>
          </a:xfrm>
        </p:spPr>
        <p:txBody>
          <a:bodyPr>
            <a:normAutofit/>
          </a:bodyPr>
          <a:lstStyle/>
          <a:p>
            <a:r>
              <a:rPr lang="en-US" dirty="0">
                <a:latin typeface="Times New Roman" panose="02020603050405020304" pitchFamily="18" charset="0"/>
                <a:cs typeface="Times New Roman" panose="02020603050405020304" pitchFamily="18" charset="0"/>
              </a:rPr>
              <a:t>U</a:t>
            </a:r>
            <a:r>
              <a:rPr lang="en-CN" dirty="0">
                <a:latin typeface="Times New Roman" panose="02020603050405020304" pitchFamily="18" charset="0"/>
                <a:cs typeface="Times New Roman" panose="02020603050405020304" pitchFamily="18" charset="0"/>
              </a:rPr>
              <a:t>se Solidworks to plan out the whole structure and record the parts needed to build the whole structure. </a:t>
            </a:r>
          </a:p>
          <a:p>
            <a:r>
              <a:rPr lang="en-CN" dirty="0">
                <a:latin typeface="Times New Roman" panose="02020603050405020304" pitchFamily="18" charset="0"/>
                <a:cs typeface="Times New Roman" panose="02020603050405020304" pitchFamily="18" charset="0"/>
              </a:rPr>
              <a:t>Motor-string system to bal</a:t>
            </a:r>
            <a:r>
              <a:rPr lang="en-US" dirty="0">
                <a:latin typeface="Times New Roman" panose="02020603050405020304" pitchFamily="18" charset="0"/>
                <a:cs typeface="Times New Roman" panose="02020603050405020304" pitchFamily="18" charset="0"/>
              </a:rPr>
              <a:t>a</a:t>
            </a:r>
            <a:r>
              <a:rPr lang="en-CN" dirty="0">
                <a:latin typeface="Times New Roman" panose="02020603050405020304" pitchFamily="18" charset="0"/>
                <a:cs typeface="Times New Roman" panose="02020603050405020304" pitchFamily="18" charset="0"/>
              </a:rPr>
              <a:t>nce the weight of the object</a:t>
            </a:r>
          </a:p>
          <a:p>
            <a:r>
              <a:rPr lang="en-CN" dirty="0">
                <a:latin typeface="Times New Roman" panose="02020603050405020304" pitchFamily="18" charset="0"/>
                <a:cs typeface="Times New Roman" panose="02020603050405020304" pitchFamily="18" charset="0"/>
              </a:rPr>
              <a:t>Usage of springs to absorb shock</a:t>
            </a:r>
          </a:p>
          <a:p>
            <a:pPr marL="0" indent="0">
              <a:buNone/>
            </a:pPr>
            <a:endParaRPr lang="en-CN" dirty="0">
              <a:latin typeface="Times New Roman" panose="02020603050405020304" pitchFamily="18" charset="0"/>
              <a:cs typeface="Times New Roman" panose="02020603050405020304" pitchFamily="18" charset="0"/>
            </a:endParaRPr>
          </a:p>
          <a:p>
            <a:pPr marL="0" indent="0">
              <a:buNone/>
            </a:pPr>
            <a:endParaRPr lang="en-CN" dirty="0">
              <a:latin typeface="Times New Roman" panose="02020603050405020304" pitchFamily="18" charset="0"/>
              <a:cs typeface="Times New Roman" panose="02020603050405020304" pitchFamily="18" charset="0"/>
            </a:endParaRPr>
          </a:p>
          <a:p>
            <a:pPr algn="r"/>
            <a:r>
              <a:rPr lang="en-CN" dirty="0"/>
              <a:t>3.17 – 3.31</a:t>
            </a:r>
          </a:p>
        </p:txBody>
      </p:sp>
      <p:pic>
        <p:nvPicPr>
          <p:cNvPr id="6" name="Picture 5" descr="A mechanical device with a metal base&#10;&#10;Description automatically generated with medium confidence">
            <a:extLst>
              <a:ext uri="{FF2B5EF4-FFF2-40B4-BE49-F238E27FC236}">
                <a16:creationId xmlns:a16="http://schemas.microsoft.com/office/drawing/2014/main" id="{B6D4FFE0-F149-4D99-4D5A-E73E203B1872}"/>
              </a:ext>
            </a:extLst>
          </p:cNvPr>
          <p:cNvPicPr>
            <a:picLocks noChangeAspect="1"/>
          </p:cNvPicPr>
          <p:nvPr/>
        </p:nvPicPr>
        <p:blipFill>
          <a:blip r:embed="rId2"/>
          <a:srcRect l="15202" r="14291" b="4"/>
          <a:stretch/>
        </p:blipFill>
        <p:spPr>
          <a:xfrm>
            <a:off x="6104467" y="2265037"/>
            <a:ext cx="2445173" cy="3749039"/>
          </a:xfrm>
          <a:prstGeom prst="rect">
            <a:avLst/>
          </a:prstGeom>
        </p:spPr>
      </p:pic>
      <p:pic>
        <p:nvPicPr>
          <p:cNvPr id="5" name="Picture 4">
            <a:extLst>
              <a:ext uri="{FF2B5EF4-FFF2-40B4-BE49-F238E27FC236}">
                <a16:creationId xmlns:a16="http://schemas.microsoft.com/office/drawing/2014/main" id="{45437F8A-65DC-58E1-1094-0452860CCF9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941" r="25137" b="4"/>
          <a:stretch/>
        </p:blipFill>
        <p:spPr bwMode="auto">
          <a:xfrm>
            <a:off x="8710507" y="2265037"/>
            <a:ext cx="2262293" cy="1747816"/>
          </a:xfrm>
          <a:prstGeom prst="rect">
            <a:avLst/>
          </a:prstGeom>
          <a:extLst>
            <a:ext uri="{53640926-AAD7-44D8-BBD7-CCE9431645EC}">
              <a14:shadowObscured xmlns:a14="http://schemas.microsoft.com/office/drawing/2010/main"/>
            </a:ext>
          </a:extLst>
        </p:spPr>
      </p:pic>
      <p:pic>
        <p:nvPicPr>
          <p:cNvPr id="7" name="Picture 6" descr="A drawing of a mechanical arm&#10;&#10;Description automatically generated">
            <a:extLst>
              <a:ext uri="{FF2B5EF4-FFF2-40B4-BE49-F238E27FC236}">
                <a16:creationId xmlns:a16="http://schemas.microsoft.com/office/drawing/2014/main" id="{09556657-CFE1-AD27-61FD-7B13098A3780}"/>
              </a:ext>
            </a:extLst>
          </p:cNvPr>
          <p:cNvPicPr>
            <a:picLocks noChangeAspect="1"/>
          </p:cNvPicPr>
          <p:nvPr/>
        </p:nvPicPr>
        <p:blipFill>
          <a:blip r:embed="rId4"/>
          <a:srcRect t="15122" r="-1" b="10689"/>
          <a:stretch/>
        </p:blipFill>
        <p:spPr>
          <a:xfrm>
            <a:off x="8710507" y="4169734"/>
            <a:ext cx="2262293" cy="1844343"/>
          </a:xfrm>
          <a:prstGeom prst="rect">
            <a:avLst/>
          </a:prstGeom>
        </p:spPr>
      </p:pic>
    </p:spTree>
    <p:extLst>
      <p:ext uri="{BB962C8B-B14F-4D97-AF65-F5344CB8AC3E}">
        <p14:creationId xmlns:p14="http://schemas.microsoft.com/office/powerpoint/2010/main" val="3552364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3503ACF-2B55-7A22-7477-E0664DF193B9}"/>
              </a:ext>
            </a:extLst>
          </p:cNvPr>
          <p:cNvSpPr>
            <a:spLocks noGrp="1"/>
          </p:cNvSpPr>
          <p:nvPr>
            <p:ph type="title"/>
          </p:nvPr>
        </p:nvSpPr>
        <p:spPr>
          <a:xfrm>
            <a:off x="640081" y="631373"/>
            <a:ext cx="4470538" cy="2035628"/>
          </a:xfrm>
        </p:spPr>
        <p:txBody>
          <a:bodyPr vert="horz" lIns="91440" tIns="45720" rIns="91440" bIns="45720" rtlCol="0" anchor="t">
            <a:normAutofit/>
          </a:bodyPr>
          <a:lstStyle/>
          <a:p>
            <a:r>
              <a:rPr lang="en-US" cap="all" dirty="0">
                <a:latin typeface="Times New Roman" panose="02020603050405020304" pitchFamily="18" charset="0"/>
                <a:cs typeface="Times New Roman" panose="02020603050405020304" pitchFamily="18" charset="0"/>
              </a:rPr>
              <a:t>Software Programming</a:t>
            </a:r>
          </a:p>
        </p:txBody>
      </p:sp>
      <p:sp>
        <p:nvSpPr>
          <p:cNvPr id="3" name="TextBox 2">
            <a:extLst>
              <a:ext uri="{FF2B5EF4-FFF2-40B4-BE49-F238E27FC236}">
                <a16:creationId xmlns:a16="http://schemas.microsoft.com/office/drawing/2014/main" id="{000E0117-C5A0-1AB4-F1E1-972889344F3D}"/>
              </a:ext>
            </a:extLst>
          </p:cNvPr>
          <p:cNvSpPr txBox="1"/>
          <p:nvPr/>
        </p:nvSpPr>
        <p:spPr>
          <a:xfrm>
            <a:off x="640082" y="2479355"/>
            <a:ext cx="3984170" cy="4173994"/>
          </a:xfrm>
          <a:prstGeom prst="rect">
            <a:avLst/>
          </a:prstGeom>
        </p:spPr>
        <p:txBody>
          <a:bodyPr vert="horz" lIns="91440" tIns="45720" rIns="91440" bIns="45720" rtlCol="0">
            <a:normAutofit/>
          </a:bodyPr>
          <a:lstStyle/>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laser distance sensors is implemented with the right diagram.</a:t>
            </a: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sz="2000"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r>
              <a:rPr lang="en-US" sz="2000" dirty="0">
                <a:solidFill>
                  <a:schemeClr val="tx2"/>
                </a:solidFill>
                <a:latin typeface="Times New Roman" panose="02020603050405020304" pitchFamily="18" charset="0"/>
                <a:cs typeface="Times New Roman" panose="02020603050405020304" pitchFamily="18" charset="0"/>
              </a:rPr>
              <a:t>The PID controller will self-adjust the two angles, roll and pitch to quickly and efficiently adjust the angle of the foot, making it parallel to the ground.</a:t>
            </a:r>
          </a:p>
          <a:p>
            <a:pPr indent="-384048" defTabSz="914400">
              <a:lnSpc>
                <a:spcPct val="94000"/>
              </a:lnSpc>
              <a:spcAft>
                <a:spcPts val="200"/>
              </a:spcAft>
              <a:buFont typeface="Franklin Gothic Book" panose="020B0503020102020204" pitchFamily="34" charset="0"/>
            </a:pPr>
            <a:endParaRPr lang="en-US" dirty="0">
              <a:solidFill>
                <a:schemeClr val="tx2"/>
              </a:solidFill>
              <a:latin typeface="Times New Roman" panose="02020603050405020304" pitchFamily="18" charset="0"/>
              <a:cs typeface="Times New Roman" panose="02020603050405020304" pitchFamily="18" charset="0"/>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a:p>
            <a:pPr indent="-384048" defTabSz="914400">
              <a:lnSpc>
                <a:spcPct val="94000"/>
              </a:lnSpc>
              <a:spcAft>
                <a:spcPts val="200"/>
              </a:spcAft>
              <a:buFont typeface="Franklin Gothic Book" panose="020B0503020102020204" pitchFamily="34" charset="0"/>
            </a:pPr>
            <a:endParaRPr lang="en-US" dirty="0">
              <a:solidFill>
                <a:schemeClr val="tx2"/>
              </a:solidFill>
            </a:endParaRPr>
          </a:p>
        </p:txBody>
      </p:sp>
      <p:sp>
        <p:nvSpPr>
          <p:cNvPr id="73" name="Rectangle 72">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Content Placeholder 4" descr="A diagram of a box&#10;&#10;Description automatically generated">
            <a:extLst>
              <a:ext uri="{FF2B5EF4-FFF2-40B4-BE49-F238E27FC236}">
                <a16:creationId xmlns:a16="http://schemas.microsoft.com/office/drawing/2014/main" id="{5FE7FA65-BBDD-C26D-E54D-2656E0A26743}"/>
              </a:ext>
            </a:extLst>
          </p:cNvPr>
          <p:cNvPicPr>
            <a:picLocks noChangeAspect="1"/>
          </p:cNvPicPr>
          <p:nvPr/>
        </p:nvPicPr>
        <p:blipFill>
          <a:blip r:embed="rId2"/>
          <a:stretch>
            <a:fillRect/>
          </a:stretch>
        </p:blipFill>
        <p:spPr>
          <a:xfrm>
            <a:off x="6096000" y="393026"/>
            <a:ext cx="5384074" cy="2086329"/>
          </a:xfrm>
          <a:prstGeom prst="rect">
            <a:avLst/>
          </a:prstGeom>
        </p:spPr>
      </p:pic>
      <p:pic>
        <p:nvPicPr>
          <p:cNvPr id="10" name="Content Placeholder 9" descr="A diagram of a flowchart&#10;&#10;Description automatically generated">
            <a:extLst>
              <a:ext uri="{FF2B5EF4-FFF2-40B4-BE49-F238E27FC236}">
                <a16:creationId xmlns:a16="http://schemas.microsoft.com/office/drawing/2014/main" id="{FB1DF090-C9F4-2FE9-E0C6-15FCA5CB53C4}"/>
              </a:ext>
            </a:extLst>
          </p:cNvPr>
          <p:cNvPicPr>
            <a:picLocks noGrp="1" noChangeAspect="1"/>
          </p:cNvPicPr>
          <p:nvPr>
            <p:ph idx="1"/>
          </p:nvPr>
        </p:nvPicPr>
        <p:blipFill>
          <a:blip r:embed="rId3"/>
          <a:stretch>
            <a:fillRect/>
          </a:stretch>
        </p:blipFill>
        <p:spPr>
          <a:xfrm>
            <a:off x="5855330" y="2877535"/>
            <a:ext cx="5886710" cy="3002221"/>
          </a:xfrm>
          <a:prstGeom prst="rect">
            <a:avLst/>
          </a:prstGeom>
        </p:spPr>
      </p:pic>
    </p:spTree>
    <p:extLst>
      <p:ext uri="{BB962C8B-B14F-4D97-AF65-F5344CB8AC3E}">
        <p14:creationId xmlns:p14="http://schemas.microsoft.com/office/powerpoint/2010/main" val="3346194818"/>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E2B8A2D-F46F-4DA5-8AFF-BC57461C2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1C8775-C7CB-B211-293F-CB72520F0FC6}"/>
              </a:ext>
            </a:extLst>
          </p:cNvPr>
          <p:cNvSpPr>
            <a:spLocks noGrp="1"/>
          </p:cNvSpPr>
          <p:nvPr>
            <p:ph type="title"/>
          </p:nvPr>
        </p:nvSpPr>
        <p:spPr>
          <a:xfrm>
            <a:off x="784743" y="685800"/>
            <a:ext cx="5793475" cy="1485900"/>
          </a:xfrm>
        </p:spPr>
        <p:txBody>
          <a:bodyPr>
            <a:normAutofit/>
          </a:bodyPr>
          <a:lstStyle/>
          <a:p>
            <a:r>
              <a:rPr lang="en-CN" dirty="0"/>
              <a:t>First Model</a:t>
            </a:r>
          </a:p>
        </p:txBody>
      </p:sp>
      <p:sp>
        <p:nvSpPr>
          <p:cNvPr id="3" name="Content Placeholder 2">
            <a:extLst>
              <a:ext uri="{FF2B5EF4-FFF2-40B4-BE49-F238E27FC236}">
                <a16:creationId xmlns:a16="http://schemas.microsoft.com/office/drawing/2014/main" id="{71D2BB23-F68C-6E5A-B978-BA09B9614D01}"/>
              </a:ext>
            </a:extLst>
          </p:cNvPr>
          <p:cNvSpPr>
            <a:spLocks noGrp="1"/>
          </p:cNvSpPr>
          <p:nvPr>
            <p:ph idx="1"/>
          </p:nvPr>
        </p:nvSpPr>
        <p:spPr>
          <a:xfrm>
            <a:off x="784743" y="2286000"/>
            <a:ext cx="5793475" cy="3581400"/>
          </a:xfrm>
        </p:spPr>
        <p:txBody>
          <a:bodyPr>
            <a:normAutofit fontScale="92500" lnSpcReduction="10000"/>
          </a:bodyPr>
          <a:lstStyle/>
          <a:p>
            <a:r>
              <a:rPr lang="en-CN" dirty="0"/>
              <a:t>After testing out the whole ankle in a virtual environment, we started on the first prototype of the bionic ankle to work on the code.</a:t>
            </a:r>
          </a:p>
          <a:p>
            <a:r>
              <a:rPr lang="en-CN" dirty="0"/>
              <a:t>For the framework of the model, we used 3D printed materials, which makes it easy to replace.</a:t>
            </a:r>
          </a:p>
          <a:p>
            <a:r>
              <a:rPr lang="en-CN" dirty="0"/>
              <a:t>The adaptation process was simulated with two gyroscopes.</a:t>
            </a:r>
          </a:p>
          <a:p>
            <a:endParaRPr lang="en-CN" dirty="0"/>
          </a:p>
          <a:p>
            <a:endParaRPr lang="en-CN" dirty="0"/>
          </a:p>
          <a:p>
            <a:pPr algn="r"/>
            <a:r>
              <a:rPr lang="en-CN" dirty="0"/>
              <a:t>4.5 – 6.24</a:t>
            </a:r>
          </a:p>
          <a:p>
            <a:pPr algn="r"/>
            <a:endParaRPr lang="en-CN" dirty="0"/>
          </a:p>
        </p:txBody>
      </p:sp>
      <p:sp>
        <p:nvSpPr>
          <p:cNvPr id="1033" name="Rectangle 1032">
            <a:extLst>
              <a:ext uri="{FF2B5EF4-FFF2-40B4-BE49-F238E27FC236}">
                <a16:creationId xmlns:a16="http://schemas.microsoft.com/office/drawing/2014/main" id="{292BAD85-00E4-4D0A-993C-8372E78E1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26" name="Picture 2">
            <a:extLst>
              <a:ext uri="{FF2B5EF4-FFF2-40B4-BE49-F238E27FC236}">
                <a16:creationId xmlns:a16="http://schemas.microsoft.com/office/drawing/2014/main" id="{765A9B94-8333-9586-960B-B7899C0E1D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98730" y="643467"/>
            <a:ext cx="3606799" cy="2705100"/>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5" name="Picture 4" descr="A machine with a metal object&#10;&#10;Description automatically generated with medium confidence">
            <a:extLst>
              <a:ext uri="{FF2B5EF4-FFF2-40B4-BE49-F238E27FC236}">
                <a16:creationId xmlns:a16="http://schemas.microsoft.com/office/drawing/2014/main" id="{A98DF40C-0BAC-2C93-961F-6DEC6137B8E3}"/>
              </a:ext>
            </a:extLst>
          </p:cNvPr>
          <p:cNvPicPr>
            <a:picLocks noChangeAspect="1"/>
          </p:cNvPicPr>
          <p:nvPr/>
        </p:nvPicPr>
        <p:blipFill>
          <a:blip r:embed="rId3"/>
          <a:stretch>
            <a:fillRect/>
          </a:stretch>
        </p:blipFill>
        <p:spPr>
          <a:xfrm>
            <a:off x="8098729" y="3509434"/>
            <a:ext cx="3606800" cy="2705100"/>
          </a:xfrm>
          <a:prstGeom prst="rect">
            <a:avLst/>
          </a:prstGeom>
          <a:ln>
            <a:noFill/>
          </a:ln>
          <a:effectLst/>
        </p:spPr>
      </p:pic>
      <p:sp>
        <p:nvSpPr>
          <p:cNvPr id="6" name="AutoShape 1">
            <a:extLst>
              <a:ext uri="{FF2B5EF4-FFF2-40B4-BE49-F238E27FC236}">
                <a16:creationId xmlns:a16="http://schemas.microsoft.com/office/drawing/2014/main" id="{2237F074-C0FF-36C9-62CC-480D264D59E1}"/>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N"/>
          </a:p>
        </p:txBody>
      </p:sp>
    </p:spTree>
    <p:extLst>
      <p:ext uri="{BB962C8B-B14F-4D97-AF65-F5344CB8AC3E}">
        <p14:creationId xmlns:p14="http://schemas.microsoft.com/office/powerpoint/2010/main" val="2739484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E2B8A2D-F46F-4DA5-8AFF-BC57461C28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958003-4FD6-5AF3-BFC7-74EB06492E1A}"/>
              </a:ext>
            </a:extLst>
          </p:cNvPr>
          <p:cNvSpPr>
            <a:spLocks noGrp="1"/>
          </p:cNvSpPr>
          <p:nvPr>
            <p:ph type="title"/>
          </p:nvPr>
        </p:nvSpPr>
        <p:spPr>
          <a:xfrm>
            <a:off x="784743" y="685800"/>
            <a:ext cx="5793475" cy="1485900"/>
          </a:xfrm>
        </p:spPr>
        <p:txBody>
          <a:bodyPr>
            <a:normAutofit/>
          </a:bodyPr>
          <a:lstStyle/>
          <a:p>
            <a:r>
              <a:rPr lang="en-CN" dirty="0"/>
              <a:t>Second Model</a:t>
            </a:r>
          </a:p>
        </p:txBody>
      </p:sp>
      <p:sp>
        <p:nvSpPr>
          <p:cNvPr id="3" name="Content Placeholder 2">
            <a:extLst>
              <a:ext uri="{FF2B5EF4-FFF2-40B4-BE49-F238E27FC236}">
                <a16:creationId xmlns:a16="http://schemas.microsoft.com/office/drawing/2014/main" id="{4DDEAD4C-72EB-4157-E8B6-9B96313B5950}"/>
              </a:ext>
            </a:extLst>
          </p:cNvPr>
          <p:cNvSpPr>
            <a:spLocks noGrp="1"/>
          </p:cNvSpPr>
          <p:nvPr>
            <p:ph idx="1"/>
          </p:nvPr>
        </p:nvSpPr>
        <p:spPr>
          <a:xfrm>
            <a:off x="784743" y="2286000"/>
            <a:ext cx="5793475" cy="3581400"/>
          </a:xfrm>
        </p:spPr>
        <p:txBody>
          <a:bodyPr>
            <a:normAutofit/>
          </a:bodyPr>
          <a:lstStyle/>
          <a:p>
            <a:r>
              <a:rPr lang="en-CN" dirty="0"/>
              <a:t>3D printed materials cannot withstand the force exerted by the motors, so aluminium boards are needed. </a:t>
            </a:r>
          </a:p>
          <a:p>
            <a:r>
              <a:rPr lang="en-CN" dirty="0"/>
              <a:t>A damping is needed to use up the additional motors force.</a:t>
            </a:r>
          </a:p>
          <a:p>
            <a:pPr marL="0" indent="0">
              <a:buNone/>
            </a:pPr>
            <a:endParaRPr lang="en-CN" dirty="0"/>
          </a:p>
          <a:p>
            <a:endParaRPr lang="en-CN" dirty="0"/>
          </a:p>
          <a:p>
            <a:pPr algn="r"/>
            <a:r>
              <a:rPr lang="en-CN" dirty="0"/>
              <a:t>6.24 - now</a:t>
            </a:r>
          </a:p>
          <a:p>
            <a:endParaRPr lang="en-CN" dirty="0"/>
          </a:p>
        </p:txBody>
      </p:sp>
      <p:sp>
        <p:nvSpPr>
          <p:cNvPr id="14" name="Rectangle 13">
            <a:extLst>
              <a:ext uri="{FF2B5EF4-FFF2-40B4-BE49-F238E27FC236}">
                <a16:creationId xmlns:a16="http://schemas.microsoft.com/office/drawing/2014/main" id="{292BAD85-00E4-4D0A-993C-8372E78E1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5" name="Picture 4" descr="A machine on a table&#10;&#10;Description automatically generated">
            <a:extLst>
              <a:ext uri="{FF2B5EF4-FFF2-40B4-BE49-F238E27FC236}">
                <a16:creationId xmlns:a16="http://schemas.microsoft.com/office/drawing/2014/main" id="{03021442-B99C-0399-5066-4E76EBE0C090}"/>
              </a:ext>
            </a:extLst>
          </p:cNvPr>
          <p:cNvPicPr>
            <a:picLocks noChangeAspect="1"/>
          </p:cNvPicPr>
          <p:nvPr/>
        </p:nvPicPr>
        <p:blipFill>
          <a:blip r:embed="rId2"/>
          <a:stretch>
            <a:fillRect/>
          </a:stretch>
        </p:blipFill>
        <p:spPr>
          <a:xfrm>
            <a:off x="8887717" y="643467"/>
            <a:ext cx="2028825" cy="2705100"/>
          </a:xfrm>
          <a:prstGeom prst="rect">
            <a:avLst/>
          </a:prstGeom>
          <a:ln>
            <a:noFill/>
          </a:ln>
          <a:effectLst/>
        </p:spPr>
      </p:pic>
      <p:pic>
        <p:nvPicPr>
          <p:cNvPr id="7" name="Picture 6" descr="A close up of a machine&#10;&#10;Description automatically generated">
            <a:extLst>
              <a:ext uri="{FF2B5EF4-FFF2-40B4-BE49-F238E27FC236}">
                <a16:creationId xmlns:a16="http://schemas.microsoft.com/office/drawing/2014/main" id="{8D3B65B1-341A-D6DD-7901-B06826564FE8}"/>
              </a:ext>
            </a:extLst>
          </p:cNvPr>
          <p:cNvPicPr>
            <a:picLocks noChangeAspect="1"/>
          </p:cNvPicPr>
          <p:nvPr/>
        </p:nvPicPr>
        <p:blipFill>
          <a:blip r:embed="rId3"/>
          <a:stretch>
            <a:fillRect/>
          </a:stretch>
        </p:blipFill>
        <p:spPr>
          <a:xfrm>
            <a:off x="8037090" y="3654371"/>
            <a:ext cx="3730079" cy="2415226"/>
          </a:xfrm>
          <a:prstGeom prst="rect">
            <a:avLst/>
          </a:prstGeom>
          <a:ln>
            <a:noFill/>
          </a:ln>
          <a:effectLst/>
        </p:spPr>
      </p:pic>
    </p:spTree>
    <p:extLst>
      <p:ext uri="{BB962C8B-B14F-4D97-AF65-F5344CB8AC3E}">
        <p14:creationId xmlns:p14="http://schemas.microsoft.com/office/powerpoint/2010/main" val="575655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25E602A-53EB-4CB1-9633-3EC058740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92516E-9763-0B3D-66D9-9C6800BD1396}"/>
              </a:ext>
            </a:extLst>
          </p:cNvPr>
          <p:cNvSpPr>
            <a:spLocks noGrp="1"/>
          </p:cNvSpPr>
          <p:nvPr>
            <p:ph type="title"/>
          </p:nvPr>
        </p:nvSpPr>
        <p:spPr>
          <a:xfrm>
            <a:off x="5100824" y="685800"/>
            <a:ext cx="6176776" cy="1485900"/>
          </a:xfrm>
        </p:spPr>
        <p:txBody>
          <a:bodyPr vert="horz" lIns="91440" tIns="45720" rIns="91440" bIns="45720" rtlCol="0">
            <a:normAutofit/>
          </a:bodyPr>
          <a:lstStyle/>
          <a:p>
            <a:r>
              <a:rPr lang="en-US" dirty="0">
                <a:latin typeface="Times New Roman" panose="02020603050405020304" pitchFamily="18" charset="0"/>
                <a:cs typeface="Times New Roman" panose="02020603050405020304" pitchFamily="18" charset="0"/>
              </a:rPr>
              <a:t>Maximum Angle Experiment</a:t>
            </a:r>
          </a:p>
        </p:txBody>
      </p:sp>
      <p:pic>
        <p:nvPicPr>
          <p:cNvPr id="5" name="Content Placeholder 4" descr="A collage of different types of objects&#10;&#10;Description automatically generated">
            <a:extLst>
              <a:ext uri="{FF2B5EF4-FFF2-40B4-BE49-F238E27FC236}">
                <a16:creationId xmlns:a16="http://schemas.microsoft.com/office/drawing/2014/main" id="{7C097249-F200-5C99-80F5-042C0E478C78}"/>
              </a:ext>
            </a:extLst>
          </p:cNvPr>
          <p:cNvPicPr>
            <a:picLocks noChangeAspect="1"/>
          </p:cNvPicPr>
          <p:nvPr/>
        </p:nvPicPr>
        <p:blipFill>
          <a:blip r:embed="rId2"/>
          <a:stretch>
            <a:fillRect/>
          </a:stretch>
        </p:blipFill>
        <p:spPr>
          <a:xfrm>
            <a:off x="321733" y="769754"/>
            <a:ext cx="3730079" cy="2452526"/>
          </a:xfrm>
          <a:prstGeom prst="rect">
            <a:avLst/>
          </a:prstGeom>
          <a:ln>
            <a:noFill/>
          </a:ln>
          <a:effectLst/>
        </p:spPr>
      </p:pic>
      <p:pic>
        <p:nvPicPr>
          <p:cNvPr id="7" name="Picture 6" descr="A table with text and numbers&#10;&#10;Description automatically generated">
            <a:extLst>
              <a:ext uri="{FF2B5EF4-FFF2-40B4-BE49-F238E27FC236}">
                <a16:creationId xmlns:a16="http://schemas.microsoft.com/office/drawing/2014/main" id="{37E37A86-9E4A-D36A-E53C-BCCD75EC5901}"/>
              </a:ext>
            </a:extLst>
          </p:cNvPr>
          <p:cNvPicPr>
            <a:picLocks noChangeAspect="1"/>
          </p:cNvPicPr>
          <p:nvPr/>
        </p:nvPicPr>
        <p:blipFill>
          <a:blip r:embed="rId3"/>
          <a:stretch>
            <a:fillRect/>
          </a:stretch>
        </p:blipFill>
        <p:spPr>
          <a:xfrm>
            <a:off x="321733" y="4457700"/>
            <a:ext cx="3661857" cy="823917"/>
          </a:xfrm>
          <a:prstGeom prst="rect">
            <a:avLst/>
          </a:prstGeom>
          <a:ln>
            <a:noFill/>
          </a:ln>
          <a:effectLst/>
        </p:spPr>
      </p:pic>
      <p:sp>
        <p:nvSpPr>
          <p:cNvPr id="16" name="Rectangle 15">
            <a:extLst>
              <a:ext uri="{FF2B5EF4-FFF2-40B4-BE49-F238E27FC236}">
                <a16:creationId xmlns:a16="http://schemas.microsoft.com/office/drawing/2014/main" id="{E832F3F2-2294-4A8D-ABDC-234B853C7C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Content Placeholder 10">
            <a:extLst>
              <a:ext uri="{FF2B5EF4-FFF2-40B4-BE49-F238E27FC236}">
                <a16:creationId xmlns:a16="http://schemas.microsoft.com/office/drawing/2014/main" id="{B6CAEFE4-5E4C-28F2-8FBA-AE33AF8581E1}"/>
              </a:ext>
            </a:extLst>
          </p:cNvPr>
          <p:cNvSpPr>
            <a:spLocks noGrp="1"/>
          </p:cNvSpPr>
          <p:nvPr>
            <p:ph idx="1"/>
          </p:nvPr>
        </p:nvSpPr>
        <p:spPr>
          <a:xfrm>
            <a:off x="5100824" y="2286000"/>
            <a:ext cx="6176776" cy="3581400"/>
          </a:xfrm>
        </p:spPr>
        <p:txBody>
          <a:bodyPr>
            <a:normAutofit/>
          </a:bodyPr>
          <a:lstStyle/>
          <a:p>
            <a:r>
              <a:rPr lang="en-US" sz="1400" dirty="0">
                <a:latin typeface="Times New Roman" panose="02020603050405020304" pitchFamily="18" charset="0"/>
                <a:cs typeface="Times New Roman" panose="02020603050405020304" pitchFamily="18" charset="0"/>
              </a:rPr>
              <a:t>I use my hands to turn the motor such that the foot is in the extreme position. Even if the foot can still move further, it is unnecessary because the strings are too strained to be stable and safe.</a:t>
            </a:r>
          </a:p>
          <a:p>
            <a:r>
              <a:rPr lang="en-US" sz="1400" dirty="0">
                <a:latin typeface="Times New Roman" panose="02020603050405020304" pitchFamily="18" charset="0"/>
                <a:cs typeface="Times New Roman" panose="02020603050405020304" pitchFamily="18" charset="0"/>
              </a:rPr>
              <a:t>I take a picture of the lower part of the foot with the bottom face of the supporting leg perpendicular to the photo frame, and the bottom face of the foot perpendicular to the photo frame.</a:t>
            </a:r>
          </a:p>
          <a:p>
            <a:r>
              <a:rPr lang="en-US" sz="1400" dirty="0">
                <a:latin typeface="Times New Roman" panose="02020603050405020304" pitchFamily="18" charset="0"/>
                <a:cs typeface="Times New Roman" panose="02020603050405020304" pitchFamily="18" charset="0"/>
              </a:rPr>
              <a:t>I use Tracker to analyze the photo:</a:t>
            </a:r>
          </a:p>
          <a:p>
            <a:pPr lvl="1"/>
            <a:r>
              <a:rPr lang="en-US" sz="1400" dirty="0">
                <a:latin typeface="Times New Roman" panose="02020603050405020304" pitchFamily="18" charset="0"/>
                <a:cs typeface="Times New Roman" panose="02020603050405020304" pitchFamily="18" charset="0"/>
              </a:rPr>
              <a:t>Take the bottom of the supporting leg as the x-axis, since it is perpendicular to the photo frame, the bottom of the supporting leg is represented by a line.</a:t>
            </a:r>
          </a:p>
          <a:p>
            <a:pPr lvl="1"/>
            <a:r>
              <a:rPr lang="en-US" sz="1400" dirty="0">
                <a:latin typeface="Times New Roman" panose="02020603050405020304" pitchFamily="18" charset="0"/>
                <a:cs typeface="Times New Roman" panose="02020603050405020304" pitchFamily="18" charset="0"/>
              </a:rPr>
              <a:t>Use the bottom of the foot as the other ray that locks the angle with the x-axis. The intersection between the line formed by the bottom of the foot and x-axis is the center of the protractor.</a:t>
            </a:r>
          </a:p>
        </p:txBody>
      </p:sp>
    </p:spTree>
    <p:extLst>
      <p:ext uri="{BB962C8B-B14F-4D97-AF65-F5344CB8AC3E}">
        <p14:creationId xmlns:p14="http://schemas.microsoft.com/office/powerpoint/2010/main" val="3541415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6D7D7F0C-622D-4D84-A68D-C1AF54B63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6"/>
            <a:ext cx="5303520" cy="6857624"/>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66CEE1E-352A-70BC-D688-7F439B564171}"/>
              </a:ext>
            </a:extLst>
          </p:cNvPr>
          <p:cNvSpPr>
            <a:spLocks noGrp="1"/>
          </p:cNvSpPr>
          <p:nvPr>
            <p:ph type="title"/>
          </p:nvPr>
        </p:nvSpPr>
        <p:spPr>
          <a:xfrm>
            <a:off x="640081" y="631373"/>
            <a:ext cx="4018839" cy="2035628"/>
          </a:xfrm>
        </p:spPr>
        <p:txBody>
          <a:bodyPr>
            <a:normAutofit/>
          </a:bodyPr>
          <a:lstStyle/>
          <a:p>
            <a:r>
              <a:rPr lang="en-CN" dirty="0">
                <a:latin typeface="Times New Roman" panose="02020603050405020304" pitchFamily="18" charset="0"/>
                <a:cs typeface="Times New Roman" panose="02020603050405020304" pitchFamily="18" charset="0"/>
              </a:rPr>
              <a:t>Self Adaptive Experinment</a:t>
            </a:r>
          </a:p>
        </p:txBody>
      </p:sp>
      <p:sp>
        <p:nvSpPr>
          <p:cNvPr id="3" name="Content Placeholder 2">
            <a:extLst>
              <a:ext uri="{FF2B5EF4-FFF2-40B4-BE49-F238E27FC236}">
                <a16:creationId xmlns:a16="http://schemas.microsoft.com/office/drawing/2014/main" id="{CB97EC8E-B096-E62B-36DF-619AA367EA63}"/>
              </a:ext>
            </a:extLst>
          </p:cNvPr>
          <p:cNvSpPr>
            <a:spLocks noGrp="1"/>
          </p:cNvSpPr>
          <p:nvPr>
            <p:ph idx="1"/>
          </p:nvPr>
        </p:nvSpPr>
        <p:spPr>
          <a:xfrm>
            <a:off x="640081" y="2764971"/>
            <a:ext cx="4010296" cy="3472543"/>
          </a:xfrm>
        </p:spPr>
        <p:txBody>
          <a:bodyPr>
            <a:normAutofit/>
          </a:bodyPr>
          <a:lstStyle/>
          <a:p>
            <a:pPr marL="0" indent="0">
              <a:buNone/>
            </a:pPr>
            <a:endParaRPr lang="en-CN" sz="1800" dirty="0"/>
          </a:p>
          <a:p>
            <a:r>
              <a:rPr lang="en-US" sz="1400" dirty="0">
                <a:latin typeface="Times New Roman" panose="02020603050405020304" pitchFamily="18" charset="0"/>
                <a:cs typeface="Times New Roman" panose="02020603050405020304" pitchFamily="18" charset="0"/>
              </a:rPr>
              <a:t>To test the capability of the foot, I build a frame to hang the bionic ankle and oscillating it back and forth using a putter.</a:t>
            </a:r>
          </a:p>
          <a:p>
            <a:r>
              <a:rPr lang="en-US" sz="1400" dirty="0">
                <a:latin typeface="Times New Roman" panose="02020603050405020304" pitchFamily="18" charset="0"/>
                <a:cs typeface="Times New Roman" panose="02020603050405020304" pitchFamily="18" charset="0"/>
              </a:rPr>
              <a:t>As shown below, the foot can adapt to uneven ground.</a:t>
            </a:r>
          </a:p>
          <a:p>
            <a:r>
              <a:rPr lang="en-US" sz="1400" dirty="0">
                <a:latin typeface="Times New Roman" panose="02020603050405020304" pitchFamily="18" charset="0"/>
                <a:cs typeface="Times New Roman" panose="02020603050405020304" pitchFamily="18" charset="0"/>
              </a:rPr>
              <a:t>The Graph displays the enclosing of the foot’s pitch and roll to the ground’s pitch and roll. The time is in milliseconds, which is very fast</a:t>
            </a:r>
            <a:r>
              <a:rPr lang="en-US" sz="1800" dirty="0">
                <a:latin typeface="Times New Roman" panose="02020603050405020304" pitchFamily="18" charset="0"/>
                <a:cs typeface="Times New Roman" panose="02020603050405020304" pitchFamily="18" charset="0"/>
              </a:rPr>
              <a:t>. </a:t>
            </a:r>
          </a:p>
          <a:p>
            <a:endParaRPr lang="en-CN" sz="1800" dirty="0">
              <a:latin typeface="Times New Roman" panose="02020603050405020304" pitchFamily="18" charset="0"/>
              <a:cs typeface="Times New Roman" panose="02020603050405020304" pitchFamily="18" charset="0"/>
            </a:endParaRPr>
          </a:p>
          <a:p>
            <a:pPr algn="r"/>
            <a:endParaRPr lang="en-CN" sz="1800" dirty="0">
              <a:latin typeface="Times New Roman" panose="02020603050405020304" pitchFamily="18" charset="0"/>
              <a:cs typeface="Times New Roman" panose="02020603050405020304" pitchFamily="18" charset="0"/>
            </a:endParaRPr>
          </a:p>
        </p:txBody>
      </p:sp>
      <p:sp>
        <p:nvSpPr>
          <p:cNvPr id="38" name="Rectangle 37">
            <a:extLst>
              <a:ext uri="{FF2B5EF4-FFF2-40B4-BE49-F238E27FC236}">
                <a16:creationId xmlns:a16="http://schemas.microsoft.com/office/drawing/2014/main" id="{02A2E7B6-CE50-4B96-A981-2A0250732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520" y="376"/>
            <a:ext cx="228600" cy="6858000"/>
          </a:xfrm>
          <a:prstGeom prst="rect">
            <a:avLst/>
          </a:prstGeom>
          <a:solidFill>
            <a:schemeClr val="tx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descr="A blue mat with foam on it&#10;&#10;Description automatically generated">
            <a:extLst>
              <a:ext uri="{FF2B5EF4-FFF2-40B4-BE49-F238E27FC236}">
                <a16:creationId xmlns:a16="http://schemas.microsoft.com/office/drawing/2014/main" id="{B8549147-0267-6B24-FF2F-54378C1F08D4}"/>
              </a:ext>
            </a:extLst>
          </p:cNvPr>
          <p:cNvPicPr>
            <a:picLocks noChangeAspect="1"/>
          </p:cNvPicPr>
          <p:nvPr/>
        </p:nvPicPr>
        <p:blipFill>
          <a:blip r:embed="rId2"/>
          <a:stretch>
            <a:fillRect/>
          </a:stretch>
        </p:blipFill>
        <p:spPr>
          <a:xfrm>
            <a:off x="5835274" y="455238"/>
            <a:ext cx="5973151" cy="1314093"/>
          </a:xfrm>
          <a:prstGeom prst="rect">
            <a:avLst/>
          </a:prstGeom>
        </p:spPr>
      </p:pic>
      <p:pic>
        <p:nvPicPr>
          <p:cNvPr id="10" name="Picture 9">
            <a:extLst>
              <a:ext uri="{FF2B5EF4-FFF2-40B4-BE49-F238E27FC236}">
                <a16:creationId xmlns:a16="http://schemas.microsoft.com/office/drawing/2014/main" id="{01ECDAC0-CD03-843D-1C06-45724212A353}"/>
              </a:ext>
            </a:extLst>
          </p:cNvPr>
          <p:cNvPicPr>
            <a:picLocks noChangeAspect="1"/>
          </p:cNvPicPr>
          <p:nvPr/>
        </p:nvPicPr>
        <p:blipFill>
          <a:blip r:embed="rId3"/>
          <a:stretch>
            <a:fillRect/>
          </a:stretch>
        </p:blipFill>
        <p:spPr>
          <a:xfrm>
            <a:off x="6096000" y="2517032"/>
            <a:ext cx="2309039" cy="1731779"/>
          </a:xfrm>
          <a:prstGeom prst="rect">
            <a:avLst/>
          </a:prstGeom>
        </p:spPr>
      </p:pic>
      <p:pic>
        <p:nvPicPr>
          <p:cNvPr id="8" name="Picture 7">
            <a:extLst>
              <a:ext uri="{FF2B5EF4-FFF2-40B4-BE49-F238E27FC236}">
                <a16:creationId xmlns:a16="http://schemas.microsoft.com/office/drawing/2014/main" id="{7BD5EF49-23C0-AC9D-4CDC-9B0FE468B241}"/>
              </a:ext>
            </a:extLst>
          </p:cNvPr>
          <p:cNvPicPr>
            <a:picLocks noChangeAspect="1"/>
          </p:cNvPicPr>
          <p:nvPr/>
        </p:nvPicPr>
        <p:blipFill>
          <a:blip r:embed="rId4"/>
          <a:stretch>
            <a:fillRect/>
          </a:stretch>
        </p:blipFill>
        <p:spPr>
          <a:xfrm>
            <a:off x="9788783" y="2066794"/>
            <a:ext cx="1636513" cy="2182017"/>
          </a:xfrm>
          <a:prstGeom prst="rect">
            <a:avLst/>
          </a:prstGeom>
        </p:spPr>
      </p:pic>
      <p:pic>
        <p:nvPicPr>
          <p:cNvPr id="11" name="Picture 10">
            <a:extLst>
              <a:ext uri="{FF2B5EF4-FFF2-40B4-BE49-F238E27FC236}">
                <a16:creationId xmlns:a16="http://schemas.microsoft.com/office/drawing/2014/main" id="{2F32AEB1-539A-0912-E08A-FAA1F87BC6DE}"/>
              </a:ext>
            </a:extLst>
          </p:cNvPr>
          <p:cNvPicPr>
            <a:picLocks noChangeAspect="1"/>
          </p:cNvPicPr>
          <p:nvPr/>
        </p:nvPicPr>
        <p:blipFill>
          <a:blip r:embed="rId5"/>
          <a:stretch>
            <a:fillRect/>
          </a:stretch>
        </p:blipFill>
        <p:spPr>
          <a:xfrm>
            <a:off x="6667742" y="4546274"/>
            <a:ext cx="4308213" cy="1951653"/>
          </a:xfrm>
          <a:prstGeom prst="rect">
            <a:avLst/>
          </a:prstGeom>
        </p:spPr>
      </p:pic>
    </p:spTree>
    <p:extLst>
      <p:ext uri="{BB962C8B-B14F-4D97-AF65-F5344CB8AC3E}">
        <p14:creationId xmlns:p14="http://schemas.microsoft.com/office/powerpoint/2010/main" val="3119531665"/>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5BFF8-9361-6514-CF54-151368C144D6}"/>
              </a:ext>
            </a:extLst>
          </p:cNvPr>
          <p:cNvSpPr>
            <a:spLocks noGrp="1"/>
          </p:cNvSpPr>
          <p:nvPr>
            <p:ph type="title"/>
          </p:nvPr>
        </p:nvSpPr>
        <p:spPr/>
        <p:txBody>
          <a:bodyPr/>
          <a:lstStyle/>
          <a:p>
            <a:r>
              <a:rPr lang="en-CN" dirty="0"/>
              <a:t>Future Improvements</a:t>
            </a:r>
          </a:p>
        </p:txBody>
      </p:sp>
      <p:sp>
        <p:nvSpPr>
          <p:cNvPr id="3" name="Content Placeholder 2">
            <a:extLst>
              <a:ext uri="{FF2B5EF4-FFF2-40B4-BE49-F238E27FC236}">
                <a16:creationId xmlns:a16="http://schemas.microsoft.com/office/drawing/2014/main" id="{8284140E-7048-D545-CD1B-51A254E3FE00}"/>
              </a:ext>
            </a:extLst>
          </p:cNvPr>
          <p:cNvSpPr>
            <a:spLocks noGrp="1"/>
          </p:cNvSpPr>
          <p:nvPr>
            <p:ph idx="1"/>
          </p:nvPr>
        </p:nvSpPr>
        <p:spPr/>
        <p:txBody>
          <a:bodyPr/>
          <a:lstStyle/>
          <a:p>
            <a:r>
              <a:rPr lang="en-CN" dirty="0"/>
              <a:t>In this prototype, we have sucessfully demonstarted the basic functions such 2 dof bionic ankle</a:t>
            </a:r>
          </a:p>
          <a:p>
            <a:endParaRPr lang="en-CN" dirty="0"/>
          </a:p>
          <a:p>
            <a:pPr lvl="1"/>
            <a:r>
              <a:rPr lang="en-CN" dirty="0"/>
              <a:t>Future experinments on low gravity environments for examination of impactagainist ground (springs)</a:t>
            </a:r>
          </a:p>
          <a:p>
            <a:pPr lvl="1"/>
            <a:r>
              <a:rPr lang="en-US" dirty="0"/>
              <a:t>E</a:t>
            </a:r>
            <a:r>
              <a:rPr lang="en-CN" dirty="0"/>
              <a:t>xperinment on different foot types for different situations (such as for stability on rough ground)</a:t>
            </a:r>
          </a:p>
          <a:p>
            <a:pPr lvl="1"/>
            <a:r>
              <a:rPr lang="en-CN" dirty="0"/>
              <a:t>Coordination of ankle with legs and upper body</a:t>
            </a:r>
          </a:p>
          <a:p>
            <a:pPr lvl="1"/>
            <a:endParaRPr lang="en-CN" dirty="0"/>
          </a:p>
          <a:p>
            <a:pPr lvl="1"/>
            <a:endParaRPr lang="en-CN" dirty="0"/>
          </a:p>
          <a:p>
            <a:pPr lvl="1"/>
            <a:endParaRPr lang="en-CN" dirty="0"/>
          </a:p>
          <a:p>
            <a:pPr lvl="1"/>
            <a:endParaRPr lang="en-CN" dirty="0"/>
          </a:p>
          <a:p>
            <a:pPr lvl="1"/>
            <a:endParaRPr lang="en-CN" dirty="0"/>
          </a:p>
          <a:p>
            <a:endParaRPr lang="en-CN" dirty="0"/>
          </a:p>
        </p:txBody>
      </p:sp>
    </p:spTree>
    <p:extLst>
      <p:ext uri="{BB962C8B-B14F-4D97-AF65-F5344CB8AC3E}">
        <p14:creationId xmlns:p14="http://schemas.microsoft.com/office/powerpoint/2010/main" val="57238431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{D7266DEF-B306-F248-B2C7-F955E1044753}tf10001072</Template>
  <TotalTime>1216</TotalTime>
  <Words>809</Words>
  <Application>Microsoft Macintosh PowerPoint</Application>
  <PresentationFormat>Widescreen</PresentationFormat>
  <Paragraphs>82</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Franklin Gothic Book</vt:lpstr>
      <vt:lpstr>Times New Roman</vt:lpstr>
      <vt:lpstr>Crop</vt:lpstr>
      <vt:lpstr>A Two DoF Self Adaptive Bionic Ankle</vt:lpstr>
      <vt:lpstr>Space Exploration</vt:lpstr>
      <vt:lpstr>Background Signficance and Proposal</vt:lpstr>
      <vt:lpstr>Why Human Ankle?</vt:lpstr>
      <vt:lpstr>Innovation</vt:lpstr>
      <vt:lpstr>Challenges with a 2 dof bionic ankle</vt:lpstr>
      <vt:lpstr>Structural Design</vt:lpstr>
      <vt:lpstr>Software Programming</vt:lpstr>
      <vt:lpstr>First Model</vt:lpstr>
      <vt:lpstr>Second Model</vt:lpstr>
      <vt:lpstr>Maximum Angle Experiment</vt:lpstr>
      <vt:lpstr>Self Adaptive Experinment</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 DoF Self Adaptive Bionic Ankle</dc:title>
  <dc:creator>Zhaohua Guo</dc:creator>
  <cp:lastModifiedBy>Zhaohua Guo</cp:lastModifiedBy>
  <cp:revision>44</cp:revision>
  <dcterms:created xsi:type="dcterms:W3CDTF">2024-08-10T03:12:19Z</dcterms:created>
  <dcterms:modified xsi:type="dcterms:W3CDTF">2025-02-28T10:31:12Z</dcterms:modified>
</cp:coreProperties>
</file>