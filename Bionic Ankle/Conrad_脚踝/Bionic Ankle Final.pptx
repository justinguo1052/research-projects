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8" r:id="rId1"/>
  </p:sldMasterIdLst>
  <p:notesMasterIdLst>
    <p:notesMasterId r:id="rId18"/>
  </p:notesMasterIdLst>
  <p:sldIdLst>
    <p:sldId id="256" r:id="rId2"/>
    <p:sldId id="269" r:id="rId3"/>
    <p:sldId id="257" r:id="rId4"/>
    <p:sldId id="273" r:id="rId5"/>
    <p:sldId id="268" r:id="rId6"/>
    <p:sldId id="259" r:id="rId7"/>
    <p:sldId id="261" r:id="rId8"/>
    <p:sldId id="272" r:id="rId9"/>
    <p:sldId id="262" r:id="rId10"/>
    <p:sldId id="270" r:id="rId11"/>
    <p:sldId id="274" r:id="rId12"/>
    <p:sldId id="275" r:id="rId13"/>
    <p:sldId id="278" r:id="rId14"/>
    <p:sldId id="276" r:id="rId15"/>
    <p:sldId id="277" r:id="rId16"/>
    <p:sldId id="280"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398"/>
    <p:restoredTop sz="94694"/>
  </p:normalViewPr>
  <p:slideViewPr>
    <p:cSldViewPr snapToGrid="0">
      <p:cViewPr varScale="1">
        <p:scale>
          <a:sx n="117" d="100"/>
          <a:sy n="117" d="100"/>
        </p:scale>
        <p:origin x="1328"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A69A78-2B3E-454D-A7FA-041AA354A2C1}" type="datetimeFigureOut">
              <a:rPr lang="en-CN" smtClean="0"/>
              <a:t>2025/3/26</a:t>
            </a:fld>
            <a:endParaRPr lang="en-C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181452-B3EF-EE48-AC04-66FAD30A94F4}" type="slidenum">
              <a:rPr lang="en-CN" smtClean="0"/>
              <a:t>‹#›</a:t>
            </a:fld>
            <a:endParaRPr lang="en-CN"/>
          </a:p>
        </p:txBody>
      </p:sp>
    </p:spTree>
    <p:extLst>
      <p:ext uri="{BB962C8B-B14F-4D97-AF65-F5344CB8AC3E}">
        <p14:creationId xmlns:p14="http://schemas.microsoft.com/office/powerpoint/2010/main" val="25496475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
            </a:r>
            <a:r>
              <a:rPr lang="en-CN" dirty="0"/>
              <a:t>ho are they, what are their demands? </a:t>
            </a:r>
            <a:r>
              <a:rPr lang="en-US" dirty="0"/>
              <a:t>H</a:t>
            </a:r>
            <a:r>
              <a:rPr lang="en-CN" dirty="0"/>
              <a:t>ow are you planning on using your product to statisfy their demands. </a:t>
            </a:r>
            <a:r>
              <a:rPr lang="en-US" dirty="0"/>
              <a:t>T</a:t>
            </a:r>
            <a:r>
              <a:rPr lang="en-CN" dirty="0"/>
              <a:t>herefore, what could be your business models?</a:t>
            </a:r>
          </a:p>
        </p:txBody>
      </p:sp>
      <p:sp>
        <p:nvSpPr>
          <p:cNvPr id="4" name="Slide Number Placeholder 3"/>
          <p:cNvSpPr>
            <a:spLocks noGrp="1"/>
          </p:cNvSpPr>
          <p:nvPr>
            <p:ph type="sldNum" sz="quarter" idx="5"/>
          </p:nvPr>
        </p:nvSpPr>
        <p:spPr/>
        <p:txBody>
          <a:bodyPr/>
          <a:lstStyle/>
          <a:p>
            <a:fld id="{F8C7FE51-974F-3C48-995B-A669F03C5577}" type="slidenum">
              <a:rPr lang="en-CN" smtClean="0"/>
              <a:t>11</a:t>
            </a:fld>
            <a:endParaRPr lang="en-CN"/>
          </a:p>
        </p:txBody>
      </p:sp>
    </p:spTree>
    <p:extLst>
      <p:ext uri="{BB962C8B-B14F-4D97-AF65-F5344CB8AC3E}">
        <p14:creationId xmlns:p14="http://schemas.microsoft.com/office/powerpoint/2010/main" val="1863183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59B6C2D2-C58F-5548-A64A-8AD08F679533}" type="datetimeFigureOut">
              <a:rPr lang="en-CN" smtClean="0"/>
              <a:t>2025/3/26</a:t>
            </a:fld>
            <a:endParaRPr lang="en-CN"/>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CN"/>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0D2947F7-B245-3D42-9440-FA4435798BAB}" type="slidenum">
              <a:rPr lang="en-CN" smtClean="0"/>
              <a:t>‹#›</a:t>
            </a:fld>
            <a:endParaRPr lang="en-CN"/>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val="812428715"/>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B6C2D2-C58F-5548-A64A-8AD08F679533}" type="datetimeFigureOut">
              <a:rPr lang="en-CN" smtClean="0"/>
              <a:t>2025/3/26</a:t>
            </a:fld>
            <a:endParaRPr lang="en-CN"/>
          </a:p>
        </p:txBody>
      </p:sp>
      <p:sp>
        <p:nvSpPr>
          <p:cNvPr id="5" name="Footer Placeholder 4"/>
          <p:cNvSpPr>
            <a:spLocks noGrp="1"/>
          </p:cNvSpPr>
          <p:nvPr>
            <p:ph type="ftr" sz="quarter" idx="11"/>
          </p:nvPr>
        </p:nvSpPr>
        <p:spPr/>
        <p:txBody>
          <a:bodyPr/>
          <a:lstStyle/>
          <a:p>
            <a:endParaRPr lang="en-CN"/>
          </a:p>
        </p:txBody>
      </p:sp>
      <p:sp>
        <p:nvSpPr>
          <p:cNvPr id="6" name="Slide Number Placeholder 5"/>
          <p:cNvSpPr>
            <a:spLocks noGrp="1"/>
          </p:cNvSpPr>
          <p:nvPr>
            <p:ph type="sldNum" sz="quarter" idx="12"/>
          </p:nvPr>
        </p:nvSpPr>
        <p:spPr/>
        <p:txBody>
          <a:bodyPr/>
          <a:lstStyle/>
          <a:p>
            <a:fld id="{0D2947F7-B245-3D42-9440-FA4435798BAB}" type="slidenum">
              <a:rPr lang="en-CN" smtClean="0"/>
              <a:t>‹#›</a:t>
            </a:fld>
            <a:endParaRPr lang="en-CN"/>
          </a:p>
        </p:txBody>
      </p:sp>
    </p:spTree>
    <p:extLst>
      <p:ext uri="{BB962C8B-B14F-4D97-AF65-F5344CB8AC3E}">
        <p14:creationId xmlns:p14="http://schemas.microsoft.com/office/powerpoint/2010/main" val="7726089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59B6C2D2-C58F-5548-A64A-8AD08F679533}" type="datetimeFigureOut">
              <a:rPr lang="en-CN" smtClean="0"/>
              <a:t>2025/3/26</a:t>
            </a:fld>
            <a:endParaRPr lang="en-CN"/>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CN"/>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0D2947F7-B245-3D42-9440-FA4435798BAB}" type="slidenum">
              <a:rPr lang="en-CN" smtClean="0"/>
              <a:t>‹#›</a:t>
            </a:fld>
            <a:endParaRPr lang="en-CN"/>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val="1825825292"/>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9B6C2D2-C58F-5548-A64A-8AD08F679533}" type="datetimeFigureOut">
              <a:rPr lang="en-CN" smtClean="0"/>
              <a:t>2025/3/26</a:t>
            </a:fld>
            <a:endParaRPr lang="en-CN"/>
          </a:p>
        </p:txBody>
      </p:sp>
      <p:sp>
        <p:nvSpPr>
          <p:cNvPr id="6" name="Footer Placeholder 5"/>
          <p:cNvSpPr>
            <a:spLocks noGrp="1"/>
          </p:cNvSpPr>
          <p:nvPr>
            <p:ph type="ftr" sz="quarter" idx="11"/>
          </p:nvPr>
        </p:nvSpPr>
        <p:spPr/>
        <p:txBody>
          <a:bodyPr/>
          <a:lstStyle/>
          <a:p>
            <a:endParaRPr lang="en-CN"/>
          </a:p>
        </p:txBody>
      </p:sp>
      <p:sp>
        <p:nvSpPr>
          <p:cNvPr id="7" name="Slide Number Placeholder 6"/>
          <p:cNvSpPr>
            <a:spLocks noGrp="1"/>
          </p:cNvSpPr>
          <p:nvPr>
            <p:ph type="sldNum" sz="quarter" idx="12"/>
          </p:nvPr>
        </p:nvSpPr>
        <p:spPr/>
        <p:txBody>
          <a:bodyPr/>
          <a:lstStyle/>
          <a:p>
            <a:fld id="{0D2947F7-B245-3D42-9440-FA4435798BAB}" type="slidenum">
              <a:rPr lang="en-CN" smtClean="0"/>
              <a:t>‹#›</a:t>
            </a:fld>
            <a:endParaRPr lang="en-CN"/>
          </a:p>
        </p:txBody>
      </p:sp>
    </p:spTree>
    <p:extLst>
      <p:ext uri="{BB962C8B-B14F-4D97-AF65-F5344CB8AC3E}">
        <p14:creationId xmlns:p14="http://schemas.microsoft.com/office/powerpoint/2010/main" val="4425197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9B6C2D2-C58F-5548-A64A-8AD08F679533}" type="datetimeFigureOut">
              <a:rPr lang="en-CN" smtClean="0"/>
              <a:t>2025/3/26</a:t>
            </a:fld>
            <a:endParaRPr lang="en-CN"/>
          </a:p>
        </p:txBody>
      </p:sp>
      <p:sp>
        <p:nvSpPr>
          <p:cNvPr id="8" name="Footer Placeholder 7"/>
          <p:cNvSpPr>
            <a:spLocks noGrp="1"/>
          </p:cNvSpPr>
          <p:nvPr>
            <p:ph type="ftr" sz="quarter" idx="11"/>
          </p:nvPr>
        </p:nvSpPr>
        <p:spPr/>
        <p:txBody>
          <a:bodyPr/>
          <a:lstStyle/>
          <a:p>
            <a:endParaRPr lang="en-CN"/>
          </a:p>
        </p:txBody>
      </p:sp>
      <p:sp>
        <p:nvSpPr>
          <p:cNvPr id="9" name="Slide Number Placeholder 8"/>
          <p:cNvSpPr>
            <a:spLocks noGrp="1"/>
          </p:cNvSpPr>
          <p:nvPr>
            <p:ph type="sldNum" sz="quarter" idx="12"/>
          </p:nvPr>
        </p:nvSpPr>
        <p:spPr/>
        <p:txBody>
          <a:bodyPr/>
          <a:lstStyle/>
          <a:p>
            <a:fld id="{0D2947F7-B245-3D42-9440-FA4435798BAB}" type="slidenum">
              <a:rPr lang="en-CN" smtClean="0"/>
              <a:t>‹#›</a:t>
            </a:fld>
            <a:endParaRPr lang="en-CN"/>
          </a:p>
        </p:txBody>
      </p:sp>
    </p:spTree>
    <p:extLst>
      <p:ext uri="{BB962C8B-B14F-4D97-AF65-F5344CB8AC3E}">
        <p14:creationId xmlns:p14="http://schemas.microsoft.com/office/powerpoint/2010/main" val="385530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9B6C2D2-C58F-5548-A64A-8AD08F679533}" type="datetimeFigureOut">
              <a:rPr lang="en-CN" smtClean="0"/>
              <a:t>2025/3/26</a:t>
            </a:fld>
            <a:endParaRPr lang="en-CN"/>
          </a:p>
        </p:txBody>
      </p:sp>
      <p:sp>
        <p:nvSpPr>
          <p:cNvPr id="4" name="Footer Placeholder 3"/>
          <p:cNvSpPr>
            <a:spLocks noGrp="1"/>
          </p:cNvSpPr>
          <p:nvPr>
            <p:ph type="ftr" sz="quarter" idx="11"/>
          </p:nvPr>
        </p:nvSpPr>
        <p:spPr/>
        <p:txBody>
          <a:bodyPr/>
          <a:lstStyle/>
          <a:p>
            <a:endParaRPr lang="en-CN"/>
          </a:p>
        </p:txBody>
      </p:sp>
      <p:sp>
        <p:nvSpPr>
          <p:cNvPr id="5" name="Slide Number Placeholder 4"/>
          <p:cNvSpPr>
            <a:spLocks noGrp="1"/>
          </p:cNvSpPr>
          <p:nvPr>
            <p:ph type="sldNum" sz="quarter" idx="12"/>
          </p:nvPr>
        </p:nvSpPr>
        <p:spPr/>
        <p:txBody>
          <a:bodyPr/>
          <a:lstStyle/>
          <a:p>
            <a:fld id="{0D2947F7-B245-3D42-9440-FA4435798BAB}" type="slidenum">
              <a:rPr lang="en-CN" smtClean="0"/>
              <a:t>‹#›</a:t>
            </a:fld>
            <a:endParaRPr lang="en-CN"/>
          </a:p>
        </p:txBody>
      </p:sp>
    </p:spTree>
    <p:extLst>
      <p:ext uri="{BB962C8B-B14F-4D97-AF65-F5344CB8AC3E}">
        <p14:creationId xmlns:p14="http://schemas.microsoft.com/office/powerpoint/2010/main" val="5091305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9B6C2D2-C58F-5548-A64A-8AD08F679533}" type="datetimeFigureOut">
              <a:rPr lang="en-CN" smtClean="0"/>
              <a:t>2025/3/26</a:t>
            </a:fld>
            <a:endParaRPr lang="en-CN"/>
          </a:p>
        </p:txBody>
      </p:sp>
      <p:sp>
        <p:nvSpPr>
          <p:cNvPr id="3" name="Footer Placeholder 2"/>
          <p:cNvSpPr>
            <a:spLocks noGrp="1"/>
          </p:cNvSpPr>
          <p:nvPr>
            <p:ph type="ftr" sz="quarter" idx="11"/>
          </p:nvPr>
        </p:nvSpPr>
        <p:spPr/>
        <p:txBody>
          <a:bodyPr/>
          <a:lstStyle/>
          <a:p>
            <a:endParaRPr lang="en-CN"/>
          </a:p>
        </p:txBody>
      </p:sp>
      <p:sp>
        <p:nvSpPr>
          <p:cNvPr id="4" name="Slide Number Placeholder 3"/>
          <p:cNvSpPr>
            <a:spLocks noGrp="1"/>
          </p:cNvSpPr>
          <p:nvPr>
            <p:ph type="sldNum" sz="quarter" idx="12"/>
          </p:nvPr>
        </p:nvSpPr>
        <p:spPr/>
        <p:txBody>
          <a:bodyPr/>
          <a:lstStyle/>
          <a:p>
            <a:fld id="{0D2947F7-B245-3D42-9440-FA4435798BAB}" type="slidenum">
              <a:rPr lang="en-CN" smtClean="0"/>
              <a:t>‹#›</a:t>
            </a:fld>
            <a:endParaRPr lang="en-CN"/>
          </a:p>
        </p:txBody>
      </p:sp>
    </p:spTree>
    <p:extLst>
      <p:ext uri="{BB962C8B-B14F-4D97-AF65-F5344CB8AC3E}">
        <p14:creationId xmlns:p14="http://schemas.microsoft.com/office/powerpoint/2010/main" val="41131867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59B6C2D2-C58F-5548-A64A-8AD08F679533}" type="datetimeFigureOut">
              <a:rPr lang="en-CN" smtClean="0"/>
              <a:t>2025/3/26</a:t>
            </a:fld>
            <a:endParaRPr lang="en-CN"/>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CN"/>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0D2947F7-B245-3D42-9440-FA4435798BAB}" type="slidenum">
              <a:rPr lang="en-CN" smtClean="0"/>
              <a:t>‹#›</a:t>
            </a:fld>
            <a:endParaRPr lang="en-CN"/>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7546855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59B6C2D2-C58F-5548-A64A-8AD08F679533}" type="datetimeFigureOut">
              <a:rPr lang="en-CN" smtClean="0"/>
              <a:t>2025/3/26</a:t>
            </a:fld>
            <a:endParaRPr lang="en-CN"/>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CN"/>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0D2947F7-B245-3D42-9440-FA4435798BAB}" type="slidenum">
              <a:rPr lang="en-CN" smtClean="0"/>
              <a:t>‹#›</a:t>
            </a:fld>
            <a:endParaRPr lang="en-CN"/>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2963596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B6C2D2-C58F-5548-A64A-8AD08F679533}" type="datetimeFigureOut">
              <a:rPr lang="en-CN" smtClean="0"/>
              <a:t>2025/3/26</a:t>
            </a:fld>
            <a:endParaRPr lang="en-CN"/>
          </a:p>
        </p:txBody>
      </p:sp>
      <p:sp>
        <p:nvSpPr>
          <p:cNvPr id="5" name="Footer Placeholder 4"/>
          <p:cNvSpPr>
            <a:spLocks noGrp="1"/>
          </p:cNvSpPr>
          <p:nvPr>
            <p:ph type="ftr" sz="quarter" idx="11"/>
          </p:nvPr>
        </p:nvSpPr>
        <p:spPr/>
        <p:txBody>
          <a:bodyPr/>
          <a:lstStyle/>
          <a:p>
            <a:endParaRPr lang="en-CN"/>
          </a:p>
        </p:txBody>
      </p:sp>
      <p:sp>
        <p:nvSpPr>
          <p:cNvPr id="6" name="Slide Number Placeholder 5"/>
          <p:cNvSpPr>
            <a:spLocks noGrp="1"/>
          </p:cNvSpPr>
          <p:nvPr>
            <p:ph type="sldNum" sz="quarter" idx="12"/>
          </p:nvPr>
        </p:nvSpPr>
        <p:spPr/>
        <p:txBody>
          <a:bodyPr/>
          <a:lstStyle/>
          <a:p>
            <a:fld id="{0D2947F7-B245-3D42-9440-FA4435798BAB}" type="slidenum">
              <a:rPr lang="en-CN" smtClean="0"/>
              <a:t>‹#›</a:t>
            </a:fld>
            <a:endParaRPr lang="en-CN"/>
          </a:p>
        </p:txBody>
      </p:sp>
    </p:spTree>
    <p:extLst>
      <p:ext uri="{BB962C8B-B14F-4D97-AF65-F5344CB8AC3E}">
        <p14:creationId xmlns:p14="http://schemas.microsoft.com/office/powerpoint/2010/main" val="42126098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B6C2D2-C58F-5548-A64A-8AD08F679533}" type="datetimeFigureOut">
              <a:rPr lang="en-CN" smtClean="0"/>
              <a:t>2025/3/26</a:t>
            </a:fld>
            <a:endParaRPr lang="en-CN"/>
          </a:p>
        </p:txBody>
      </p:sp>
      <p:sp>
        <p:nvSpPr>
          <p:cNvPr id="5" name="Footer Placeholder 4"/>
          <p:cNvSpPr>
            <a:spLocks noGrp="1"/>
          </p:cNvSpPr>
          <p:nvPr>
            <p:ph type="ftr" sz="quarter" idx="11"/>
          </p:nvPr>
        </p:nvSpPr>
        <p:spPr/>
        <p:txBody>
          <a:bodyPr/>
          <a:lstStyle/>
          <a:p>
            <a:endParaRPr lang="en-CN"/>
          </a:p>
        </p:txBody>
      </p:sp>
      <p:sp>
        <p:nvSpPr>
          <p:cNvPr id="6" name="Slide Number Placeholder 5"/>
          <p:cNvSpPr>
            <a:spLocks noGrp="1"/>
          </p:cNvSpPr>
          <p:nvPr>
            <p:ph type="sldNum" sz="quarter" idx="12"/>
          </p:nvPr>
        </p:nvSpPr>
        <p:spPr/>
        <p:txBody>
          <a:bodyPr/>
          <a:lstStyle/>
          <a:p>
            <a:fld id="{0D2947F7-B245-3D42-9440-FA4435798BAB}" type="slidenum">
              <a:rPr lang="en-CN" smtClean="0"/>
              <a:t>‹#›</a:t>
            </a:fld>
            <a:endParaRPr lang="en-CN"/>
          </a:p>
        </p:txBody>
      </p:sp>
    </p:spTree>
    <p:extLst>
      <p:ext uri="{BB962C8B-B14F-4D97-AF65-F5344CB8AC3E}">
        <p14:creationId xmlns:p14="http://schemas.microsoft.com/office/powerpoint/2010/main" val="9861113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59B6C2D2-C58F-5548-A64A-8AD08F679533}" type="datetimeFigureOut">
              <a:rPr lang="en-CN" smtClean="0"/>
              <a:t>2025/3/26</a:t>
            </a:fld>
            <a:endParaRPr lang="en-CN"/>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CN"/>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0D2947F7-B245-3D42-9440-FA4435798BAB}" type="slidenum">
              <a:rPr lang="en-CN" smtClean="0"/>
              <a:t>‹#›</a:t>
            </a:fld>
            <a:endParaRPr lang="en-CN"/>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597717296"/>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jpe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5" name="Rectangle 7">
            <a:extLst>
              <a:ext uri="{FF2B5EF4-FFF2-40B4-BE49-F238E27FC236}">
                <a16:creationId xmlns:a16="http://schemas.microsoft.com/office/drawing/2014/main" id="{51D149FF-24EA-4575-93C6-D58A02586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B8680CA-58BE-ED2F-DC5F-AFB5A5B47AFC}"/>
              </a:ext>
            </a:extLst>
          </p:cNvPr>
          <p:cNvSpPr>
            <a:spLocks noGrp="1"/>
          </p:cNvSpPr>
          <p:nvPr>
            <p:ph type="ctrTitle"/>
          </p:nvPr>
        </p:nvSpPr>
        <p:spPr>
          <a:xfrm>
            <a:off x="2558956" y="1480930"/>
            <a:ext cx="4975700" cy="3672027"/>
          </a:xfrm>
        </p:spPr>
        <p:txBody>
          <a:bodyPr anchor="ctr">
            <a:normAutofit/>
          </a:bodyPr>
          <a:lstStyle/>
          <a:p>
            <a:pPr algn="r"/>
            <a:r>
              <a:rPr lang="en-CN" sz="4800">
                <a:latin typeface="Times New Roman" panose="02020603050405020304" pitchFamily="18" charset="0"/>
                <a:cs typeface="Times New Roman" panose="02020603050405020304" pitchFamily="18" charset="0"/>
              </a:rPr>
              <a:t>A Two DoF Self Adaptive Bionic Ankle</a:t>
            </a:r>
          </a:p>
        </p:txBody>
      </p:sp>
      <p:sp>
        <p:nvSpPr>
          <p:cNvPr id="3" name="Subtitle 2">
            <a:extLst>
              <a:ext uri="{FF2B5EF4-FFF2-40B4-BE49-F238E27FC236}">
                <a16:creationId xmlns:a16="http://schemas.microsoft.com/office/drawing/2014/main" id="{C024A849-4908-56D8-64A8-8D1E085090F0}"/>
              </a:ext>
            </a:extLst>
          </p:cNvPr>
          <p:cNvSpPr>
            <a:spLocks noGrp="1"/>
          </p:cNvSpPr>
          <p:nvPr>
            <p:ph type="subTitle" idx="1"/>
          </p:nvPr>
        </p:nvSpPr>
        <p:spPr>
          <a:xfrm>
            <a:off x="8698058" y="1480930"/>
            <a:ext cx="2728917" cy="3732515"/>
          </a:xfrm>
        </p:spPr>
        <p:txBody>
          <a:bodyPr anchor="ctr">
            <a:normAutofit/>
          </a:bodyPr>
          <a:lstStyle/>
          <a:p>
            <a:pPr algn="l">
              <a:spcAft>
                <a:spcPts val="600"/>
              </a:spcAft>
            </a:pPr>
            <a:r>
              <a:rPr lang="en-CN" sz="2000">
                <a:latin typeface="Times New Roman" panose="02020603050405020304" pitchFamily="18" charset="0"/>
                <a:cs typeface="Times New Roman" panose="02020603050405020304" pitchFamily="18" charset="0"/>
              </a:rPr>
              <a:t>Dream Aero</a:t>
            </a:r>
          </a:p>
          <a:p>
            <a:pPr algn="l">
              <a:spcAft>
                <a:spcPts val="600"/>
              </a:spcAft>
            </a:pPr>
            <a:r>
              <a:rPr lang="en-CN" sz="2000">
                <a:latin typeface="Times New Roman" panose="02020603050405020304" pitchFamily="18" charset="0"/>
                <a:cs typeface="Times New Roman" panose="02020603050405020304" pitchFamily="18" charset="0"/>
              </a:rPr>
              <a:t>Lucas Chen &amp; Justin Guo</a:t>
            </a:r>
          </a:p>
        </p:txBody>
      </p:sp>
      <p:sp>
        <p:nvSpPr>
          <p:cNvPr id="16" name="Rectangle 9">
            <a:extLst>
              <a:ext uri="{FF2B5EF4-FFF2-40B4-BE49-F238E27FC236}">
                <a16:creationId xmlns:a16="http://schemas.microsoft.com/office/drawing/2014/main" id="{CC965133-69F4-4869-A4C0-97C9B2B600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376"/>
            <a:ext cx="2108425" cy="685762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2" name="Freeform 6">
            <a:extLst>
              <a:ext uri="{FF2B5EF4-FFF2-40B4-BE49-F238E27FC236}">
                <a16:creationId xmlns:a16="http://schemas.microsoft.com/office/drawing/2014/main" id="{43FEB8E0-28C6-45D4-B8D7-F36F09074E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flipV="1">
            <a:off x="1125266"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txBody>
          <a:bodyPr/>
          <a:lstStyle/>
          <a:p>
            <a:endParaRPr lang="en-CN"/>
          </a:p>
        </p:txBody>
      </p:sp>
      <p:cxnSp>
        <p:nvCxnSpPr>
          <p:cNvPr id="14" name="Straight Connector 13">
            <a:extLst>
              <a:ext uri="{FF2B5EF4-FFF2-40B4-BE49-F238E27FC236}">
                <a16:creationId xmlns:a16="http://schemas.microsoft.com/office/drawing/2014/main" id="{409EBF91-BD5B-4CA7-8B07-993751CD397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16357" y="2463421"/>
            <a:ext cx="0" cy="2033516"/>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70704253"/>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ED3DC-1791-353D-ABB2-6A3DE8440ADF}"/>
              </a:ext>
            </a:extLst>
          </p:cNvPr>
          <p:cNvSpPr>
            <a:spLocks noGrp="1"/>
          </p:cNvSpPr>
          <p:nvPr>
            <p:ph type="title"/>
          </p:nvPr>
        </p:nvSpPr>
        <p:spPr/>
        <p:txBody>
          <a:bodyPr/>
          <a:lstStyle/>
          <a:p>
            <a:r>
              <a:rPr lang="en-CN" dirty="0"/>
              <a:t>Space Exploration</a:t>
            </a:r>
          </a:p>
        </p:txBody>
      </p:sp>
      <p:sp>
        <p:nvSpPr>
          <p:cNvPr id="3" name="Content Placeholder 2">
            <a:extLst>
              <a:ext uri="{FF2B5EF4-FFF2-40B4-BE49-F238E27FC236}">
                <a16:creationId xmlns:a16="http://schemas.microsoft.com/office/drawing/2014/main" id="{0FA73447-2B21-A9C4-011C-A525C78902CF}"/>
              </a:ext>
            </a:extLst>
          </p:cNvPr>
          <p:cNvSpPr>
            <a:spLocks noGrp="1"/>
          </p:cNvSpPr>
          <p:nvPr>
            <p:ph idx="1"/>
          </p:nvPr>
        </p:nvSpPr>
        <p:spPr>
          <a:xfrm>
            <a:off x="1371600" y="2286000"/>
            <a:ext cx="6721267" cy="3581400"/>
          </a:xfrm>
        </p:spPr>
        <p:txBody>
          <a:bodyPr>
            <a:normAutofit lnSpcReduction="10000"/>
          </a:bodyPr>
          <a:lstStyle/>
          <a:p>
            <a:r>
              <a:rPr lang="en-CN" dirty="0"/>
              <a:t>Everyone is going for space exploration: </a:t>
            </a:r>
          </a:p>
          <a:p>
            <a:pPr lvl="1"/>
            <a:r>
              <a:rPr lang="en-CN" i="1" dirty="0"/>
              <a:t>Elon Musk founded SpaceX, aiming for a migration to Mars </a:t>
            </a:r>
          </a:p>
          <a:p>
            <a:pPr lvl="1"/>
            <a:r>
              <a:rPr lang="en-CN" i="1" dirty="0"/>
              <a:t>NASA is planning on Artemis III, sending human to the moon</a:t>
            </a:r>
          </a:p>
          <a:p>
            <a:pPr lvl="1"/>
            <a:r>
              <a:rPr lang="en-CN" dirty="0"/>
              <a:t>NASA is planning on Valkriye, a humaniod robot ready to go on Space</a:t>
            </a:r>
            <a:endParaRPr lang="en-CN" i="1" dirty="0"/>
          </a:p>
          <a:p>
            <a:r>
              <a:rPr lang="en-CN" u="sng" dirty="0"/>
              <a:t>Why?</a:t>
            </a:r>
            <a:r>
              <a:rPr lang="en-CN" dirty="0"/>
              <a:t> Earth resources are depleting: Overpopulation is a problem</a:t>
            </a:r>
          </a:p>
          <a:p>
            <a:r>
              <a:rPr lang="en-CN" dirty="0"/>
              <a:t>We need to explore Space, in search of </a:t>
            </a:r>
            <a:r>
              <a:rPr lang="en-CN" b="1" dirty="0"/>
              <a:t>resources and living space </a:t>
            </a:r>
          </a:p>
        </p:txBody>
      </p:sp>
      <p:pic>
        <p:nvPicPr>
          <p:cNvPr id="5" name="Picture 4" descr="A robot with a helmet&#10;&#10;Description automatically generated">
            <a:extLst>
              <a:ext uri="{FF2B5EF4-FFF2-40B4-BE49-F238E27FC236}">
                <a16:creationId xmlns:a16="http://schemas.microsoft.com/office/drawing/2014/main" id="{BA09AF71-2C0A-B7C2-0CA1-C029C1646EA3}"/>
              </a:ext>
            </a:extLst>
          </p:cNvPr>
          <p:cNvPicPr>
            <a:picLocks noChangeAspect="1"/>
          </p:cNvPicPr>
          <p:nvPr/>
        </p:nvPicPr>
        <p:blipFill>
          <a:blip r:embed="rId2"/>
          <a:stretch>
            <a:fillRect/>
          </a:stretch>
        </p:blipFill>
        <p:spPr>
          <a:xfrm>
            <a:off x="8352922" y="685800"/>
            <a:ext cx="3099048" cy="1741772"/>
          </a:xfrm>
          <a:prstGeom prst="rect">
            <a:avLst/>
          </a:prstGeom>
        </p:spPr>
      </p:pic>
      <p:pic>
        <p:nvPicPr>
          <p:cNvPr id="7" name="Picture 6" descr="A rocket in the sky&#10;&#10;Description automatically generated">
            <a:extLst>
              <a:ext uri="{FF2B5EF4-FFF2-40B4-BE49-F238E27FC236}">
                <a16:creationId xmlns:a16="http://schemas.microsoft.com/office/drawing/2014/main" id="{0355AD98-41E1-727B-A1CF-81C871E811C5}"/>
              </a:ext>
            </a:extLst>
          </p:cNvPr>
          <p:cNvPicPr>
            <a:picLocks noChangeAspect="1"/>
          </p:cNvPicPr>
          <p:nvPr/>
        </p:nvPicPr>
        <p:blipFill>
          <a:blip r:embed="rId3"/>
          <a:stretch>
            <a:fillRect/>
          </a:stretch>
        </p:blipFill>
        <p:spPr>
          <a:xfrm>
            <a:off x="8549778" y="2563335"/>
            <a:ext cx="2705336" cy="3882332"/>
          </a:xfrm>
          <a:prstGeom prst="rect">
            <a:avLst/>
          </a:prstGeom>
        </p:spPr>
      </p:pic>
    </p:spTree>
    <p:extLst>
      <p:ext uri="{BB962C8B-B14F-4D97-AF65-F5344CB8AC3E}">
        <p14:creationId xmlns:p14="http://schemas.microsoft.com/office/powerpoint/2010/main" val="3402285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B98CA5AE-F2E4-4A6F-B986-89804B1EC0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3F5595E-CA13-D84C-033B-2FFEC4D8BA72}"/>
              </a:ext>
            </a:extLst>
          </p:cNvPr>
          <p:cNvSpPr>
            <a:spLocks noGrp="1"/>
          </p:cNvSpPr>
          <p:nvPr>
            <p:ph type="title"/>
          </p:nvPr>
        </p:nvSpPr>
        <p:spPr>
          <a:xfrm>
            <a:off x="784743" y="685800"/>
            <a:ext cx="5793475" cy="1485900"/>
          </a:xfrm>
        </p:spPr>
        <p:txBody>
          <a:bodyPr>
            <a:normAutofit/>
          </a:bodyPr>
          <a:lstStyle/>
          <a:p>
            <a:r>
              <a:rPr lang="en-CN" dirty="0">
                <a:latin typeface="Times New Roman" panose="02020603050405020304" pitchFamily="18" charset="0"/>
                <a:cs typeface="Times New Roman" panose="02020603050405020304" pitchFamily="18" charset="0"/>
              </a:rPr>
              <a:t>Background Signficance and Proposal</a:t>
            </a:r>
          </a:p>
        </p:txBody>
      </p:sp>
      <p:sp>
        <p:nvSpPr>
          <p:cNvPr id="3" name="Content Placeholder 2">
            <a:extLst>
              <a:ext uri="{FF2B5EF4-FFF2-40B4-BE49-F238E27FC236}">
                <a16:creationId xmlns:a16="http://schemas.microsoft.com/office/drawing/2014/main" id="{8EF00257-F331-F55C-5BE3-A7383AE94B3A}"/>
              </a:ext>
            </a:extLst>
          </p:cNvPr>
          <p:cNvSpPr>
            <a:spLocks noGrp="1"/>
          </p:cNvSpPr>
          <p:nvPr>
            <p:ph idx="1"/>
          </p:nvPr>
        </p:nvSpPr>
        <p:spPr>
          <a:xfrm>
            <a:off x="784743" y="2016691"/>
            <a:ext cx="5793475" cy="4850766"/>
          </a:xfrm>
        </p:spPr>
        <p:txBody>
          <a:bodyPr>
            <a:normAutofit/>
          </a:bodyPr>
          <a:lstStyle/>
          <a:p>
            <a:r>
              <a:rPr lang="en-US" sz="1800" dirty="0">
                <a:latin typeface="Times New Roman" panose="02020603050405020304" pitchFamily="18" charset="0"/>
                <a:cs typeface="Times New Roman" panose="02020603050405020304" pitchFamily="18" charset="0"/>
              </a:rPr>
              <a:t>In Space, we are not going to build flat roads during our exploration. We need robots that focuses on movement ability, including the ability to move through rough terrain and great cliffs. These robots are taking the role to going on a mission to Mars. </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The machinery need to stabilize and adapt to the unknown surroundings.</a:t>
            </a:r>
          </a:p>
          <a:p>
            <a:endParaRPr lang="en-US" sz="1800" dirty="0">
              <a:latin typeface="Times New Roman" panose="02020603050405020304" pitchFamily="18" charset="0"/>
              <a:cs typeface="Times New Roman" panose="02020603050405020304" pitchFamily="18" charset="0"/>
            </a:endParaRPr>
          </a:p>
          <a:p>
            <a:r>
              <a:rPr lang="en-US" sz="1800" b="1" u="sng" dirty="0">
                <a:latin typeface="Times New Roman" panose="02020603050405020304" pitchFamily="18" charset="0"/>
                <a:cs typeface="Times New Roman" panose="02020603050405020304" pitchFamily="18" charset="0"/>
              </a:rPr>
              <a:t>Proposal: A good leg, or more specific, a good ankle will help the machinery to traverse better in space </a:t>
            </a:r>
            <a:r>
              <a:rPr lang="en-US" sz="1800" b="1" u="sng">
                <a:latin typeface="Times New Roman" panose="02020603050405020304" pitchFamily="18" charset="0"/>
                <a:cs typeface="Times New Roman" panose="02020603050405020304" pitchFamily="18" charset="0"/>
              </a:rPr>
              <a:t>environments.</a:t>
            </a:r>
            <a:endParaRPr lang="en-US" sz="1800" b="1" u="sng"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8BE09806-1C31-8A97-E609-E71A477603B6}"/>
              </a:ext>
            </a:extLst>
          </p:cNvPr>
          <p:cNvPicPr>
            <a:picLocks noChangeAspect="1"/>
          </p:cNvPicPr>
          <p:nvPr/>
        </p:nvPicPr>
        <p:blipFill>
          <a:blip r:embed="rId2"/>
          <a:srcRect l="18101" r="7312"/>
          <a:stretch/>
        </p:blipFill>
        <p:spPr>
          <a:xfrm>
            <a:off x="7612260" y="-1"/>
            <a:ext cx="4579739" cy="3438457"/>
          </a:xfrm>
          <a:prstGeom prst="rect">
            <a:avLst/>
          </a:prstGeom>
        </p:spPr>
      </p:pic>
      <p:sp>
        <p:nvSpPr>
          <p:cNvPr id="20" name="Rectangle 19">
            <a:extLst>
              <a:ext uri="{FF2B5EF4-FFF2-40B4-BE49-F238E27FC236}">
                <a16:creationId xmlns:a16="http://schemas.microsoft.com/office/drawing/2014/main" id="{E67E3959-D0D8-49DB-A48B-CE4FC36871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661" y="0"/>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pic>
        <p:nvPicPr>
          <p:cNvPr id="6" name="Picture 5">
            <a:extLst>
              <a:ext uri="{FF2B5EF4-FFF2-40B4-BE49-F238E27FC236}">
                <a16:creationId xmlns:a16="http://schemas.microsoft.com/office/drawing/2014/main" id="{1E390260-62AD-B13A-0359-02F63C3AF5EF}"/>
              </a:ext>
            </a:extLst>
          </p:cNvPr>
          <p:cNvPicPr>
            <a:picLocks noChangeAspect="1"/>
          </p:cNvPicPr>
          <p:nvPr/>
        </p:nvPicPr>
        <p:blipFill>
          <a:blip r:embed="rId3"/>
          <a:srcRect l="8332" r="-3" b="-3"/>
          <a:stretch/>
        </p:blipFill>
        <p:spPr>
          <a:xfrm>
            <a:off x="7612260" y="3438457"/>
            <a:ext cx="4579739" cy="3429000"/>
          </a:xfrm>
          <a:prstGeom prst="rect">
            <a:avLst/>
          </a:prstGeom>
        </p:spPr>
      </p:pic>
    </p:spTree>
    <p:extLst>
      <p:ext uri="{BB962C8B-B14F-4D97-AF65-F5344CB8AC3E}">
        <p14:creationId xmlns:p14="http://schemas.microsoft.com/office/powerpoint/2010/main" val="5953087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BB08E-E18D-D485-E4A9-A50BEE429BAA}"/>
              </a:ext>
            </a:extLst>
          </p:cNvPr>
          <p:cNvSpPr>
            <a:spLocks noGrp="1"/>
          </p:cNvSpPr>
          <p:nvPr>
            <p:ph type="title"/>
          </p:nvPr>
        </p:nvSpPr>
        <p:spPr>
          <a:xfrm>
            <a:off x="1371600" y="685800"/>
            <a:ext cx="3282695" cy="1485900"/>
          </a:xfrm>
        </p:spPr>
        <p:txBody>
          <a:bodyPr>
            <a:normAutofit/>
          </a:bodyPr>
          <a:lstStyle/>
          <a:p>
            <a:r>
              <a:rPr lang="en-CN" sz="4100" dirty="0"/>
              <a:t>Why Human Ankle?</a:t>
            </a:r>
          </a:p>
        </p:txBody>
      </p:sp>
      <p:sp>
        <p:nvSpPr>
          <p:cNvPr id="3" name="Content Placeholder 2">
            <a:extLst>
              <a:ext uri="{FF2B5EF4-FFF2-40B4-BE49-F238E27FC236}">
                <a16:creationId xmlns:a16="http://schemas.microsoft.com/office/drawing/2014/main" id="{A42FD7EB-03CC-CB1E-9009-B0C97A4F11C0}"/>
              </a:ext>
            </a:extLst>
          </p:cNvPr>
          <p:cNvSpPr>
            <a:spLocks noGrp="1"/>
          </p:cNvSpPr>
          <p:nvPr>
            <p:ph idx="1"/>
          </p:nvPr>
        </p:nvSpPr>
        <p:spPr>
          <a:xfrm>
            <a:off x="1371600" y="2286000"/>
            <a:ext cx="3282694" cy="3581400"/>
          </a:xfrm>
        </p:spPr>
        <p:txBody>
          <a:bodyPr>
            <a:normAutofit fontScale="92500" lnSpcReduction="20000"/>
          </a:bodyPr>
          <a:lstStyle/>
          <a:p>
            <a:r>
              <a:rPr lang="en-CN" dirty="0"/>
              <a:t>We need an ankle, allowing 2 dimensional movement, that have the ability to travel in all kinds of terrain.</a:t>
            </a:r>
          </a:p>
          <a:p>
            <a:r>
              <a:rPr lang="en-CN" dirty="0"/>
              <a:t>Human ankle:</a:t>
            </a:r>
          </a:p>
          <a:p>
            <a:pPr lvl="1"/>
            <a:r>
              <a:rPr lang="en-CN" dirty="0"/>
              <a:t>exceled at self adapting to different environment, </a:t>
            </a:r>
          </a:p>
          <a:p>
            <a:pPr lvl="1"/>
            <a:r>
              <a:rPr lang="en-CN" dirty="0"/>
              <a:t>is stable in these different environments, </a:t>
            </a:r>
          </a:p>
          <a:p>
            <a:pPr lvl="1"/>
            <a:r>
              <a:rPr lang="en-CN" dirty="0"/>
              <a:t>and is energy efficent</a:t>
            </a:r>
          </a:p>
        </p:txBody>
      </p:sp>
      <p:pic>
        <p:nvPicPr>
          <p:cNvPr id="4" name="Picture 3">
            <a:extLst>
              <a:ext uri="{FF2B5EF4-FFF2-40B4-BE49-F238E27FC236}">
                <a16:creationId xmlns:a16="http://schemas.microsoft.com/office/drawing/2014/main" id="{A7B7D730-A650-CA99-5738-0E413C461864}"/>
              </a:ext>
            </a:extLst>
          </p:cNvPr>
          <p:cNvPicPr>
            <a:picLocks noChangeAspect="1"/>
          </p:cNvPicPr>
          <p:nvPr/>
        </p:nvPicPr>
        <p:blipFill>
          <a:blip r:embed="rId2"/>
          <a:stretch>
            <a:fillRect/>
          </a:stretch>
        </p:blipFill>
        <p:spPr>
          <a:xfrm>
            <a:off x="9851244" y="3429000"/>
            <a:ext cx="2232910" cy="1485900"/>
          </a:xfrm>
          <a:prstGeom prst="rect">
            <a:avLst/>
          </a:prstGeom>
        </p:spPr>
      </p:pic>
      <p:pic>
        <p:nvPicPr>
          <p:cNvPr id="6" name="Picture 5" descr="A close-up of a rocky surface&#10;&#10;Description automatically generated">
            <a:extLst>
              <a:ext uri="{FF2B5EF4-FFF2-40B4-BE49-F238E27FC236}">
                <a16:creationId xmlns:a16="http://schemas.microsoft.com/office/drawing/2014/main" id="{32C6D198-3B57-98AF-976A-8882D34BBFDF}"/>
              </a:ext>
            </a:extLst>
          </p:cNvPr>
          <p:cNvPicPr>
            <a:picLocks noChangeAspect="1"/>
          </p:cNvPicPr>
          <p:nvPr/>
        </p:nvPicPr>
        <p:blipFill>
          <a:blip r:embed="rId3"/>
          <a:stretch>
            <a:fillRect/>
          </a:stretch>
        </p:blipFill>
        <p:spPr>
          <a:xfrm>
            <a:off x="5863523" y="4418665"/>
            <a:ext cx="4044297" cy="1908589"/>
          </a:xfrm>
          <a:prstGeom prst="rect">
            <a:avLst/>
          </a:prstGeom>
        </p:spPr>
      </p:pic>
      <p:pic>
        <p:nvPicPr>
          <p:cNvPr id="8" name="Picture 7" descr="A close-up of a rocky hill&#10;&#10;Description automatically generated">
            <a:extLst>
              <a:ext uri="{FF2B5EF4-FFF2-40B4-BE49-F238E27FC236}">
                <a16:creationId xmlns:a16="http://schemas.microsoft.com/office/drawing/2014/main" id="{0B4F603C-8CA6-9D5C-5FAB-DACC062CABA4}"/>
              </a:ext>
            </a:extLst>
          </p:cNvPr>
          <p:cNvPicPr>
            <a:picLocks noChangeAspect="1"/>
          </p:cNvPicPr>
          <p:nvPr/>
        </p:nvPicPr>
        <p:blipFill>
          <a:blip r:embed="rId4"/>
          <a:stretch>
            <a:fillRect/>
          </a:stretch>
        </p:blipFill>
        <p:spPr>
          <a:xfrm>
            <a:off x="5863523" y="1874098"/>
            <a:ext cx="4044297" cy="1877922"/>
          </a:xfrm>
          <a:prstGeom prst="rect">
            <a:avLst/>
          </a:prstGeom>
        </p:spPr>
      </p:pic>
    </p:spTree>
    <p:extLst>
      <p:ext uri="{BB962C8B-B14F-4D97-AF65-F5344CB8AC3E}">
        <p14:creationId xmlns:p14="http://schemas.microsoft.com/office/powerpoint/2010/main" val="42171263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19F8B-B1E4-986E-36EB-E5F4383B8E0A}"/>
              </a:ext>
            </a:extLst>
          </p:cNvPr>
          <p:cNvSpPr>
            <a:spLocks noGrp="1"/>
          </p:cNvSpPr>
          <p:nvPr>
            <p:ph type="title"/>
          </p:nvPr>
        </p:nvSpPr>
        <p:spPr/>
        <p:txBody>
          <a:bodyPr/>
          <a:lstStyle/>
          <a:p>
            <a:r>
              <a:rPr lang="en-CN" dirty="0">
                <a:latin typeface="Times New Roman" panose="02020603050405020304" pitchFamily="18" charset="0"/>
                <a:cs typeface="Times New Roman" panose="02020603050405020304" pitchFamily="18" charset="0"/>
              </a:rPr>
              <a:t>Innovation and Challenges</a:t>
            </a:r>
          </a:p>
        </p:txBody>
      </p:sp>
      <p:sp>
        <p:nvSpPr>
          <p:cNvPr id="3" name="Content Placeholder 2">
            <a:extLst>
              <a:ext uri="{FF2B5EF4-FFF2-40B4-BE49-F238E27FC236}">
                <a16:creationId xmlns:a16="http://schemas.microsoft.com/office/drawing/2014/main" id="{10266FE6-B29F-D87D-2683-ECBC185E0BB0}"/>
              </a:ext>
            </a:extLst>
          </p:cNvPr>
          <p:cNvSpPr>
            <a:spLocks noGrp="1"/>
          </p:cNvSpPr>
          <p:nvPr>
            <p:ph idx="1"/>
          </p:nvPr>
        </p:nvSpPr>
        <p:spPr>
          <a:xfrm>
            <a:off x="1371600" y="1460310"/>
            <a:ext cx="9601200" cy="4407090"/>
          </a:xfrm>
        </p:spPr>
        <p:txBody>
          <a:bodyPr>
            <a:normAutofit/>
          </a:bodyPr>
          <a:lstStyle/>
          <a:p>
            <a:r>
              <a:rPr lang="en-US" sz="2000" dirty="0">
                <a:latin typeface="Times New Roman" panose="02020603050405020304" pitchFamily="18" charset="0"/>
                <a:cs typeface="Times New Roman" panose="02020603050405020304" pitchFamily="18" charset="0"/>
              </a:rPr>
              <a:t>Which will include: </a:t>
            </a:r>
          </a:p>
          <a:p>
            <a:pPr lvl="1"/>
            <a:r>
              <a:rPr lang="en-US" dirty="0">
                <a:latin typeface="Times New Roman" panose="02020603050405020304" pitchFamily="18" charset="0"/>
                <a:cs typeface="Times New Roman" panose="02020603050405020304" pitchFamily="18" charset="0"/>
              </a:rPr>
              <a:t>an additional motor to control not only the leg's dorsiflexion and plantar flexion, but also </a:t>
            </a:r>
            <a:r>
              <a:rPr lang="en-US" b="1" dirty="0">
                <a:latin typeface="Times New Roman" panose="02020603050405020304" pitchFamily="18" charset="0"/>
                <a:cs typeface="Times New Roman" panose="02020603050405020304" pitchFamily="18" charset="0"/>
              </a:rPr>
              <a:t>inversion and eversion movement </a:t>
            </a:r>
            <a:r>
              <a:rPr lang="en-US" dirty="0">
                <a:latin typeface="Times New Roman" panose="02020603050405020304" pitchFamily="18" charset="0"/>
                <a:cs typeface="Times New Roman" panose="02020603050405020304" pitchFamily="18" charset="0"/>
              </a:rPr>
              <a:t>of an ankle in human leg</a:t>
            </a:r>
          </a:p>
          <a:p>
            <a:pPr lvl="1"/>
            <a:r>
              <a:rPr lang="en-US" b="1" dirty="0">
                <a:latin typeface="Times New Roman" panose="02020603050405020304" pitchFamily="18" charset="0"/>
                <a:cs typeface="Times New Roman" panose="02020603050405020304" pitchFamily="18" charset="0"/>
              </a:rPr>
              <a:t>a self adaptive program </a:t>
            </a:r>
            <a:r>
              <a:rPr lang="en-US" dirty="0">
                <a:latin typeface="Times New Roman" panose="02020603050405020304" pitchFamily="18" charset="0"/>
                <a:cs typeface="Times New Roman" panose="02020603050405020304" pitchFamily="18" charset="0"/>
              </a:rPr>
              <a:t>for it to aid movement</a:t>
            </a:r>
          </a:p>
          <a:p>
            <a:pPr lvl="1"/>
            <a:r>
              <a:rPr lang="en-US" b="1" dirty="0">
                <a:latin typeface="Times New Roman" panose="02020603050405020304" pitchFamily="18" charset="0"/>
                <a:cs typeface="Times New Roman" panose="02020603050405020304" pitchFamily="18" charset="0"/>
              </a:rPr>
              <a:t>the usage of motor system </a:t>
            </a:r>
            <a:r>
              <a:rPr lang="en-US" dirty="0">
                <a:latin typeface="Times New Roman" panose="02020603050405020304" pitchFamily="18" charset="0"/>
                <a:cs typeface="Times New Roman" panose="02020603050405020304" pitchFamily="18" charset="0"/>
              </a:rPr>
              <a:t>to simulate the muscles in human leg</a:t>
            </a:r>
          </a:p>
          <a:p>
            <a:pPr lvl="1"/>
            <a:r>
              <a:rPr lang="en-US" b="1" dirty="0">
                <a:latin typeface="Times New Roman" panose="02020603050405020304" pitchFamily="18" charset="0"/>
                <a:cs typeface="Times New Roman" panose="02020603050405020304" pitchFamily="18" charset="0"/>
              </a:rPr>
              <a:t>the usage of springs</a:t>
            </a:r>
            <a:r>
              <a:rPr lang="en-US" dirty="0">
                <a:latin typeface="Times New Roman" panose="02020603050405020304" pitchFamily="18" charset="0"/>
                <a:cs typeface="Times New Roman" panose="02020603050405020304" pitchFamily="18" charset="0"/>
              </a:rPr>
              <a:t> to simulate the shock absorption mechanics in human leg</a:t>
            </a:r>
          </a:p>
          <a:p>
            <a:r>
              <a:rPr lang="en-US" sz="2000" dirty="0">
                <a:latin typeface="Times New Roman" panose="02020603050405020304" pitchFamily="18" charset="0"/>
                <a:cs typeface="Times New Roman" panose="02020603050405020304" pitchFamily="18" charset="0"/>
              </a:rPr>
              <a:t>Challenges:</a:t>
            </a:r>
          </a:p>
          <a:p>
            <a:pPr lvl="1"/>
            <a:r>
              <a:rPr lang="en-CN" dirty="0">
                <a:latin typeface="Times New Roman" panose="02020603050405020304" pitchFamily="18" charset="0"/>
                <a:cs typeface="Times New Roman" panose="02020603050405020304" pitchFamily="18" charset="0"/>
              </a:rPr>
              <a:t>1. Mechanical Structure: How are the two motors in the ankle goint to be placed?</a:t>
            </a:r>
          </a:p>
          <a:p>
            <a:pPr lvl="1"/>
            <a:r>
              <a:rPr lang="en-CN" dirty="0">
                <a:latin typeface="Times New Roman" panose="02020603050405020304" pitchFamily="18" charset="0"/>
                <a:cs typeface="Times New Roman" panose="02020603050405020304" pitchFamily="18" charset="0"/>
              </a:rPr>
              <a:t>2. Reaction to the Ground: How does the bionic ankle sense the ground?</a:t>
            </a:r>
          </a:p>
          <a:p>
            <a:pPr lvl="1"/>
            <a:r>
              <a:rPr lang="en-CN" dirty="0">
                <a:latin typeface="Times New Roman" panose="02020603050405020304" pitchFamily="18" charset="0"/>
                <a:cs typeface="Times New Roman" panose="02020603050405020304" pitchFamily="18" charset="0"/>
              </a:rPr>
              <a:t>3. Connection: How should the motors and the sensors collborate?</a:t>
            </a:r>
          </a:p>
          <a:p>
            <a:endParaRPr lang="en-US" sz="2000" dirty="0">
              <a:latin typeface="Times New Roman" panose="02020603050405020304" pitchFamily="18" charset="0"/>
              <a:cs typeface="Times New Roman" panose="02020603050405020304" pitchFamily="18" charset="0"/>
            </a:endParaRPr>
          </a:p>
          <a:p>
            <a:endParaRPr lang="en-CN" sz="2000" dirty="0"/>
          </a:p>
          <a:p>
            <a:endParaRPr lang="en-CN" dirty="0"/>
          </a:p>
        </p:txBody>
      </p:sp>
    </p:spTree>
    <p:extLst>
      <p:ext uri="{BB962C8B-B14F-4D97-AF65-F5344CB8AC3E}">
        <p14:creationId xmlns:p14="http://schemas.microsoft.com/office/powerpoint/2010/main" val="31166769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A620B-E66B-5957-16A5-2E952D8FFD01}"/>
              </a:ext>
            </a:extLst>
          </p:cNvPr>
          <p:cNvSpPr>
            <a:spLocks noGrp="1"/>
          </p:cNvSpPr>
          <p:nvPr>
            <p:ph type="title"/>
          </p:nvPr>
        </p:nvSpPr>
        <p:spPr>
          <a:xfrm>
            <a:off x="1371600" y="685800"/>
            <a:ext cx="9601200" cy="1485900"/>
          </a:xfrm>
        </p:spPr>
        <p:txBody>
          <a:bodyPr>
            <a:normAutofit/>
          </a:bodyPr>
          <a:lstStyle/>
          <a:p>
            <a:r>
              <a:rPr lang="en-CN">
                <a:latin typeface="Times New Roman" panose="02020603050405020304" pitchFamily="18" charset="0"/>
                <a:cs typeface="Times New Roman" panose="02020603050405020304" pitchFamily="18" charset="0"/>
              </a:rPr>
              <a:t>Structural Design</a:t>
            </a:r>
            <a:endParaRPr lang="en-C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EE4DB61-D531-7AD3-10C6-2CB864814BF4}"/>
              </a:ext>
            </a:extLst>
          </p:cNvPr>
          <p:cNvSpPr>
            <a:spLocks noGrp="1"/>
          </p:cNvSpPr>
          <p:nvPr>
            <p:ph idx="1"/>
          </p:nvPr>
        </p:nvSpPr>
        <p:spPr>
          <a:xfrm>
            <a:off x="1371600" y="2286000"/>
            <a:ext cx="4435310" cy="3581400"/>
          </a:xfrm>
        </p:spPr>
        <p:txBody>
          <a:bodyPr>
            <a:normAutofit/>
          </a:bodyPr>
          <a:lstStyle/>
          <a:p>
            <a:r>
              <a:rPr lang="en-US" dirty="0">
                <a:latin typeface="Times New Roman" panose="02020603050405020304" pitchFamily="18" charset="0"/>
                <a:cs typeface="Times New Roman" panose="02020603050405020304" pitchFamily="18" charset="0"/>
              </a:rPr>
              <a:t>U</a:t>
            </a:r>
            <a:r>
              <a:rPr lang="en-CN" dirty="0">
                <a:latin typeface="Times New Roman" panose="02020603050405020304" pitchFamily="18" charset="0"/>
                <a:cs typeface="Times New Roman" panose="02020603050405020304" pitchFamily="18" charset="0"/>
              </a:rPr>
              <a:t>se Solidworks to plan out the whole structure and record the parts needed to build the whole structure. </a:t>
            </a:r>
          </a:p>
          <a:p>
            <a:r>
              <a:rPr lang="en-CN" dirty="0">
                <a:latin typeface="Times New Roman" panose="02020603050405020304" pitchFamily="18" charset="0"/>
                <a:cs typeface="Times New Roman" panose="02020603050405020304" pitchFamily="18" charset="0"/>
              </a:rPr>
              <a:t>Motor-string system to bal</a:t>
            </a:r>
            <a:r>
              <a:rPr lang="en-US" dirty="0">
                <a:latin typeface="Times New Roman" panose="02020603050405020304" pitchFamily="18" charset="0"/>
                <a:cs typeface="Times New Roman" panose="02020603050405020304" pitchFamily="18" charset="0"/>
              </a:rPr>
              <a:t>a</a:t>
            </a:r>
            <a:r>
              <a:rPr lang="en-CN" dirty="0">
                <a:latin typeface="Times New Roman" panose="02020603050405020304" pitchFamily="18" charset="0"/>
                <a:cs typeface="Times New Roman" panose="02020603050405020304" pitchFamily="18" charset="0"/>
              </a:rPr>
              <a:t>nce the weight of the object</a:t>
            </a:r>
          </a:p>
          <a:p>
            <a:r>
              <a:rPr lang="en-CN" dirty="0">
                <a:latin typeface="Times New Roman" panose="02020603050405020304" pitchFamily="18" charset="0"/>
                <a:cs typeface="Times New Roman" panose="02020603050405020304" pitchFamily="18" charset="0"/>
              </a:rPr>
              <a:t>Usage of springs to absorb shock</a:t>
            </a:r>
          </a:p>
          <a:p>
            <a:pPr marL="0" indent="0">
              <a:buNone/>
            </a:pPr>
            <a:endParaRPr lang="en-CN" dirty="0">
              <a:latin typeface="Times New Roman" panose="02020603050405020304" pitchFamily="18" charset="0"/>
              <a:cs typeface="Times New Roman" panose="02020603050405020304" pitchFamily="18" charset="0"/>
            </a:endParaRPr>
          </a:p>
          <a:p>
            <a:pPr marL="0" indent="0">
              <a:buNone/>
            </a:pPr>
            <a:endParaRPr lang="en-CN" dirty="0">
              <a:latin typeface="Times New Roman" panose="02020603050405020304" pitchFamily="18" charset="0"/>
              <a:cs typeface="Times New Roman" panose="02020603050405020304" pitchFamily="18" charset="0"/>
            </a:endParaRPr>
          </a:p>
          <a:p>
            <a:pPr algn="r"/>
            <a:r>
              <a:rPr lang="en-CN" dirty="0"/>
              <a:t>3.17 – 3.31</a:t>
            </a:r>
          </a:p>
        </p:txBody>
      </p:sp>
      <p:pic>
        <p:nvPicPr>
          <p:cNvPr id="6" name="Picture 5" descr="A mechanical device with a metal base&#10;&#10;Description automatically generated with medium confidence">
            <a:extLst>
              <a:ext uri="{FF2B5EF4-FFF2-40B4-BE49-F238E27FC236}">
                <a16:creationId xmlns:a16="http://schemas.microsoft.com/office/drawing/2014/main" id="{B6D4FFE0-F149-4D99-4D5A-E73E203B1872}"/>
              </a:ext>
            </a:extLst>
          </p:cNvPr>
          <p:cNvPicPr>
            <a:picLocks noChangeAspect="1"/>
          </p:cNvPicPr>
          <p:nvPr/>
        </p:nvPicPr>
        <p:blipFill>
          <a:blip r:embed="rId2"/>
          <a:srcRect l="15202" r="14291" b="4"/>
          <a:stretch/>
        </p:blipFill>
        <p:spPr>
          <a:xfrm>
            <a:off x="6104467" y="2265037"/>
            <a:ext cx="2445173" cy="3749039"/>
          </a:xfrm>
          <a:prstGeom prst="rect">
            <a:avLst/>
          </a:prstGeom>
        </p:spPr>
      </p:pic>
      <p:pic>
        <p:nvPicPr>
          <p:cNvPr id="5" name="Picture 4">
            <a:extLst>
              <a:ext uri="{FF2B5EF4-FFF2-40B4-BE49-F238E27FC236}">
                <a16:creationId xmlns:a16="http://schemas.microsoft.com/office/drawing/2014/main" id="{45437F8A-65DC-58E1-1094-0452860CCF9B}"/>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5941" r="25137" b="4"/>
          <a:stretch/>
        </p:blipFill>
        <p:spPr bwMode="auto">
          <a:xfrm>
            <a:off x="8558107" y="423884"/>
            <a:ext cx="2262293" cy="1747816"/>
          </a:xfrm>
          <a:prstGeom prst="rect">
            <a:avLst/>
          </a:prstGeom>
          <a:extLst>
            <a:ext uri="{53640926-AAD7-44D8-BBD7-CCE9431645EC}">
              <a14:shadowObscured xmlns:a14="http://schemas.microsoft.com/office/drawing/2010/main"/>
            </a:ext>
          </a:extLst>
        </p:spPr>
      </p:pic>
      <p:pic>
        <p:nvPicPr>
          <p:cNvPr id="8" name="Picture 7" descr="A drawing of a mechanical arm&#10;&#10;Description automatically generated">
            <a:extLst>
              <a:ext uri="{FF2B5EF4-FFF2-40B4-BE49-F238E27FC236}">
                <a16:creationId xmlns:a16="http://schemas.microsoft.com/office/drawing/2014/main" id="{38E24579-EC92-8138-C902-4F321C9DCC0F}"/>
              </a:ext>
            </a:extLst>
          </p:cNvPr>
          <p:cNvPicPr>
            <a:picLocks noChangeAspect="1"/>
          </p:cNvPicPr>
          <p:nvPr/>
        </p:nvPicPr>
        <p:blipFill>
          <a:blip r:embed="rId4"/>
          <a:stretch>
            <a:fillRect/>
          </a:stretch>
        </p:blipFill>
        <p:spPr>
          <a:xfrm>
            <a:off x="8372576" y="2286000"/>
            <a:ext cx="3389910" cy="3728076"/>
          </a:xfrm>
          <a:prstGeom prst="rect">
            <a:avLst/>
          </a:prstGeom>
        </p:spPr>
      </p:pic>
    </p:spTree>
    <p:extLst>
      <p:ext uri="{BB962C8B-B14F-4D97-AF65-F5344CB8AC3E}">
        <p14:creationId xmlns:p14="http://schemas.microsoft.com/office/powerpoint/2010/main" val="35523643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6D7D7F0C-622D-4D84-A68D-C1AF54B634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76"/>
            <a:ext cx="5303520" cy="6857624"/>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sp>
        <p:nvSpPr>
          <p:cNvPr id="2" name="Title 1">
            <a:extLst>
              <a:ext uri="{FF2B5EF4-FFF2-40B4-BE49-F238E27FC236}">
                <a16:creationId xmlns:a16="http://schemas.microsoft.com/office/drawing/2014/main" id="{B3503ACF-2B55-7A22-7477-E0664DF193B9}"/>
              </a:ext>
            </a:extLst>
          </p:cNvPr>
          <p:cNvSpPr>
            <a:spLocks noGrp="1"/>
          </p:cNvSpPr>
          <p:nvPr>
            <p:ph type="title"/>
          </p:nvPr>
        </p:nvSpPr>
        <p:spPr>
          <a:xfrm>
            <a:off x="640081" y="631373"/>
            <a:ext cx="4470538" cy="2035628"/>
          </a:xfrm>
        </p:spPr>
        <p:txBody>
          <a:bodyPr vert="horz" lIns="91440" tIns="45720" rIns="91440" bIns="45720" rtlCol="0" anchor="t">
            <a:normAutofit/>
          </a:bodyPr>
          <a:lstStyle/>
          <a:p>
            <a:r>
              <a:rPr lang="en-US" cap="all" dirty="0">
                <a:latin typeface="Times New Roman" panose="02020603050405020304" pitchFamily="18" charset="0"/>
                <a:cs typeface="Times New Roman" panose="02020603050405020304" pitchFamily="18" charset="0"/>
              </a:rPr>
              <a:t>Software Programming</a:t>
            </a:r>
          </a:p>
        </p:txBody>
      </p:sp>
      <p:sp>
        <p:nvSpPr>
          <p:cNvPr id="3" name="TextBox 2">
            <a:extLst>
              <a:ext uri="{FF2B5EF4-FFF2-40B4-BE49-F238E27FC236}">
                <a16:creationId xmlns:a16="http://schemas.microsoft.com/office/drawing/2014/main" id="{000E0117-C5A0-1AB4-F1E1-972889344F3D}"/>
              </a:ext>
            </a:extLst>
          </p:cNvPr>
          <p:cNvSpPr txBox="1"/>
          <p:nvPr/>
        </p:nvSpPr>
        <p:spPr>
          <a:xfrm>
            <a:off x="640082" y="2479355"/>
            <a:ext cx="3984170" cy="4173994"/>
          </a:xfrm>
          <a:prstGeom prst="rect">
            <a:avLst/>
          </a:prstGeom>
        </p:spPr>
        <p:txBody>
          <a:bodyPr vert="horz" lIns="91440" tIns="45720" rIns="91440" bIns="45720" rtlCol="0">
            <a:normAutofit/>
          </a:bodyPr>
          <a:lstStyle/>
          <a:p>
            <a:pPr indent="-384048" defTabSz="914400">
              <a:lnSpc>
                <a:spcPct val="94000"/>
              </a:lnSpc>
              <a:spcAft>
                <a:spcPts val="200"/>
              </a:spcAft>
              <a:buFont typeface="Franklin Gothic Book" panose="020B0503020102020204" pitchFamily="34" charset="0"/>
            </a:pPr>
            <a:endParaRPr lang="en-US" sz="2000" dirty="0">
              <a:solidFill>
                <a:schemeClr val="tx2"/>
              </a:solidFill>
              <a:latin typeface="Times New Roman" panose="02020603050405020304" pitchFamily="18" charset="0"/>
              <a:cs typeface="Times New Roman" panose="02020603050405020304" pitchFamily="18" charset="0"/>
            </a:endParaRPr>
          </a:p>
          <a:p>
            <a:pPr indent="-384048" defTabSz="914400">
              <a:lnSpc>
                <a:spcPct val="94000"/>
              </a:lnSpc>
              <a:spcAft>
                <a:spcPts val="200"/>
              </a:spcAft>
              <a:buFont typeface="Franklin Gothic Book" panose="020B0503020102020204" pitchFamily="34" charset="0"/>
            </a:pPr>
            <a:r>
              <a:rPr lang="en-US" sz="2000" dirty="0">
                <a:solidFill>
                  <a:schemeClr val="tx2"/>
                </a:solidFill>
                <a:latin typeface="Times New Roman" panose="02020603050405020304" pitchFamily="18" charset="0"/>
                <a:cs typeface="Times New Roman" panose="02020603050405020304" pitchFamily="18" charset="0"/>
              </a:rPr>
              <a:t>The laser distance sensors is implemented with the right diagram.</a:t>
            </a:r>
          </a:p>
          <a:p>
            <a:pPr indent="-384048" defTabSz="914400">
              <a:lnSpc>
                <a:spcPct val="94000"/>
              </a:lnSpc>
              <a:spcAft>
                <a:spcPts val="200"/>
              </a:spcAft>
              <a:buFont typeface="Franklin Gothic Book" panose="020B0503020102020204" pitchFamily="34" charset="0"/>
            </a:pPr>
            <a:endParaRPr lang="en-US" sz="2000" dirty="0">
              <a:solidFill>
                <a:schemeClr val="tx2"/>
              </a:solidFill>
              <a:latin typeface="Times New Roman" panose="02020603050405020304" pitchFamily="18" charset="0"/>
              <a:cs typeface="Times New Roman" panose="02020603050405020304" pitchFamily="18" charset="0"/>
            </a:endParaRPr>
          </a:p>
          <a:p>
            <a:pPr indent="-384048" defTabSz="914400">
              <a:lnSpc>
                <a:spcPct val="94000"/>
              </a:lnSpc>
              <a:spcAft>
                <a:spcPts val="200"/>
              </a:spcAft>
              <a:buFont typeface="Franklin Gothic Book" panose="020B0503020102020204" pitchFamily="34" charset="0"/>
            </a:pPr>
            <a:endParaRPr lang="en-US" sz="2000" dirty="0">
              <a:solidFill>
                <a:schemeClr val="tx2"/>
              </a:solidFill>
              <a:latin typeface="Times New Roman" panose="02020603050405020304" pitchFamily="18" charset="0"/>
              <a:cs typeface="Times New Roman" panose="02020603050405020304" pitchFamily="18" charset="0"/>
            </a:endParaRPr>
          </a:p>
          <a:p>
            <a:pPr indent="-384048" defTabSz="914400">
              <a:lnSpc>
                <a:spcPct val="94000"/>
              </a:lnSpc>
              <a:spcAft>
                <a:spcPts val="200"/>
              </a:spcAft>
              <a:buFont typeface="Franklin Gothic Book" panose="020B0503020102020204" pitchFamily="34" charset="0"/>
            </a:pPr>
            <a:endParaRPr lang="en-US" sz="2000" dirty="0">
              <a:solidFill>
                <a:schemeClr val="tx2"/>
              </a:solidFill>
              <a:latin typeface="Times New Roman" panose="02020603050405020304" pitchFamily="18" charset="0"/>
              <a:cs typeface="Times New Roman" panose="02020603050405020304" pitchFamily="18" charset="0"/>
            </a:endParaRPr>
          </a:p>
          <a:p>
            <a:pPr indent="-384048" defTabSz="914400">
              <a:lnSpc>
                <a:spcPct val="94000"/>
              </a:lnSpc>
              <a:spcAft>
                <a:spcPts val="200"/>
              </a:spcAft>
              <a:buFont typeface="Franklin Gothic Book" panose="020B0503020102020204" pitchFamily="34" charset="0"/>
            </a:pPr>
            <a:r>
              <a:rPr lang="en-US" sz="2000" dirty="0">
                <a:solidFill>
                  <a:schemeClr val="tx2"/>
                </a:solidFill>
                <a:latin typeface="Times New Roman" panose="02020603050405020304" pitchFamily="18" charset="0"/>
                <a:cs typeface="Times New Roman" panose="02020603050405020304" pitchFamily="18" charset="0"/>
              </a:rPr>
              <a:t>The PID controller will self-adjust the two angles, roll and pitch to quickly and efficiently adjust the angle of the foot, making it parallel to the ground.</a:t>
            </a:r>
          </a:p>
          <a:p>
            <a:pPr indent="-384048" defTabSz="914400">
              <a:lnSpc>
                <a:spcPct val="94000"/>
              </a:lnSpc>
              <a:spcAft>
                <a:spcPts val="200"/>
              </a:spcAft>
              <a:buFont typeface="Franklin Gothic Book" panose="020B0503020102020204" pitchFamily="34" charset="0"/>
            </a:pPr>
            <a:endParaRPr lang="en-US" dirty="0">
              <a:solidFill>
                <a:schemeClr val="tx2"/>
              </a:solidFill>
              <a:latin typeface="Times New Roman" panose="02020603050405020304" pitchFamily="18" charset="0"/>
              <a:cs typeface="Times New Roman" panose="02020603050405020304" pitchFamily="18" charset="0"/>
            </a:endParaRPr>
          </a:p>
          <a:p>
            <a:pPr indent="-384048" defTabSz="914400">
              <a:lnSpc>
                <a:spcPct val="94000"/>
              </a:lnSpc>
              <a:spcAft>
                <a:spcPts val="200"/>
              </a:spcAft>
              <a:buFont typeface="Franklin Gothic Book" panose="020B0503020102020204" pitchFamily="34" charset="0"/>
            </a:pPr>
            <a:endParaRPr lang="en-US" dirty="0">
              <a:solidFill>
                <a:schemeClr val="tx2"/>
              </a:solidFill>
            </a:endParaRPr>
          </a:p>
          <a:p>
            <a:pPr indent="-384048" defTabSz="914400">
              <a:lnSpc>
                <a:spcPct val="94000"/>
              </a:lnSpc>
              <a:spcAft>
                <a:spcPts val="200"/>
              </a:spcAft>
              <a:buFont typeface="Franklin Gothic Book" panose="020B0503020102020204" pitchFamily="34" charset="0"/>
            </a:pPr>
            <a:endParaRPr lang="en-US" dirty="0">
              <a:solidFill>
                <a:schemeClr val="tx2"/>
              </a:solidFill>
            </a:endParaRPr>
          </a:p>
        </p:txBody>
      </p:sp>
      <p:sp>
        <p:nvSpPr>
          <p:cNvPr id="73" name="Rectangle 72">
            <a:extLst>
              <a:ext uri="{FF2B5EF4-FFF2-40B4-BE49-F238E27FC236}">
                <a16:creationId xmlns:a16="http://schemas.microsoft.com/office/drawing/2014/main" id="{02A2E7B6-CE50-4B96-A981-2A02507328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03520" y="376"/>
            <a:ext cx="228600" cy="6858000"/>
          </a:xfrm>
          <a:prstGeom prst="rect">
            <a:avLst/>
          </a:prstGeom>
          <a:solidFill>
            <a:schemeClr val="tx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pic>
        <p:nvPicPr>
          <p:cNvPr id="5" name="Content Placeholder 4" descr="A diagram of a box&#10;&#10;Description automatically generated">
            <a:extLst>
              <a:ext uri="{FF2B5EF4-FFF2-40B4-BE49-F238E27FC236}">
                <a16:creationId xmlns:a16="http://schemas.microsoft.com/office/drawing/2014/main" id="{5FE7FA65-BBDD-C26D-E54D-2656E0A26743}"/>
              </a:ext>
            </a:extLst>
          </p:cNvPr>
          <p:cNvPicPr>
            <a:picLocks noChangeAspect="1"/>
          </p:cNvPicPr>
          <p:nvPr/>
        </p:nvPicPr>
        <p:blipFill>
          <a:blip r:embed="rId2"/>
          <a:stretch>
            <a:fillRect/>
          </a:stretch>
        </p:blipFill>
        <p:spPr>
          <a:xfrm>
            <a:off x="6096000" y="393026"/>
            <a:ext cx="5384074" cy="2086329"/>
          </a:xfrm>
          <a:prstGeom prst="rect">
            <a:avLst/>
          </a:prstGeom>
        </p:spPr>
      </p:pic>
      <p:pic>
        <p:nvPicPr>
          <p:cNvPr id="10" name="Content Placeholder 9" descr="A diagram of a flowchart&#10;&#10;Description automatically generated">
            <a:extLst>
              <a:ext uri="{FF2B5EF4-FFF2-40B4-BE49-F238E27FC236}">
                <a16:creationId xmlns:a16="http://schemas.microsoft.com/office/drawing/2014/main" id="{FB1DF090-C9F4-2FE9-E0C6-15FCA5CB53C4}"/>
              </a:ext>
            </a:extLst>
          </p:cNvPr>
          <p:cNvPicPr>
            <a:picLocks noGrp="1" noChangeAspect="1"/>
          </p:cNvPicPr>
          <p:nvPr>
            <p:ph idx="1"/>
          </p:nvPr>
        </p:nvPicPr>
        <p:blipFill>
          <a:blip r:embed="rId3"/>
          <a:stretch>
            <a:fillRect/>
          </a:stretch>
        </p:blipFill>
        <p:spPr>
          <a:xfrm>
            <a:off x="5855330" y="2877535"/>
            <a:ext cx="5886710" cy="3002221"/>
          </a:xfrm>
          <a:prstGeom prst="rect">
            <a:avLst/>
          </a:prstGeom>
        </p:spPr>
      </p:pic>
    </p:spTree>
    <p:extLst>
      <p:ext uri="{BB962C8B-B14F-4D97-AF65-F5344CB8AC3E}">
        <p14:creationId xmlns:p14="http://schemas.microsoft.com/office/powerpoint/2010/main" val="3346194818"/>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8E2B8A2D-F46F-4DA5-8AFF-BC57461C28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51C8775-C7CB-B211-293F-CB72520F0FC6}"/>
              </a:ext>
            </a:extLst>
          </p:cNvPr>
          <p:cNvSpPr>
            <a:spLocks noGrp="1"/>
          </p:cNvSpPr>
          <p:nvPr>
            <p:ph type="title"/>
          </p:nvPr>
        </p:nvSpPr>
        <p:spPr>
          <a:xfrm>
            <a:off x="2850982" y="135669"/>
            <a:ext cx="5793475" cy="1485900"/>
          </a:xfrm>
        </p:spPr>
        <p:txBody>
          <a:bodyPr>
            <a:normAutofit/>
          </a:bodyPr>
          <a:lstStyle/>
          <a:p>
            <a:r>
              <a:rPr lang="en-CN" dirty="0"/>
              <a:t>First and Second Model</a:t>
            </a:r>
          </a:p>
        </p:txBody>
      </p:sp>
      <p:sp>
        <p:nvSpPr>
          <p:cNvPr id="3" name="Content Placeholder 2">
            <a:extLst>
              <a:ext uri="{FF2B5EF4-FFF2-40B4-BE49-F238E27FC236}">
                <a16:creationId xmlns:a16="http://schemas.microsoft.com/office/drawing/2014/main" id="{71D2BB23-F68C-6E5A-B978-BA09B9614D01}"/>
              </a:ext>
            </a:extLst>
          </p:cNvPr>
          <p:cNvSpPr>
            <a:spLocks noGrp="1"/>
          </p:cNvSpPr>
          <p:nvPr>
            <p:ph idx="1"/>
          </p:nvPr>
        </p:nvSpPr>
        <p:spPr>
          <a:xfrm>
            <a:off x="4221183" y="1793019"/>
            <a:ext cx="3053074" cy="3581400"/>
          </a:xfrm>
        </p:spPr>
        <p:txBody>
          <a:bodyPr>
            <a:normAutofit fontScale="85000" lnSpcReduction="10000"/>
          </a:bodyPr>
          <a:lstStyle/>
          <a:p>
            <a:r>
              <a:rPr lang="en-CN"/>
              <a:t>We started on the first prototype of the bionic ankle to work on the code.</a:t>
            </a:r>
          </a:p>
          <a:p>
            <a:pPr algn="r"/>
            <a:r>
              <a:rPr lang="en-CN"/>
              <a:t>4.5 – 6.24</a:t>
            </a:r>
          </a:p>
          <a:p>
            <a:r>
              <a:rPr lang="en-CN"/>
              <a:t>3D printed materials cannot withstand the force exerted by the motors, so aluminium boards are needed. </a:t>
            </a:r>
          </a:p>
          <a:p>
            <a:r>
              <a:rPr lang="en-CN"/>
              <a:t>A damping is needed to use up the additional motors force.</a:t>
            </a:r>
          </a:p>
          <a:p>
            <a:pPr marL="0" indent="0" algn="r">
              <a:buNone/>
            </a:pPr>
            <a:r>
              <a:rPr lang="en-CN"/>
              <a:t>6.24 - now</a:t>
            </a:r>
          </a:p>
          <a:p>
            <a:pPr marL="0" indent="0" algn="r">
              <a:buNone/>
            </a:pPr>
            <a:endParaRPr lang="en-CN"/>
          </a:p>
          <a:p>
            <a:pPr algn="r"/>
            <a:endParaRPr lang="en-CN" dirty="0"/>
          </a:p>
        </p:txBody>
      </p:sp>
      <p:sp>
        <p:nvSpPr>
          <p:cNvPr id="1033" name="Rectangle 1032">
            <a:extLst>
              <a:ext uri="{FF2B5EF4-FFF2-40B4-BE49-F238E27FC236}">
                <a16:creationId xmlns:a16="http://schemas.microsoft.com/office/drawing/2014/main" id="{292BAD85-00E4-4D0A-993C-8372E78E1A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661" y="0"/>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pic>
        <p:nvPicPr>
          <p:cNvPr id="1026" name="Picture 2">
            <a:extLst>
              <a:ext uri="{FF2B5EF4-FFF2-40B4-BE49-F238E27FC236}">
                <a16:creationId xmlns:a16="http://schemas.microsoft.com/office/drawing/2014/main" id="{765A9B94-8333-9586-960B-B7899C0E1DA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38399" y="878619"/>
            <a:ext cx="3606799" cy="2705100"/>
          </a:xfrm>
          <a:prstGeom prst="rect">
            <a:avLst/>
          </a:prstGeom>
          <a:noFill/>
          <a:ln>
            <a:noFill/>
          </a:ln>
          <a:effectLst/>
          <a:extLst>
            <a:ext uri="{909E8E84-426E-40DD-AFC4-6F175D3DCCD1}">
              <a14:hiddenFill xmlns:a14="http://schemas.microsoft.com/office/drawing/2010/main">
                <a:solidFill>
                  <a:srgbClr val="FFFFFF"/>
                </a:solidFill>
              </a14:hiddenFill>
            </a:ext>
          </a:extLst>
        </p:spPr>
      </p:pic>
      <p:pic>
        <p:nvPicPr>
          <p:cNvPr id="5" name="Picture 4" descr="A machine with a metal object&#10;&#10;Description automatically generated with medium confidence">
            <a:extLst>
              <a:ext uri="{FF2B5EF4-FFF2-40B4-BE49-F238E27FC236}">
                <a16:creationId xmlns:a16="http://schemas.microsoft.com/office/drawing/2014/main" id="{A98DF40C-0BAC-2C93-961F-6DEC6137B8E3}"/>
              </a:ext>
            </a:extLst>
          </p:cNvPr>
          <p:cNvPicPr>
            <a:picLocks noChangeAspect="1"/>
          </p:cNvPicPr>
          <p:nvPr/>
        </p:nvPicPr>
        <p:blipFill>
          <a:blip r:embed="rId3"/>
          <a:stretch>
            <a:fillRect/>
          </a:stretch>
        </p:blipFill>
        <p:spPr>
          <a:xfrm>
            <a:off x="413385" y="3781425"/>
            <a:ext cx="3606800" cy="2705100"/>
          </a:xfrm>
          <a:prstGeom prst="rect">
            <a:avLst/>
          </a:prstGeom>
          <a:ln>
            <a:noFill/>
          </a:ln>
          <a:effectLst/>
        </p:spPr>
      </p:pic>
      <p:sp>
        <p:nvSpPr>
          <p:cNvPr id="6" name="AutoShape 1">
            <a:extLst>
              <a:ext uri="{FF2B5EF4-FFF2-40B4-BE49-F238E27FC236}">
                <a16:creationId xmlns:a16="http://schemas.microsoft.com/office/drawing/2014/main" id="{2237F074-C0FF-36C9-62CC-480D264D59E1}"/>
              </a:ext>
            </a:extLst>
          </p:cNvPr>
          <p:cNvSpPr>
            <a:spLocks noChangeAspect="1" noChangeArrowheads="1"/>
          </p:cNvSpPr>
          <p:nvPr/>
        </p:nvSpPr>
        <p:spPr bwMode="auto">
          <a:xfrm>
            <a:off x="0" y="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CN"/>
          </a:p>
        </p:txBody>
      </p:sp>
      <p:pic>
        <p:nvPicPr>
          <p:cNvPr id="4" name="Picture 3" descr="A machine on a table&#10;&#10;Description automatically generated">
            <a:extLst>
              <a:ext uri="{FF2B5EF4-FFF2-40B4-BE49-F238E27FC236}">
                <a16:creationId xmlns:a16="http://schemas.microsoft.com/office/drawing/2014/main" id="{80F81CA7-CA89-2522-B0C4-7F8543C8E7EA}"/>
              </a:ext>
            </a:extLst>
          </p:cNvPr>
          <p:cNvPicPr>
            <a:picLocks noChangeAspect="1"/>
          </p:cNvPicPr>
          <p:nvPr/>
        </p:nvPicPr>
        <p:blipFill>
          <a:blip r:embed="rId4"/>
          <a:stretch>
            <a:fillRect/>
          </a:stretch>
        </p:blipFill>
        <p:spPr>
          <a:xfrm>
            <a:off x="9598307" y="878619"/>
            <a:ext cx="2028825" cy="2705100"/>
          </a:xfrm>
          <a:prstGeom prst="rect">
            <a:avLst/>
          </a:prstGeom>
          <a:ln>
            <a:noFill/>
          </a:ln>
          <a:effectLst/>
        </p:spPr>
      </p:pic>
      <p:pic>
        <p:nvPicPr>
          <p:cNvPr id="7" name="Picture 6" descr="A close up of a machine&#10;&#10;Description automatically generated">
            <a:extLst>
              <a:ext uri="{FF2B5EF4-FFF2-40B4-BE49-F238E27FC236}">
                <a16:creationId xmlns:a16="http://schemas.microsoft.com/office/drawing/2014/main" id="{C59AEF45-8005-99BD-F9C6-E97CF9E271C6}"/>
              </a:ext>
            </a:extLst>
          </p:cNvPr>
          <p:cNvPicPr>
            <a:picLocks noChangeAspect="1"/>
          </p:cNvPicPr>
          <p:nvPr/>
        </p:nvPicPr>
        <p:blipFill>
          <a:blip r:embed="rId5"/>
          <a:stretch>
            <a:fillRect/>
          </a:stretch>
        </p:blipFill>
        <p:spPr>
          <a:xfrm>
            <a:off x="8020712" y="3781425"/>
            <a:ext cx="3730079" cy="2415226"/>
          </a:xfrm>
          <a:prstGeom prst="rect">
            <a:avLst/>
          </a:prstGeom>
          <a:ln>
            <a:noFill/>
          </a:ln>
          <a:effectLst/>
        </p:spPr>
      </p:pic>
    </p:spTree>
    <p:extLst>
      <p:ext uri="{BB962C8B-B14F-4D97-AF65-F5344CB8AC3E}">
        <p14:creationId xmlns:p14="http://schemas.microsoft.com/office/powerpoint/2010/main" val="27394843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825E602A-53EB-4CB1-9633-3EC058740A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92516E-9763-0B3D-66D9-9C6800BD1396}"/>
              </a:ext>
            </a:extLst>
          </p:cNvPr>
          <p:cNvSpPr>
            <a:spLocks noGrp="1"/>
          </p:cNvSpPr>
          <p:nvPr>
            <p:ph type="title"/>
          </p:nvPr>
        </p:nvSpPr>
        <p:spPr>
          <a:xfrm>
            <a:off x="311520" y="106651"/>
            <a:ext cx="11977315" cy="1485900"/>
          </a:xfrm>
        </p:spPr>
        <p:txBody>
          <a:bodyPr vert="horz" lIns="91440" tIns="45720" rIns="91440" bIns="45720" rtlCol="0">
            <a:normAutofit/>
          </a:bodyPr>
          <a:lstStyle/>
          <a:p>
            <a:r>
              <a:rPr lang="en-US" dirty="0">
                <a:latin typeface="Times New Roman" panose="02020603050405020304" pitchFamily="18" charset="0"/>
                <a:cs typeface="Times New Roman" panose="02020603050405020304" pitchFamily="18" charset="0"/>
              </a:rPr>
              <a:t>Maximum Angle and Self-adaptive Experiments</a:t>
            </a:r>
          </a:p>
        </p:txBody>
      </p:sp>
      <p:pic>
        <p:nvPicPr>
          <p:cNvPr id="5" name="Content Placeholder 4" descr="A collage of different types of objects&#10;&#10;Description automatically generated">
            <a:extLst>
              <a:ext uri="{FF2B5EF4-FFF2-40B4-BE49-F238E27FC236}">
                <a16:creationId xmlns:a16="http://schemas.microsoft.com/office/drawing/2014/main" id="{7C097249-F200-5C99-80F5-042C0E478C78}"/>
              </a:ext>
            </a:extLst>
          </p:cNvPr>
          <p:cNvPicPr>
            <a:picLocks noChangeAspect="1"/>
          </p:cNvPicPr>
          <p:nvPr/>
        </p:nvPicPr>
        <p:blipFill>
          <a:blip r:embed="rId2"/>
          <a:stretch>
            <a:fillRect/>
          </a:stretch>
        </p:blipFill>
        <p:spPr>
          <a:xfrm>
            <a:off x="311520" y="1378562"/>
            <a:ext cx="3730079" cy="2452526"/>
          </a:xfrm>
          <a:prstGeom prst="rect">
            <a:avLst/>
          </a:prstGeom>
          <a:ln>
            <a:noFill/>
          </a:ln>
          <a:effectLst/>
        </p:spPr>
      </p:pic>
      <p:pic>
        <p:nvPicPr>
          <p:cNvPr id="7" name="Picture 6" descr="A table with text and numbers&#10;&#10;Description automatically generated">
            <a:extLst>
              <a:ext uri="{FF2B5EF4-FFF2-40B4-BE49-F238E27FC236}">
                <a16:creationId xmlns:a16="http://schemas.microsoft.com/office/drawing/2014/main" id="{37E37A86-9E4A-D36A-E53C-BCCD75EC5901}"/>
              </a:ext>
            </a:extLst>
          </p:cNvPr>
          <p:cNvPicPr>
            <a:picLocks noChangeAspect="1"/>
          </p:cNvPicPr>
          <p:nvPr/>
        </p:nvPicPr>
        <p:blipFill>
          <a:blip r:embed="rId3"/>
          <a:stretch>
            <a:fillRect/>
          </a:stretch>
        </p:blipFill>
        <p:spPr>
          <a:xfrm>
            <a:off x="355844" y="4248811"/>
            <a:ext cx="3661857" cy="823917"/>
          </a:xfrm>
          <a:prstGeom prst="rect">
            <a:avLst/>
          </a:prstGeom>
          <a:ln>
            <a:noFill/>
          </a:ln>
          <a:effectLst/>
        </p:spPr>
      </p:pic>
      <p:sp>
        <p:nvSpPr>
          <p:cNvPr id="16" name="Rectangle 15">
            <a:extLst>
              <a:ext uri="{FF2B5EF4-FFF2-40B4-BE49-F238E27FC236}">
                <a16:creationId xmlns:a16="http://schemas.microsoft.com/office/drawing/2014/main" id="{E832F3F2-2294-4A8D-ABDC-234B853C7C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7354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N"/>
          </a:p>
        </p:txBody>
      </p:sp>
      <p:pic>
        <p:nvPicPr>
          <p:cNvPr id="3" name="Picture 2" descr="A blue mat with foam on it&#10;&#10;Description automatically generated">
            <a:extLst>
              <a:ext uri="{FF2B5EF4-FFF2-40B4-BE49-F238E27FC236}">
                <a16:creationId xmlns:a16="http://schemas.microsoft.com/office/drawing/2014/main" id="{0E94341D-671D-C961-E019-7142E81C5862}"/>
              </a:ext>
            </a:extLst>
          </p:cNvPr>
          <p:cNvPicPr>
            <a:picLocks noChangeAspect="1"/>
          </p:cNvPicPr>
          <p:nvPr/>
        </p:nvPicPr>
        <p:blipFill>
          <a:blip r:embed="rId4"/>
          <a:stretch>
            <a:fillRect/>
          </a:stretch>
        </p:blipFill>
        <p:spPr>
          <a:xfrm>
            <a:off x="5274535" y="1210021"/>
            <a:ext cx="5973151" cy="1314093"/>
          </a:xfrm>
          <a:prstGeom prst="rect">
            <a:avLst/>
          </a:prstGeom>
        </p:spPr>
      </p:pic>
      <p:pic>
        <p:nvPicPr>
          <p:cNvPr id="6" name="Content Placeholder 5">
            <a:extLst>
              <a:ext uri="{FF2B5EF4-FFF2-40B4-BE49-F238E27FC236}">
                <a16:creationId xmlns:a16="http://schemas.microsoft.com/office/drawing/2014/main" id="{94DD770F-16DF-5308-B758-5F708CFC5E29}"/>
              </a:ext>
            </a:extLst>
          </p:cNvPr>
          <p:cNvPicPr>
            <a:picLocks noGrp="1" noChangeAspect="1"/>
          </p:cNvPicPr>
          <p:nvPr>
            <p:ph idx="1"/>
          </p:nvPr>
        </p:nvPicPr>
        <p:blipFill>
          <a:blip r:embed="rId5"/>
          <a:stretch>
            <a:fillRect/>
          </a:stretch>
        </p:blipFill>
        <p:spPr>
          <a:xfrm>
            <a:off x="8975690" y="2749355"/>
            <a:ext cx="2548933" cy="3397250"/>
          </a:xfrm>
          <a:prstGeom prst="rect">
            <a:avLst/>
          </a:prstGeom>
        </p:spPr>
      </p:pic>
      <p:pic>
        <p:nvPicPr>
          <p:cNvPr id="8" name="Picture 7">
            <a:extLst>
              <a:ext uri="{FF2B5EF4-FFF2-40B4-BE49-F238E27FC236}">
                <a16:creationId xmlns:a16="http://schemas.microsoft.com/office/drawing/2014/main" id="{3B6DF6D7-705C-1530-D3B8-6476A21D2B82}"/>
              </a:ext>
            </a:extLst>
          </p:cNvPr>
          <p:cNvPicPr>
            <a:picLocks noChangeAspect="1"/>
          </p:cNvPicPr>
          <p:nvPr/>
        </p:nvPicPr>
        <p:blipFill>
          <a:blip r:embed="rId6"/>
          <a:stretch>
            <a:fillRect/>
          </a:stretch>
        </p:blipFill>
        <p:spPr>
          <a:xfrm>
            <a:off x="5000817" y="4563863"/>
            <a:ext cx="3651745" cy="1654268"/>
          </a:xfrm>
          <a:prstGeom prst="rect">
            <a:avLst/>
          </a:prstGeom>
        </p:spPr>
      </p:pic>
    </p:spTree>
    <p:extLst>
      <p:ext uri="{BB962C8B-B14F-4D97-AF65-F5344CB8AC3E}">
        <p14:creationId xmlns:p14="http://schemas.microsoft.com/office/powerpoint/2010/main" val="35414152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5BFF8-9361-6514-CF54-151368C144D6}"/>
              </a:ext>
            </a:extLst>
          </p:cNvPr>
          <p:cNvSpPr>
            <a:spLocks noGrp="1"/>
          </p:cNvSpPr>
          <p:nvPr>
            <p:ph type="title"/>
          </p:nvPr>
        </p:nvSpPr>
        <p:spPr/>
        <p:txBody>
          <a:bodyPr/>
          <a:lstStyle/>
          <a:p>
            <a:r>
              <a:rPr lang="en-CN" dirty="0"/>
              <a:t>Future Improvements</a:t>
            </a:r>
          </a:p>
        </p:txBody>
      </p:sp>
      <p:sp>
        <p:nvSpPr>
          <p:cNvPr id="3" name="Content Placeholder 2">
            <a:extLst>
              <a:ext uri="{FF2B5EF4-FFF2-40B4-BE49-F238E27FC236}">
                <a16:creationId xmlns:a16="http://schemas.microsoft.com/office/drawing/2014/main" id="{8284140E-7048-D545-CD1B-51A254E3FE00}"/>
              </a:ext>
            </a:extLst>
          </p:cNvPr>
          <p:cNvSpPr>
            <a:spLocks noGrp="1"/>
          </p:cNvSpPr>
          <p:nvPr>
            <p:ph idx="1"/>
          </p:nvPr>
        </p:nvSpPr>
        <p:spPr/>
        <p:txBody>
          <a:bodyPr/>
          <a:lstStyle/>
          <a:p>
            <a:r>
              <a:rPr lang="en-CN" dirty="0"/>
              <a:t>In this prototype, we have sucessfully demonstarted the basic functions of such 2 dof bionic ankle. </a:t>
            </a:r>
            <a:r>
              <a:rPr lang="en-CN"/>
              <a:t>Of course, there is still nessary steps for it to be used on space exploration such as Mars. </a:t>
            </a:r>
            <a:endParaRPr lang="en-CN" dirty="0"/>
          </a:p>
          <a:p>
            <a:pPr lvl="1"/>
            <a:r>
              <a:rPr lang="en-CN" dirty="0"/>
              <a:t>Future experiments on low gravity environments for examination of impactagainist ground (springs)</a:t>
            </a:r>
          </a:p>
          <a:p>
            <a:pPr lvl="1"/>
            <a:r>
              <a:rPr lang="en-US" dirty="0"/>
              <a:t>E</a:t>
            </a:r>
            <a:r>
              <a:rPr lang="en-CN" dirty="0"/>
              <a:t>xperiment on different foot types for different situations (such as for stability on rough ground)</a:t>
            </a:r>
          </a:p>
          <a:p>
            <a:pPr lvl="1"/>
            <a:r>
              <a:rPr lang="en-CN" dirty="0"/>
              <a:t>Coordination of ankle with legs and upper body</a:t>
            </a:r>
          </a:p>
          <a:p>
            <a:pPr lvl="1"/>
            <a:endParaRPr lang="en-CN" dirty="0"/>
          </a:p>
          <a:p>
            <a:pPr lvl="1"/>
            <a:endParaRPr lang="en-CN" dirty="0"/>
          </a:p>
          <a:p>
            <a:pPr lvl="1"/>
            <a:endParaRPr lang="en-CN" dirty="0"/>
          </a:p>
          <a:p>
            <a:pPr lvl="1"/>
            <a:endParaRPr lang="en-CN" dirty="0"/>
          </a:p>
          <a:p>
            <a:pPr lvl="1"/>
            <a:endParaRPr lang="en-CN" dirty="0"/>
          </a:p>
          <a:p>
            <a:endParaRPr lang="en-CN" dirty="0"/>
          </a:p>
        </p:txBody>
      </p:sp>
    </p:spTree>
    <p:extLst>
      <p:ext uri="{BB962C8B-B14F-4D97-AF65-F5344CB8AC3E}">
        <p14:creationId xmlns:p14="http://schemas.microsoft.com/office/powerpoint/2010/main" val="5723843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89B72-36ED-BBA6-6DEC-7183480AF8D2}"/>
              </a:ext>
            </a:extLst>
          </p:cNvPr>
          <p:cNvSpPr>
            <a:spLocks noGrp="1"/>
          </p:cNvSpPr>
          <p:nvPr>
            <p:ph type="title"/>
          </p:nvPr>
        </p:nvSpPr>
        <p:spPr>
          <a:xfrm>
            <a:off x="784743" y="247650"/>
            <a:ext cx="7656730" cy="1485900"/>
          </a:xfrm>
        </p:spPr>
        <p:txBody>
          <a:bodyPr vert="horz" lIns="91440" tIns="45720" rIns="91440" bIns="45720" rtlCol="0">
            <a:normAutofit/>
          </a:bodyPr>
          <a:lstStyle/>
          <a:p>
            <a:r>
              <a:rPr lang="en-US" dirty="0">
                <a:latin typeface="Times New Roman" panose="02020603050405020304" pitchFamily="18" charset="0"/>
                <a:cs typeface="Times New Roman" panose="02020603050405020304" pitchFamily="18" charset="0"/>
              </a:rPr>
              <a:t>Market and Target Customers</a:t>
            </a:r>
          </a:p>
        </p:txBody>
      </p:sp>
      <p:sp>
        <p:nvSpPr>
          <p:cNvPr id="4" name="Content Placeholder 3">
            <a:extLst>
              <a:ext uri="{FF2B5EF4-FFF2-40B4-BE49-F238E27FC236}">
                <a16:creationId xmlns:a16="http://schemas.microsoft.com/office/drawing/2014/main" id="{03499FA2-C999-8DF8-B097-8C9DE181B3C5}"/>
              </a:ext>
            </a:extLst>
          </p:cNvPr>
          <p:cNvSpPr>
            <a:spLocks noGrp="1"/>
          </p:cNvSpPr>
          <p:nvPr>
            <p:ph idx="1"/>
          </p:nvPr>
        </p:nvSpPr>
        <p:spPr>
          <a:xfrm>
            <a:off x="784743" y="1897401"/>
            <a:ext cx="8994877" cy="3597866"/>
          </a:xfrm>
        </p:spPr>
        <p:txBody>
          <a:bodyPr>
            <a:normAutofit/>
          </a:bodyPr>
          <a:lstStyle/>
          <a:p>
            <a:pPr marL="800100" lvl="1" indent="-342900">
              <a:lnSpc>
                <a:spcPct val="200000"/>
              </a:lnSpc>
              <a:buFont typeface="Arial" panose="020B0604020202020204" pitchFamily="34" charset="0"/>
              <a:buChar char="•"/>
            </a:pPr>
            <a:r>
              <a:rPr lang="en-US" sz="1600" i="0" dirty="0">
                <a:effectLst/>
                <a:latin typeface="Times New Roman" panose="02020603050405020304" pitchFamily="18" charset="0"/>
                <a:cs typeface="Times New Roman" panose="02020603050405020304" pitchFamily="18" charset="0"/>
              </a:rPr>
              <a:t>Public Space Agencies: NASA, ESA, and JAXA...</a:t>
            </a:r>
          </a:p>
          <a:p>
            <a:pPr marL="1257300" lvl="2" indent="-342900">
              <a:lnSpc>
                <a:spcPct val="20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Advanced Mobility, Space Missions</a:t>
            </a:r>
          </a:p>
          <a:p>
            <a:pPr marL="800100" lvl="1" indent="-342900">
              <a:lnSpc>
                <a:spcPct val="200000"/>
              </a:lnSpc>
              <a:buFont typeface="Arial" panose="020B0604020202020204" pitchFamily="34" charset="0"/>
              <a:buChar char="•"/>
            </a:pPr>
            <a:r>
              <a:rPr lang="en-US" sz="1600" i="0" dirty="0">
                <a:effectLst/>
                <a:latin typeface="Times New Roman" panose="02020603050405020304" pitchFamily="18" charset="0"/>
                <a:cs typeface="Times New Roman" panose="02020603050405020304" pitchFamily="18" charset="0"/>
              </a:rPr>
              <a:t>Private Space Exploration Companies: SpaceX, Blue Origin... </a:t>
            </a:r>
          </a:p>
          <a:p>
            <a:pPr marL="1257300" lvl="2" indent="-342900">
              <a:lnSpc>
                <a:spcPct val="20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Low costs, lightweight</a:t>
            </a:r>
          </a:p>
          <a:p>
            <a:pPr marL="800100" lvl="1" indent="-342900">
              <a:lnSpc>
                <a:spcPct val="200000"/>
              </a:lnSpc>
              <a:buFont typeface="Arial" panose="020B0604020202020204" pitchFamily="34" charset="0"/>
              <a:buChar char="•"/>
            </a:pPr>
            <a:r>
              <a:rPr lang="en-US" sz="1600" i="0" dirty="0">
                <a:effectLst/>
                <a:latin typeface="Times New Roman" panose="02020603050405020304" pitchFamily="18" charset="0"/>
                <a:cs typeface="Times New Roman" panose="02020603050405020304" pitchFamily="18" charset="0"/>
              </a:rPr>
              <a:t>Robotics Manufacturers: Boston dynamic, Agility Robotics</a:t>
            </a:r>
          </a:p>
          <a:p>
            <a:pPr marL="1257300" lvl="2" indent="-342900">
              <a:lnSpc>
                <a:spcPct val="20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Innovative, Commercial Viability</a:t>
            </a:r>
          </a:p>
        </p:txBody>
      </p:sp>
      <p:pic>
        <p:nvPicPr>
          <p:cNvPr id="5" name="Picture 4">
            <a:extLst>
              <a:ext uri="{FF2B5EF4-FFF2-40B4-BE49-F238E27FC236}">
                <a16:creationId xmlns:a16="http://schemas.microsoft.com/office/drawing/2014/main" id="{B6B35B65-9E86-BA9B-1ADE-3CE25D4AADDA}"/>
              </a:ext>
            </a:extLst>
          </p:cNvPr>
          <p:cNvPicPr>
            <a:picLocks noChangeAspect="1"/>
          </p:cNvPicPr>
          <p:nvPr/>
        </p:nvPicPr>
        <p:blipFill>
          <a:blip r:embed="rId3"/>
          <a:stretch>
            <a:fillRect/>
          </a:stretch>
        </p:blipFill>
        <p:spPr>
          <a:xfrm>
            <a:off x="8549579" y="643467"/>
            <a:ext cx="2705100" cy="2705100"/>
          </a:xfrm>
          <a:prstGeom prst="rect">
            <a:avLst/>
          </a:prstGeom>
          <a:ln>
            <a:noFill/>
          </a:ln>
          <a:effectLst/>
        </p:spPr>
      </p:pic>
      <p:pic>
        <p:nvPicPr>
          <p:cNvPr id="7" name="Picture 6">
            <a:extLst>
              <a:ext uri="{FF2B5EF4-FFF2-40B4-BE49-F238E27FC236}">
                <a16:creationId xmlns:a16="http://schemas.microsoft.com/office/drawing/2014/main" id="{1C54EA3E-B3F6-E772-E03F-464AC5BF3BF6}"/>
              </a:ext>
            </a:extLst>
          </p:cNvPr>
          <p:cNvPicPr>
            <a:picLocks noChangeAspect="1"/>
          </p:cNvPicPr>
          <p:nvPr/>
        </p:nvPicPr>
        <p:blipFill>
          <a:blip r:embed="rId4"/>
          <a:stretch>
            <a:fillRect/>
          </a:stretch>
        </p:blipFill>
        <p:spPr>
          <a:xfrm>
            <a:off x="8037090" y="3696334"/>
            <a:ext cx="3730079" cy="2331299"/>
          </a:xfrm>
          <a:prstGeom prst="rect">
            <a:avLst/>
          </a:prstGeom>
          <a:ln>
            <a:noFill/>
          </a:ln>
          <a:effectLst/>
        </p:spPr>
      </p:pic>
    </p:spTree>
    <p:extLst>
      <p:ext uri="{BB962C8B-B14F-4D97-AF65-F5344CB8AC3E}">
        <p14:creationId xmlns:p14="http://schemas.microsoft.com/office/powerpoint/2010/main" val="9998122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89B72-36ED-BBA6-6DEC-7183480AF8D2}"/>
              </a:ext>
            </a:extLst>
          </p:cNvPr>
          <p:cNvSpPr>
            <a:spLocks noGrp="1"/>
          </p:cNvSpPr>
          <p:nvPr>
            <p:ph type="title"/>
          </p:nvPr>
        </p:nvSpPr>
        <p:spPr>
          <a:xfrm>
            <a:off x="4180506" y="0"/>
            <a:ext cx="4517382" cy="1485900"/>
          </a:xfrm>
        </p:spPr>
        <p:txBody>
          <a:bodyPr vert="horz" lIns="91440" tIns="45720" rIns="91440" bIns="45720" rtlCol="0">
            <a:normAutofit/>
          </a:bodyPr>
          <a:lstStyle/>
          <a:p>
            <a:r>
              <a:rPr lang="en-US" dirty="0">
                <a:latin typeface="Times New Roman" panose="02020603050405020304" pitchFamily="18" charset="0"/>
                <a:cs typeface="Times New Roman" panose="02020603050405020304" pitchFamily="18" charset="0"/>
              </a:rPr>
              <a:t>Financial modeling</a:t>
            </a:r>
          </a:p>
        </p:txBody>
      </p:sp>
      <p:graphicFrame>
        <p:nvGraphicFramePr>
          <p:cNvPr id="9" name="Table 8">
            <a:extLst>
              <a:ext uri="{FF2B5EF4-FFF2-40B4-BE49-F238E27FC236}">
                <a16:creationId xmlns:a16="http://schemas.microsoft.com/office/drawing/2014/main" id="{75570256-AC62-1ECE-5706-ABEC4EAEB63A}"/>
              </a:ext>
            </a:extLst>
          </p:cNvPr>
          <p:cNvGraphicFramePr>
            <a:graphicFrameLocks noGrp="1"/>
          </p:cNvGraphicFramePr>
          <p:nvPr>
            <p:extLst>
              <p:ext uri="{D42A27DB-BD31-4B8C-83A1-F6EECF244321}">
                <p14:modId xmlns:p14="http://schemas.microsoft.com/office/powerpoint/2010/main" val="3796621735"/>
              </p:ext>
            </p:extLst>
          </p:nvPr>
        </p:nvGraphicFramePr>
        <p:xfrm>
          <a:off x="907142" y="1224492"/>
          <a:ext cx="5270634" cy="2554717"/>
        </p:xfrm>
        <a:graphic>
          <a:graphicData uri="http://schemas.openxmlformats.org/drawingml/2006/table">
            <a:tbl>
              <a:tblPr firstRow="1" bandRow="1">
                <a:tableStyleId>{5C22544A-7EE6-4342-B048-85BDC9FD1C3A}</a:tableStyleId>
              </a:tblPr>
              <a:tblGrid>
                <a:gridCol w="2635317">
                  <a:extLst>
                    <a:ext uri="{9D8B030D-6E8A-4147-A177-3AD203B41FA5}">
                      <a16:colId xmlns:a16="http://schemas.microsoft.com/office/drawing/2014/main" val="2175230744"/>
                    </a:ext>
                  </a:extLst>
                </a:gridCol>
                <a:gridCol w="2635317">
                  <a:extLst>
                    <a:ext uri="{9D8B030D-6E8A-4147-A177-3AD203B41FA5}">
                      <a16:colId xmlns:a16="http://schemas.microsoft.com/office/drawing/2014/main" val="4257991704"/>
                    </a:ext>
                  </a:extLst>
                </a:gridCol>
              </a:tblGrid>
              <a:tr h="598100">
                <a:tc>
                  <a:txBody>
                    <a:bodyPr/>
                    <a:lstStyle/>
                    <a:p>
                      <a:r>
                        <a:rPr lang="en-CN" sz="1500" dirty="0">
                          <a:latin typeface="Times New Roman" panose="02020603050405020304" pitchFamily="18" charset="0"/>
                          <a:cs typeface="Times New Roman" panose="02020603050405020304" pitchFamily="18" charset="0"/>
                        </a:rPr>
                        <a:t>Materials</a:t>
                      </a:r>
                    </a:p>
                  </a:txBody>
                  <a:tcPr/>
                </a:tc>
                <a:tc>
                  <a:txBody>
                    <a:bodyPr/>
                    <a:lstStyle/>
                    <a:p>
                      <a:r>
                        <a:rPr lang="en-CN" sz="1500" dirty="0">
                          <a:latin typeface="Times New Roman" panose="02020603050405020304" pitchFamily="18" charset="0"/>
                          <a:cs typeface="Times New Roman" panose="02020603050405020304" pitchFamily="18" charset="0"/>
                        </a:rPr>
                        <a:t>Price</a:t>
                      </a:r>
                    </a:p>
                  </a:txBody>
                  <a:tcPr/>
                </a:tc>
                <a:extLst>
                  <a:ext uri="{0D108BD9-81ED-4DB2-BD59-A6C34878D82A}">
                    <a16:rowId xmlns:a16="http://schemas.microsoft.com/office/drawing/2014/main" val="2901338002"/>
                  </a:ext>
                </a:extLst>
              </a:tr>
              <a:tr h="34240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N" sz="1500" dirty="0">
                          <a:latin typeface="Times New Roman" panose="02020603050405020304" pitchFamily="18" charset="0"/>
                          <a:cs typeface="Times New Roman" panose="02020603050405020304" pitchFamily="18" charset="0"/>
                        </a:rPr>
                        <a:t>Two Motors and Spring System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i="0" dirty="0">
                          <a:solidFill>
                            <a:schemeClr val="tx1"/>
                          </a:solidFill>
                          <a:latin typeface="Times New Roman" panose="02020603050405020304" pitchFamily="18" charset="0"/>
                          <a:ea typeface="思源黑体" panose="020B0500000000000000" charset="-122"/>
                          <a:cs typeface="Times New Roman" panose="02020603050405020304" pitchFamily="18" charset="0"/>
                        </a:rPr>
                        <a:t>￥</a:t>
                      </a:r>
                      <a:r>
                        <a:rPr lang="en-US" sz="1500" i="0" dirty="0">
                          <a:latin typeface="Times New Roman" panose="02020603050405020304" pitchFamily="18" charset="0"/>
                          <a:cs typeface="Times New Roman" panose="02020603050405020304" pitchFamily="18" charset="0"/>
                        </a:rPr>
                        <a:t>1400</a:t>
                      </a:r>
                    </a:p>
                  </a:txBody>
                  <a:tcPr/>
                </a:tc>
                <a:extLst>
                  <a:ext uri="{0D108BD9-81ED-4DB2-BD59-A6C34878D82A}">
                    <a16:rowId xmlns:a16="http://schemas.microsoft.com/office/drawing/2014/main" val="374981855"/>
                  </a:ext>
                </a:extLst>
              </a:tr>
              <a:tr h="34240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i="0" dirty="0">
                          <a:latin typeface="Times New Roman" panose="02020603050405020304" pitchFamily="18" charset="0"/>
                          <a:cs typeface="Times New Roman" panose="02020603050405020304" pitchFamily="18" charset="0"/>
                        </a:rPr>
                        <a:t>Aluminum Framework</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i="0" dirty="0">
                          <a:solidFill>
                            <a:schemeClr val="tx1"/>
                          </a:solidFill>
                          <a:latin typeface="Times New Roman" panose="02020603050405020304" pitchFamily="18" charset="0"/>
                          <a:ea typeface="思源黑体" panose="020B0500000000000000" charset="-122"/>
                          <a:cs typeface="Times New Roman" panose="02020603050405020304" pitchFamily="18" charset="0"/>
                        </a:rPr>
                        <a:t>￥</a:t>
                      </a:r>
                      <a:r>
                        <a:rPr lang="en-US" sz="1500" i="0" dirty="0">
                          <a:latin typeface="Times New Roman" panose="02020603050405020304" pitchFamily="18" charset="0"/>
                          <a:cs typeface="Times New Roman" panose="02020603050405020304" pitchFamily="18" charset="0"/>
                        </a:rPr>
                        <a:t>700</a:t>
                      </a:r>
                    </a:p>
                  </a:txBody>
                  <a:tcPr/>
                </a:tc>
                <a:extLst>
                  <a:ext uri="{0D108BD9-81ED-4DB2-BD59-A6C34878D82A}">
                    <a16:rowId xmlns:a16="http://schemas.microsoft.com/office/drawing/2014/main" val="3694498032"/>
                  </a:ext>
                </a:extLst>
              </a:tr>
              <a:tr h="34240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i="0" dirty="0">
                          <a:latin typeface="Times New Roman" panose="02020603050405020304" pitchFamily="18" charset="0"/>
                          <a:cs typeface="Times New Roman" panose="02020603050405020304" pitchFamily="18" charset="0"/>
                        </a:rPr>
                        <a:t>Laser Sensors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i="0" dirty="0">
                          <a:solidFill>
                            <a:schemeClr val="tx1"/>
                          </a:solidFill>
                          <a:latin typeface="Times New Roman" panose="02020603050405020304" pitchFamily="18" charset="0"/>
                          <a:ea typeface="思源黑体" panose="020B0500000000000000" charset="-122"/>
                          <a:cs typeface="Times New Roman" panose="02020603050405020304" pitchFamily="18" charset="0"/>
                        </a:rPr>
                        <a:t>￥100</a:t>
                      </a:r>
                      <a:endParaRPr lang="en-CN" sz="15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9107913"/>
                  </a:ext>
                </a:extLst>
              </a:tr>
              <a:tr h="586985">
                <a:tc>
                  <a:txBody>
                    <a:bodyPr/>
                    <a:lstStyle/>
                    <a:p>
                      <a:r>
                        <a:rPr lang="en-CN" sz="1500" dirty="0">
                          <a:latin typeface="Times New Roman" panose="02020603050405020304" pitchFamily="18" charset="0"/>
                          <a:cs typeface="Times New Roman" panose="02020603050405020304" pitchFamily="18" charset="0"/>
                        </a:rPr>
                        <a:t>Coil, Springs, Wires, Other 3d printed Material</a:t>
                      </a:r>
                    </a:p>
                  </a:txBody>
                  <a:tcPr/>
                </a:tc>
                <a:tc>
                  <a:txBody>
                    <a:bodyPr/>
                    <a:lstStyle/>
                    <a:p>
                      <a:r>
                        <a:rPr lang="en-US" sz="1500" i="0" dirty="0">
                          <a:solidFill>
                            <a:schemeClr val="tx1"/>
                          </a:solidFill>
                          <a:latin typeface="Times New Roman" panose="02020603050405020304" pitchFamily="18" charset="0"/>
                          <a:ea typeface="思源黑体" panose="020B0500000000000000" charset="-122"/>
                          <a:cs typeface="Times New Roman" panose="02020603050405020304" pitchFamily="18" charset="0"/>
                        </a:rPr>
                        <a:t>￥200</a:t>
                      </a:r>
                      <a:endParaRPr lang="en-CN" sz="15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883545577"/>
                  </a:ext>
                </a:extLst>
              </a:tr>
              <a:tr h="342408">
                <a:tc>
                  <a:txBody>
                    <a:bodyPr/>
                    <a:lstStyle/>
                    <a:p>
                      <a:r>
                        <a:rPr lang="en-CN" sz="1500" dirty="0">
                          <a:latin typeface="Times New Roman" panose="02020603050405020304" pitchFamily="18" charset="0"/>
                          <a:cs typeface="Times New Roman" panose="02020603050405020304" pitchFamily="18" charset="0"/>
                        </a:rPr>
                        <a:t>Total</a:t>
                      </a:r>
                    </a:p>
                  </a:txBody>
                  <a:tcPr/>
                </a:tc>
                <a:tc>
                  <a:txBody>
                    <a:bodyPr/>
                    <a:lstStyle/>
                    <a:p>
                      <a:r>
                        <a:rPr lang="en-US" sz="1500" i="0" dirty="0">
                          <a:solidFill>
                            <a:schemeClr val="tx1"/>
                          </a:solidFill>
                          <a:latin typeface="Times New Roman" panose="02020603050405020304" pitchFamily="18" charset="0"/>
                          <a:ea typeface="思源黑体" panose="020B0500000000000000" charset="-122"/>
                          <a:cs typeface="Times New Roman" panose="02020603050405020304" pitchFamily="18" charset="0"/>
                        </a:rPr>
                        <a:t>￥2300</a:t>
                      </a:r>
                      <a:endParaRPr lang="en-CN" sz="15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14369580"/>
                  </a:ext>
                </a:extLst>
              </a:tr>
            </a:tbl>
          </a:graphicData>
        </a:graphic>
      </p:graphicFrame>
      <p:graphicFrame>
        <p:nvGraphicFramePr>
          <p:cNvPr id="13" name="Table 12">
            <a:extLst>
              <a:ext uri="{FF2B5EF4-FFF2-40B4-BE49-F238E27FC236}">
                <a16:creationId xmlns:a16="http://schemas.microsoft.com/office/drawing/2014/main" id="{FDF0EFEB-FE43-BB36-30A2-E6C439ECCCE6}"/>
              </a:ext>
            </a:extLst>
          </p:cNvPr>
          <p:cNvGraphicFramePr>
            <a:graphicFrameLocks noGrp="1"/>
          </p:cNvGraphicFramePr>
          <p:nvPr>
            <p:extLst>
              <p:ext uri="{D42A27DB-BD31-4B8C-83A1-F6EECF244321}">
                <p14:modId xmlns:p14="http://schemas.microsoft.com/office/powerpoint/2010/main" val="4063462816"/>
              </p:ext>
            </p:extLst>
          </p:nvPr>
        </p:nvGraphicFramePr>
        <p:xfrm>
          <a:off x="907142" y="4022825"/>
          <a:ext cx="5270634" cy="2651760"/>
        </p:xfrm>
        <a:graphic>
          <a:graphicData uri="http://schemas.openxmlformats.org/drawingml/2006/table">
            <a:tbl>
              <a:tblPr firstRow="1" bandRow="1">
                <a:tableStyleId>{5C22544A-7EE6-4342-B048-85BDC9FD1C3A}</a:tableStyleId>
              </a:tblPr>
              <a:tblGrid>
                <a:gridCol w="2451999">
                  <a:extLst>
                    <a:ext uri="{9D8B030D-6E8A-4147-A177-3AD203B41FA5}">
                      <a16:colId xmlns:a16="http://schemas.microsoft.com/office/drawing/2014/main" val="2175230744"/>
                    </a:ext>
                  </a:extLst>
                </a:gridCol>
                <a:gridCol w="2818635">
                  <a:extLst>
                    <a:ext uri="{9D8B030D-6E8A-4147-A177-3AD203B41FA5}">
                      <a16:colId xmlns:a16="http://schemas.microsoft.com/office/drawing/2014/main" val="4257991704"/>
                    </a:ext>
                  </a:extLst>
                </a:gridCol>
              </a:tblGrid>
              <a:tr h="350150">
                <a:tc>
                  <a:txBody>
                    <a:bodyPr/>
                    <a:lstStyle/>
                    <a:p>
                      <a:r>
                        <a:rPr lang="en-CN" sz="1800" dirty="0">
                          <a:latin typeface="Times New Roman" panose="02020603050405020304" pitchFamily="18" charset="0"/>
                          <a:cs typeface="Times New Roman" panose="02020603050405020304" pitchFamily="18" charset="0"/>
                        </a:rPr>
                        <a:t>Research and Development</a:t>
                      </a:r>
                    </a:p>
                  </a:txBody>
                  <a:tcPr/>
                </a:tc>
                <a:tc>
                  <a:txBody>
                    <a:bodyPr/>
                    <a:lstStyle/>
                    <a:p>
                      <a:r>
                        <a:rPr lang="en-CN" sz="1800" dirty="0">
                          <a:latin typeface="Times New Roman" panose="02020603050405020304" pitchFamily="18" charset="0"/>
                          <a:cs typeface="Times New Roman" panose="02020603050405020304" pitchFamily="18" charset="0"/>
                        </a:rPr>
                        <a:t>Price</a:t>
                      </a:r>
                    </a:p>
                  </a:txBody>
                  <a:tcPr/>
                </a:tc>
                <a:extLst>
                  <a:ext uri="{0D108BD9-81ED-4DB2-BD59-A6C34878D82A}">
                    <a16:rowId xmlns:a16="http://schemas.microsoft.com/office/drawing/2014/main" val="2901338002"/>
                  </a:ext>
                </a:extLst>
              </a:tr>
              <a:tr h="1267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N" sz="1800" dirty="0">
                          <a:latin typeface="Times New Roman" panose="02020603050405020304" pitchFamily="18" charset="0"/>
                          <a:cs typeface="Times New Roman" panose="02020603050405020304" pitchFamily="18" charset="0"/>
                        </a:rPr>
                        <a:t>Software and Control System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i="0" dirty="0">
                          <a:solidFill>
                            <a:schemeClr val="tx1"/>
                          </a:solidFill>
                          <a:latin typeface="Times New Roman" panose="02020603050405020304" pitchFamily="18" charset="0"/>
                          <a:ea typeface="思源黑体" panose="020B0500000000000000" charset="-122"/>
                          <a:cs typeface="Times New Roman" panose="02020603050405020304" pitchFamily="18" charset="0"/>
                        </a:rPr>
                        <a:t>￥4</a:t>
                      </a:r>
                      <a:r>
                        <a:rPr lang="en-US" sz="1800" i="0" dirty="0">
                          <a:latin typeface="Times New Roman" panose="02020603050405020304" pitchFamily="18" charset="0"/>
                          <a:cs typeface="Times New Roman" panose="02020603050405020304" pitchFamily="18" charset="0"/>
                        </a:rPr>
                        <a:t>0,000-50,000</a:t>
                      </a:r>
                    </a:p>
                  </a:txBody>
                  <a:tcPr/>
                </a:tc>
                <a:extLst>
                  <a:ext uri="{0D108BD9-81ED-4DB2-BD59-A6C34878D82A}">
                    <a16:rowId xmlns:a16="http://schemas.microsoft.com/office/drawing/2014/main" val="374981855"/>
                  </a:ext>
                </a:extLst>
              </a:tr>
              <a:tr h="1267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i="0" dirty="0">
                          <a:latin typeface="Times New Roman" panose="02020603050405020304" pitchFamily="18" charset="0"/>
                          <a:cs typeface="Times New Roman" panose="02020603050405020304" pitchFamily="18" charset="0"/>
                        </a:rPr>
                        <a:t>Experiment + Prototypes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i="0" dirty="0">
                          <a:solidFill>
                            <a:schemeClr val="tx1"/>
                          </a:solidFill>
                          <a:latin typeface="Times New Roman" panose="02020603050405020304" pitchFamily="18" charset="0"/>
                          <a:ea typeface="思源黑体" panose="020B0500000000000000" charset="-122"/>
                          <a:cs typeface="Times New Roman" panose="02020603050405020304" pitchFamily="18" charset="0"/>
                        </a:rPr>
                        <a:t>￥5</a:t>
                      </a:r>
                      <a:r>
                        <a:rPr lang="en-US" sz="1800" i="0" dirty="0">
                          <a:latin typeface="Times New Roman" panose="02020603050405020304" pitchFamily="18" charset="0"/>
                          <a:cs typeface="Times New Roman" panose="02020603050405020304" pitchFamily="18" charset="0"/>
                        </a:rPr>
                        <a:t>0,000-80,000</a:t>
                      </a:r>
                    </a:p>
                  </a:txBody>
                  <a:tcPr/>
                </a:tc>
                <a:extLst>
                  <a:ext uri="{0D108BD9-81ED-4DB2-BD59-A6C34878D82A}">
                    <a16:rowId xmlns:a16="http://schemas.microsoft.com/office/drawing/2014/main" val="3694498032"/>
                  </a:ext>
                </a:extLst>
              </a:tr>
              <a:tr h="221831">
                <a:tc>
                  <a:txBody>
                    <a:bodyPr/>
                    <a:lstStyle/>
                    <a:p>
                      <a:r>
                        <a:rPr lang="en-CN" sz="1800" dirty="0">
                          <a:latin typeface="Times New Roman" panose="02020603050405020304" pitchFamily="18" charset="0"/>
                          <a:cs typeface="Times New Roman" panose="02020603050405020304" pitchFamily="18" charset="0"/>
                        </a:rPr>
                        <a:t>Optimizing material</a:t>
                      </a:r>
                    </a:p>
                  </a:txBody>
                  <a:tcPr/>
                </a:tc>
                <a:tc>
                  <a:txBody>
                    <a:bodyPr/>
                    <a:lstStyle/>
                    <a:p>
                      <a:r>
                        <a:rPr lang="en-US" sz="1800" i="0" dirty="0">
                          <a:solidFill>
                            <a:schemeClr val="tx1"/>
                          </a:solidFill>
                          <a:latin typeface="Times New Roman" panose="02020603050405020304" pitchFamily="18" charset="0"/>
                          <a:ea typeface="思源黑体" panose="020B0500000000000000" charset="-122"/>
                          <a:cs typeface="Times New Roman" panose="02020603050405020304" pitchFamily="18" charset="0"/>
                        </a:rPr>
                        <a:t>￥20,000-30,000 (variable)</a:t>
                      </a:r>
                      <a:endParaRPr lang="en-C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883545577"/>
                  </a:ext>
                </a:extLst>
              </a:tr>
              <a:tr h="126761">
                <a:tc>
                  <a:txBody>
                    <a:bodyPr/>
                    <a:lstStyle/>
                    <a:p>
                      <a:r>
                        <a:rPr lang="en-CN" sz="1800" dirty="0">
                          <a:latin typeface="Times New Roman" panose="02020603050405020304" pitchFamily="18" charset="0"/>
                          <a:cs typeface="Times New Roman" panose="02020603050405020304" pitchFamily="18" charset="0"/>
                        </a:rPr>
                        <a:t>Total</a:t>
                      </a:r>
                    </a:p>
                  </a:txBody>
                  <a:tcPr/>
                </a:tc>
                <a:tc>
                  <a:txBody>
                    <a:bodyPr/>
                    <a:lstStyle/>
                    <a:p>
                      <a:r>
                        <a:rPr lang="en-US" sz="1800" i="0" dirty="0">
                          <a:solidFill>
                            <a:schemeClr val="tx1"/>
                          </a:solidFill>
                          <a:latin typeface="Times New Roman" panose="02020603050405020304" pitchFamily="18" charset="0"/>
                          <a:ea typeface="思源黑体" panose="020B0500000000000000" charset="-122"/>
                          <a:cs typeface="Times New Roman" panose="02020603050405020304" pitchFamily="18" charset="0"/>
                        </a:rPr>
                        <a:t>￥110,000-160,000</a:t>
                      </a:r>
                      <a:endParaRPr lang="en-C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14369580"/>
                  </a:ext>
                </a:extLst>
              </a:tr>
            </a:tbl>
          </a:graphicData>
        </a:graphic>
      </p:graphicFrame>
      <p:graphicFrame>
        <p:nvGraphicFramePr>
          <p:cNvPr id="15" name="Table 14">
            <a:extLst>
              <a:ext uri="{FF2B5EF4-FFF2-40B4-BE49-F238E27FC236}">
                <a16:creationId xmlns:a16="http://schemas.microsoft.com/office/drawing/2014/main" id="{2BC9DFE4-C96C-618E-6965-9600D40D2288}"/>
              </a:ext>
            </a:extLst>
          </p:cNvPr>
          <p:cNvGraphicFramePr>
            <a:graphicFrameLocks noGrp="1"/>
          </p:cNvGraphicFramePr>
          <p:nvPr>
            <p:extLst>
              <p:ext uri="{D42A27DB-BD31-4B8C-83A1-F6EECF244321}">
                <p14:modId xmlns:p14="http://schemas.microsoft.com/office/powerpoint/2010/main" val="939431355"/>
              </p:ext>
            </p:extLst>
          </p:nvPr>
        </p:nvGraphicFramePr>
        <p:xfrm>
          <a:off x="6700617" y="1215483"/>
          <a:ext cx="5331601" cy="3378921"/>
        </p:xfrm>
        <a:graphic>
          <a:graphicData uri="http://schemas.openxmlformats.org/drawingml/2006/table">
            <a:tbl>
              <a:tblPr firstRow="1" bandRow="1">
                <a:tableStyleId>{5C22544A-7EE6-4342-B048-85BDC9FD1C3A}</a:tableStyleId>
              </a:tblPr>
              <a:tblGrid>
                <a:gridCol w="2480363">
                  <a:extLst>
                    <a:ext uri="{9D8B030D-6E8A-4147-A177-3AD203B41FA5}">
                      <a16:colId xmlns:a16="http://schemas.microsoft.com/office/drawing/2014/main" val="2175230744"/>
                    </a:ext>
                  </a:extLst>
                </a:gridCol>
                <a:gridCol w="2851238">
                  <a:extLst>
                    <a:ext uri="{9D8B030D-6E8A-4147-A177-3AD203B41FA5}">
                      <a16:colId xmlns:a16="http://schemas.microsoft.com/office/drawing/2014/main" val="4257991704"/>
                    </a:ext>
                  </a:extLst>
                </a:gridCol>
              </a:tblGrid>
              <a:tr h="906309">
                <a:tc>
                  <a:txBody>
                    <a:bodyPr/>
                    <a:lstStyle/>
                    <a:p>
                      <a:pPr>
                        <a:lnSpc>
                          <a:spcPct val="100000"/>
                        </a:lnSpc>
                      </a:pPr>
                      <a:r>
                        <a:rPr lang="en-CN" sz="1500" dirty="0">
                          <a:latin typeface="Times New Roman" panose="02020603050405020304" pitchFamily="18" charset="0"/>
                          <a:cs typeface="Times New Roman" panose="02020603050405020304" pitchFamily="18" charset="0"/>
                        </a:rPr>
                        <a:t>Manufaturing and Managements</a:t>
                      </a:r>
                    </a:p>
                  </a:txBody>
                  <a:tcPr/>
                </a:tc>
                <a:tc>
                  <a:txBody>
                    <a:bodyPr/>
                    <a:lstStyle/>
                    <a:p>
                      <a:pPr>
                        <a:lnSpc>
                          <a:spcPct val="100000"/>
                        </a:lnSpc>
                      </a:pPr>
                      <a:r>
                        <a:rPr lang="en-CN" sz="1500" dirty="0">
                          <a:latin typeface="Times New Roman" panose="02020603050405020304" pitchFamily="18" charset="0"/>
                          <a:cs typeface="Times New Roman" panose="02020603050405020304" pitchFamily="18" charset="0"/>
                        </a:rPr>
                        <a:t>Price</a:t>
                      </a:r>
                    </a:p>
                  </a:txBody>
                  <a:tcPr/>
                </a:tc>
                <a:extLst>
                  <a:ext uri="{0D108BD9-81ED-4DB2-BD59-A6C34878D82A}">
                    <a16:rowId xmlns:a16="http://schemas.microsoft.com/office/drawing/2014/main" val="2901338002"/>
                  </a:ext>
                </a:extLst>
              </a:tr>
              <a:tr h="41210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N" sz="1500" dirty="0">
                          <a:latin typeface="Times New Roman" panose="02020603050405020304" pitchFamily="18" charset="0"/>
                          <a:cs typeface="Times New Roman" panose="02020603050405020304" pitchFamily="18" charset="0"/>
                        </a:rPr>
                        <a:t>Production Equipment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i="0" dirty="0">
                          <a:solidFill>
                            <a:schemeClr val="tx1"/>
                          </a:solidFill>
                          <a:latin typeface="Times New Roman" panose="02020603050405020304" pitchFamily="18" charset="0"/>
                          <a:ea typeface="思源黑体" panose="020B0500000000000000" charset="-122"/>
                          <a:cs typeface="Times New Roman" panose="02020603050405020304" pitchFamily="18" charset="0"/>
                        </a:rPr>
                        <a:t>￥</a:t>
                      </a:r>
                      <a:r>
                        <a:rPr lang="en-US" sz="1500" i="0" dirty="0">
                          <a:latin typeface="Times New Roman" panose="02020603050405020304" pitchFamily="18" charset="0"/>
                          <a:cs typeface="Times New Roman" panose="02020603050405020304" pitchFamily="18" charset="0"/>
                        </a:rPr>
                        <a:t>160,000-180,000</a:t>
                      </a:r>
                    </a:p>
                  </a:txBody>
                  <a:tcPr/>
                </a:tc>
                <a:extLst>
                  <a:ext uri="{0D108BD9-81ED-4DB2-BD59-A6C34878D82A}">
                    <a16:rowId xmlns:a16="http://schemas.microsoft.com/office/drawing/2014/main" val="374981855"/>
                  </a:ext>
                </a:extLst>
              </a:tr>
              <a:tr h="41210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i="0" dirty="0">
                          <a:latin typeface="Times New Roman" panose="02020603050405020304" pitchFamily="18" charset="0"/>
                          <a:cs typeface="Times New Roman" panose="02020603050405020304" pitchFamily="18" charset="0"/>
                        </a:rPr>
                        <a:t>Supplier and Logistics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i="0" dirty="0">
                          <a:solidFill>
                            <a:schemeClr val="tx1"/>
                          </a:solidFill>
                          <a:latin typeface="Times New Roman" panose="02020603050405020304" pitchFamily="18" charset="0"/>
                          <a:ea typeface="思源黑体" panose="020B0500000000000000" charset="-122"/>
                          <a:cs typeface="Times New Roman" panose="02020603050405020304" pitchFamily="18" charset="0"/>
                        </a:rPr>
                        <a:t>￥40,000-50,000</a:t>
                      </a:r>
                      <a:endParaRPr lang="en-US" sz="1500" i="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94498032"/>
                  </a:ext>
                </a:extLst>
              </a:tr>
              <a:tr h="412102">
                <a:tc>
                  <a:txBody>
                    <a:bodyPr/>
                    <a:lstStyle/>
                    <a:p>
                      <a:pPr>
                        <a:lnSpc>
                          <a:spcPct val="100000"/>
                        </a:lnSpc>
                      </a:pPr>
                      <a:r>
                        <a:rPr lang="en-CN" sz="1500" dirty="0">
                          <a:latin typeface="Times New Roman" panose="02020603050405020304" pitchFamily="18" charset="0"/>
                          <a:cs typeface="Times New Roman" panose="02020603050405020304" pitchFamily="18" charset="0"/>
                        </a:rPr>
                        <a:t>Marketing and Branding</a:t>
                      </a:r>
                    </a:p>
                  </a:txBody>
                  <a:tcPr/>
                </a:tc>
                <a:tc>
                  <a:txBody>
                    <a:bodyPr/>
                    <a:lstStyle/>
                    <a:p>
                      <a:pPr>
                        <a:lnSpc>
                          <a:spcPct val="100000"/>
                        </a:lnSpc>
                      </a:pPr>
                      <a:r>
                        <a:rPr lang="en-US" sz="1500" i="0" dirty="0">
                          <a:solidFill>
                            <a:schemeClr val="tx1"/>
                          </a:solidFill>
                          <a:latin typeface="Times New Roman" panose="02020603050405020304" pitchFamily="18" charset="0"/>
                          <a:ea typeface="思源黑体" panose="020B0500000000000000" charset="-122"/>
                          <a:cs typeface="Times New Roman" panose="02020603050405020304" pitchFamily="18" charset="0"/>
                        </a:rPr>
                        <a:t>￥60,000-80,000</a:t>
                      </a:r>
                      <a:endParaRPr lang="en-CN" sz="15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883545577"/>
                  </a:ext>
                </a:extLst>
              </a:tr>
              <a:tr h="412102">
                <a:tc>
                  <a:txBody>
                    <a:bodyPr/>
                    <a:lstStyle/>
                    <a:p>
                      <a:pPr>
                        <a:lnSpc>
                          <a:spcPct val="100000"/>
                        </a:lnSpc>
                      </a:pPr>
                      <a:r>
                        <a:rPr lang="en-CN" sz="1500" dirty="0">
                          <a:latin typeface="Times New Roman" panose="02020603050405020304" pitchFamily="18" charset="0"/>
                          <a:cs typeface="Times New Roman" panose="02020603050405020304" pitchFamily="18" charset="0"/>
                        </a:rPr>
                        <a:t>Labor Costs</a:t>
                      </a:r>
                    </a:p>
                  </a:txBody>
                  <a:tcPr/>
                </a:tc>
                <a:tc>
                  <a:txBody>
                    <a:bodyPr/>
                    <a:lstStyle/>
                    <a:p>
                      <a:pPr>
                        <a:lnSpc>
                          <a:spcPct val="100000"/>
                        </a:lnSpc>
                      </a:pPr>
                      <a:r>
                        <a:rPr lang="en-US" sz="1500" i="0" dirty="0">
                          <a:solidFill>
                            <a:schemeClr val="tx1"/>
                          </a:solidFill>
                          <a:latin typeface="Times New Roman" panose="02020603050405020304" pitchFamily="18" charset="0"/>
                          <a:ea typeface="思源黑体" panose="020B0500000000000000" charset="-122"/>
                          <a:cs typeface="Times New Roman" panose="02020603050405020304" pitchFamily="18" charset="0"/>
                        </a:rPr>
                        <a:t>￥180,000-210,000</a:t>
                      </a:r>
                      <a:endParaRPr lang="en-CN" sz="15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69009537"/>
                  </a:ext>
                </a:extLst>
              </a:tr>
              <a:tr h="412102">
                <a:tc>
                  <a:txBody>
                    <a:bodyPr/>
                    <a:lstStyle/>
                    <a:p>
                      <a:pPr>
                        <a:lnSpc>
                          <a:spcPct val="100000"/>
                        </a:lnSpc>
                      </a:pPr>
                      <a:r>
                        <a:rPr lang="en-CN" sz="1500" dirty="0">
                          <a:latin typeface="Times New Roman" panose="02020603050405020304" pitchFamily="18" charset="0"/>
                          <a:cs typeface="Times New Roman" panose="02020603050405020304" pitchFamily="18" charset="0"/>
                        </a:rPr>
                        <a:t>Rent</a:t>
                      </a:r>
                    </a:p>
                  </a:txBody>
                  <a:tcPr/>
                </a:tc>
                <a:tc>
                  <a:txBody>
                    <a:bodyPr/>
                    <a:lstStyle/>
                    <a:p>
                      <a:pPr>
                        <a:lnSpc>
                          <a:spcPct val="100000"/>
                        </a:lnSpc>
                      </a:pPr>
                      <a:r>
                        <a:rPr lang="en-US" sz="1500" i="0" dirty="0">
                          <a:solidFill>
                            <a:schemeClr val="tx1"/>
                          </a:solidFill>
                          <a:latin typeface="Times New Roman" panose="02020603050405020304" pitchFamily="18" charset="0"/>
                          <a:ea typeface="思源黑体" panose="020B0500000000000000" charset="-122"/>
                          <a:cs typeface="Times New Roman" panose="02020603050405020304" pitchFamily="18" charset="0"/>
                        </a:rPr>
                        <a:t>￥150,000-170,000</a:t>
                      </a:r>
                      <a:endParaRPr lang="en-CN" sz="15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445321910"/>
                  </a:ext>
                </a:extLst>
              </a:tr>
              <a:tr h="412102">
                <a:tc>
                  <a:txBody>
                    <a:bodyPr/>
                    <a:lstStyle/>
                    <a:p>
                      <a:pPr>
                        <a:lnSpc>
                          <a:spcPct val="100000"/>
                        </a:lnSpc>
                      </a:pPr>
                      <a:r>
                        <a:rPr lang="en-CN" sz="1500" dirty="0">
                          <a:latin typeface="Times New Roman" panose="02020603050405020304" pitchFamily="18" charset="0"/>
                          <a:cs typeface="Times New Roman" panose="02020603050405020304" pitchFamily="18" charset="0"/>
                        </a:rPr>
                        <a:t>Total</a:t>
                      </a:r>
                    </a:p>
                  </a:txBody>
                  <a:tcPr/>
                </a:tc>
                <a:tc>
                  <a:txBody>
                    <a:bodyPr/>
                    <a:lstStyle/>
                    <a:p>
                      <a:pPr>
                        <a:lnSpc>
                          <a:spcPct val="100000"/>
                        </a:lnSpc>
                      </a:pPr>
                      <a:r>
                        <a:rPr lang="en-US" sz="1500" i="0" dirty="0">
                          <a:solidFill>
                            <a:schemeClr val="tx1"/>
                          </a:solidFill>
                          <a:latin typeface="Times New Roman" panose="02020603050405020304" pitchFamily="18" charset="0"/>
                          <a:ea typeface="思源黑体" panose="020B0500000000000000" charset="-122"/>
                          <a:cs typeface="Times New Roman" panose="02020603050405020304" pitchFamily="18" charset="0"/>
                        </a:rPr>
                        <a:t>￥590,000-690,000</a:t>
                      </a:r>
                      <a:endParaRPr lang="en-CN" sz="15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47517860"/>
                  </a:ext>
                </a:extLst>
              </a:tr>
            </a:tbl>
          </a:graphicData>
        </a:graphic>
      </p:graphicFrame>
    </p:spTree>
    <p:extLst>
      <p:ext uri="{BB962C8B-B14F-4D97-AF65-F5344CB8AC3E}">
        <p14:creationId xmlns:p14="http://schemas.microsoft.com/office/powerpoint/2010/main" val="10946581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89B72-36ED-BBA6-6DEC-7183480AF8D2}"/>
              </a:ext>
            </a:extLst>
          </p:cNvPr>
          <p:cNvSpPr>
            <a:spLocks noGrp="1"/>
          </p:cNvSpPr>
          <p:nvPr>
            <p:ph type="title"/>
          </p:nvPr>
        </p:nvSpPr>
        <p:spPr>
          <a:xfrm>
            <a:off x="907141" y="338405"/>
            <a:ext cx="4545803" cy="724294"/>
          </a:xfrm>
        </p:spPr>
        <p:txBody>
          <a:bodyPr vert="horz" lIns="91440" tIns="45720" rIns="91440" bIns="45720" rtlCol="0">
            <a:normAutofit/>
          </a:bodyPr>
          <a:lstStyle/>
          <a:p>
            <a:r>
              <a:rPr lang="en-US" dirty="0">
                <a:latin typeface="Times New Roman" panose="02020603050405020304" pitchFamily="18" charset="0"/>
                <a:cs typeface="Times New Roman" panose="02020603050405020304" pitchFamily="18" charset="0"/>
              </a:rPr>
              <a:t>Business Model</a:t>
            </a:r>
          </a:p>
        </p:txBody>
      </p:sp>
      <p:graphicFrame>
        <p:nvGraphicFramePr>
          <p:cNvPr id="9" name="Table 8">
            <a:extLst>
              <a:ext uri="{FF2B5EF4-FFF2-40B4-BE49-F238E27FC236}">
                <a16:creationId xmlns:a16="http://schemas.microsoft.com/office/drawing/2014/main" id="{75570256-AC62-1ECE-5706-ABEC4EAEB63A}"/>
              </a:ext>
            </a:extLst>
          </p:cNvPr>
          <p:cNvGraphicFramePr>
            <a:graphicFrameLocks noGrp="1"/>
          </p:cNvGraphicFramePr>
          <p:nvPr>
            <p:extLst>
              <p:ext uri="{D42A27DB-BD31-4B8C-83A1-F6EECF244321}">
                <p14:modId xmlns:p14="http://schemas.microsoft.com/office/powerpoint/2010/main" val="2620959296"/>
              </p:ext>
            </p:extLst>
          </p:nvPr>
        </p:nvGraphicFramePr>
        <p:xfrm>
          <a:off x="907141" y="1243772"/>
          <a:ext cx="10768188" cy="2423160"/>
        </p:xfrm>
        <a:graphic>
          <a:graphicData uri="http://schemas.openxmlformats.org/drawingml/2006/table">
            <a:tbl>
              <a:tblPr firstRow="1" bandRow="1">
                <a:tableStyleId>{5C22544A-7EE6-4342-B048-85BDC9FD1C3A}</a:tableStyleId>
              </a:tblPr>
              <a:tblGrid>
                <a:gridCol w="2692047">
                  <a:extLst>
                    <a:ext uri="{9D8B030D-6E8A-4147-A177-3AD203B41FA5}">
                      <a16:colId xmlns:a16="http://schemas.microsoft.com/office/drawing/2014/main" val="2175230744"/>
                    </a:ext>
                  </a:extLst>
                </a:gridCol>
                <a:gridCol w="2692047">
                  <a:extLst>
                    <a:ext uri="{9D8B030D-6E8A-4147-A177-3AD203B41FA5}">
                      <a16:colId xmlns:a16="http://schemas.microsoft.com/office/drawing/2014/main" val="4257991704"/>
                    </a:ext>
                  </a:extLst>
                </a:gridCol>
                <a:gridCol w="2692047">
                  <a:extLst>
                    <a:ext uri="{9D8B030D-6E8A-4147-A177-3AD203B41FA5}">
                      <a16:colId xmlns:a16="http://schemas.microsoft.com/office/drawing/2014/main" val="2187713263"/>
                    </a:ext>
                  </a:extLst>
                </a:gridCol>
                <a:gridCol w="2692047">
                  <a:extLst>
                    <a:ext uri="{9D8B030D-6E8A-4147-A177-3AD203B41FA5}">
                      <a16:colId xmlns:a16="http://schemas.microsoft.com/office/drawing/2014/main" val="448160989"/>
                    </a:ext>
                  </a:extLst>
                </a:gridCol>
              </a:tblGrid>
              <a:tr h="561125">
                <a:tc>
                  <a:txBody>
                    <a:bodyPr/>
                    <a:lstStyle/>
                    <a:p>
                      <a:r>
                        <a:rPr lang="en-CN" sz="1500" dirty="0">
                          <a:latin typeface="Times New Roman" panose="02020603050405020304" pitchFamily="18" charset="0"/>
                          <a:cs typeface="Times New Roman" panose="02020603050405020304" pitchFamily="18" charset="0"/>
                        </a:rPr>
                        <a:t>Model Types</a:t>
                      </a:r>
                    </a:p>
                  </a:txBody>
                  <a:tcPr/>
                </a:tc>
                <a:tc>
                  <a:txBody>
                    <a:bodyPr/>
                    <a:lstStyle/>
                    <a:p>
                      <a:r>
                        <a:rPr lang="en-CN" sz="1500" dirty="0">
                          <a:latin typeface="Times New Roman" panose="02020603050405020304" pitchFamily="18" charset="0"/>
                          <a:cs typeface="Times New Roman" panose="02020603050405020304" pitchFamily="18" charset="0"/>
                        </a:rPr>
                        <a:t>Production Cost</a:t>
                      </a:r>
                    </a:p>
                  </a:txBody>
                  <a:tcPr/>
                </a:tc>
                <a:tc>
                  <a:txBody>
                    <a:bodyPr/>
                    <a:lstStyle/>
                    <a:p>
                      <a:r>
                        <a:rPr lang="en-CN" sz="1500" dirty="0">
                          <a:latin typeface="Times New Roman" panose="02020603050405020304" pitchFamily="18" charset="0"/>
                          <a:cs typeface="Times New Roman" panose="02020603050405020304" pitchFamily="18" charset="0"/>
                        </a:rPr>
                        <a:t>Price</a:t>
                      </a:r>
                    </a:p>
                  </a:txBody>
                  <a:tcPr/>
                </a:tc>
                <a:tc>
                  <a:txBody>
                    <a:bodyPr/>
                    <a:lstStyle/>
                    <a:p>
                      <a:r>
                        <a:rPr lang="en-CN" sz="1500" dirty="0">
                          <a:latin typeface="Times New Roman" panose="02020603050405020304" pitchFamily="18" charset="0"/>
                          <a:cs typeface="Times New Roman" panose="02020603050405020304" pitchFamily="18" charset="0"/>
                        </a:rPr>
                        <a:t>Repair costs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500" i="0" dirty="0">
                          <a:latin typeface="Times New Roman" panose="02020603050405020304" pitchFamily="18" charset="0"/>
                          <a:cs typeface="Times New Roman" panose="02020603050405020304" pitchFamily="18" charset="0"/>
                        </a:rPr>
                        <a:t>(Minor fix– Major Overhaul)</a:t>
                      </a:r>
                    </a:p>
                    <a:p>
                      <a:endParaRPr lang="en-CN" sz="15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01338002"/>
                  </a:ext>
                </a:extLst>
              </a:tr>
              <a:tr h="3212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N" sz="1500" dirty="0">
                          <a:latin typeface="Times New Roman" panose="02020603050405020304" pitchFamily="18" charset="0"/>
                          <a:cs typeface="Times New Roman" panose="02020603050405020304" pitchFamily="18" charset="0"/>
                        </a:rPr>
                        <a:t>Basic Model (3-D material, low cost sensors)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i="0" dirty="0">
                          <a:solidFill>
                            <a:schemeClr val="tx1"/>
                          </a:solidFill>
                          <a:latin typeface="Times New Roman" panose="02020603050405020304" pitchFamily="18" charset="0"/>
                          <a:ea typeface="思源黑体" panose="020B0500000000000000" charset="-122"/>
                          <a:cs typeface="Times New Roman" panose="02020603050405020304" pitchFamily="18" charset="0"/>
                        </a:rPr>
                        <a:t>￥</a:t>
                      </a:r>
                      <a:r>
                        <a:rPr lang="en-US" sz="1500" i="0" dirty="0">
                          <a:latin typeface="Times New Roman" panose="02020603050405020304" pitchFamily="18" charset="0"/>
                          <a:cs typeface="Times New Roman" panose="02020603050405020304" pitchFamily="18" charset="0"/>
                        </a:rPr>
                        <a:t>2,300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i="0" dirty="0">
                          <a:solidFill>
                            <a:schemeClr val="tx1"/>
                          </a:solidFill>
                          <a:latin typeface="Times New Roman" panose="02020603050405020304" pitchFamily="18" charset="0"/>
                          <a:ea typeface="思源黑体" panose="020B0500000000000000" charset="-122"/>
                          <a:cs typeface="Times New Roman" panose="02020603050405020304" pitchFamily="18" charset="0"/>
                        </a:rPr>
                        <a:t>￥</a:t>
                      </a:r>
                      <a:r>
                        <a:rPr lang="en-US" sz="1500" i="0" dirty="0">
                          <a:latin typeface="Times New Roman" panose="02020603050405020304" pitchFamily="18" charset="0"/>
                          <a:cs typeface="Times New Roman" panose="02020603050405020304" pitchFamily="18" charset="0"/>
                        </a:rPr>
                        <a:t>11,000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i="0" dirty="0">
                          <a:solidFill>
                            <a:schemeClr val="tx1"/>
                          </a:solidFill>
                          <a:latin typeface="Times New Roman" panose="02020603050405020304" pitchFamily="18" charset="0"/>
                          <a:ea typeface="思源黑体" panose="020B0500000000000000" charset="-122"/>
                          <a:cs typeface="Times New Roman" panose="02020603050405020304" pitchFamily="18" charset="0"/>
                        </a:rPr>
                        <a:t>￥</a:t>
                      </a:r>
                      <a:r>
                        <a:rPr lang="en-US" sz="1500" i="0" dirty="0">
                          <a:latin typeface="Times New Roman" panose="02020603050405020304" pitchFamily="18" charset="0"/>
                          <a:cs typeface="Times New Roman" panose="02020603050405020304" pitchFamily="18" charset="0"/>
                        </a:rPr>
                        <a:t>1,000-6,500 </a:t>
                      </a:r>
                    </a:p>
                  </a:txBody>
                  <a:tcPr/>
                </a:tc>
                <a:extLst>
                  <a:ext uri="{0D108BD9-81ED-4DB2-BD59-A6C34878D82A}">
                    <a16:rowId xmlns:a16="http://schemas.microsoft.com/office/drawing/2014/main" val="374981855"/>
                  </a:ext>
                </a:extLst>
              </a:tr>
              <a:tr h="3212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i="0" dirty="0">
                          <a:latin typeface="Times New Roman" panose="02020603050405020304" pitchFamily="18" charset="0"/>
                          <a:cs typeface="Times New Roman" panose="02020603050405020304" pitchFamily="18" charset="0"/>
                        </a:rPr>
                        <a:t>Standard Model (Better Material and Sensors)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i="0" dirty="0">
                          <a:solidFill>
                            <a:schemeClr val="tx1"/>
                          </a:solidFill>
                          <a:latin typeface="Times New Roman" panose="02020603050405020304" pitchFamily="18" charset="0"/>
                          <a:ea typeface="思源黑体" panose="020B0500000000000000" charset="-122"/>
                          <a:cs typeface="Times New Roman" panose="02020603050405020304" pitchFamily="18" charset="0"/>
                        </a:rPr>
                        <a:t>￥</a:t>
                      </a:r>
                      <a:r>
                        <a:rPr lang="en-US" sz="1500" i="0" dirty="0">
                          <a:latin typeface="Times New Roman" panose="02020603050405020304" pitchFamily="18" charset="0"/>
                          <a:cs typeface="Times New Roman" panose="02020603050405020304" pitchFamily="18" charset="0"/>
                        </a:rPr>
                        <a:t>5,000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i="0" dirty="0">
                          <a:solidFill>
                            <a:schemeClr val="tx1"/>
                          </a:solidFill>
                          <a:latin typeface="Times New Roman" panose="02020603050405020304" pitchFamily="18" charset="0"/>
                          <a:ea typeface="思源黑体" panose="020B0500000000000000" charset="-122"/>
                          <a:cs typeface="Times New Roman" panose="02020603050405020304" pitchFamily="18" charset="0"/>
                        </a:rPr>
                        <a:t>￥</a:t>
                      </a:r>
                      <a:r>
                        <a:rPr lang="en-US" sz="1500" i="0" dirty="0">
                          <a:latin typeface="Times New Roman" panose="02020603050405020304" pitchFamily="18" charset="0"/>
                          <a:cs typeface="Times New Roman" panose="02020603050405020304" pitchFamily="18" charset="0"/>
                        </a:rPr>
                        <a:t>18,000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i="0" dirty="0">
                          <a:solidFill>
                            <a:schemeClr val="tx1"/>
                          </a:solidFill>
                          <a:latin typeface="Times New Roman" panose="02020603050405020304" pitchFamily="18" charset="0"/>
                          <a:ea typeface="思源黑体" panose="020B0500000000000000" charset="-122"/>
                          <a:cs typeface="Times New Roman" panose="02020603050405020304" pitchFamily="18" charset="0"/>
                        </a:rPr>
                        <a:t>￥1,500-9,000</a:t>
                      </a:r>
                      <a:endParaRPr lang="en-US" sz="1500" i="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94498032"/>
                  </a:ext>
                </a:extLst>
              </a:tr>
              <a:tr h="3212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i="0" dirty="0">
                          <a:latin typeface="Times New Roman" panose="02020603050405020304" pitchFamily="18" charset="0"/>
                          <a:cs typeface="Times New Roman" panose="02020603050405020304" pitchFamily="18" charset="0"/>
                        </a:rPr>
                        <a:t>High-End Model (Advanced material, actuator, and sensor)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i="0" dirty="0">
                          <a:solidFill>
                            <a:schemeClr val="tx1"/>
                          </a:solidFill>
                          <a:latin typeface="Times New Roman" panose="02020603050405020304" pitchFamily="18" charset="0"/>
                          <a:ea typeface="思源黑体" panose="020B0500000000000000" charset="-122"/>
                          <a:cs typeface="Times New Roman" panose="02020603050405020304" pitchFamily="18" charset="0"/>
                        </a:rPr>
                        <a:t>￥8,500</a:t>
                      </a:r>
                      <a:endParaRPr lang="en-CN" sz="15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i="0" dirty="0">
                          <a:solidFill>
                            <a:schemeClr val="tx1"/>
                          </a:solidFill>
                          <a:latin typeface="Times New Roman" panose="02020603050405020304" pitchFamily="18" charset="0"/>
                          <a:ea typeface="思源黑体" panose="020B0500000000000000" charset="-122"/>
                          <a:cs typeface="Times New Roman" panose="02020603050405020304" pitchFamily="18" charset="0"/>
                        </a:rPr>
                        <a:t>￥</a:t>
                      </a:r>
                      <a:r>
                        <a:rPr lang="en-CN" sz="1500" dirty="0">
                          <a:latin typeface="Times New Roman" panose="02020603050405020304" pitchFamily="18" charset="0"/>
                          <a:cs typeface="Times New Roman" panose="02020603050405020304" pitchFamily="18" charset="0"/>
                        </a:rPr>
                        <a:t>25,000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i="0" dirty="0">
                          <a:solidFill>
                            <a:schemeClr val="tx1"/>
                          </a:solidFill>
                          <a:latin typeface="Times New Roman" panose="02020603050405020304" pitchFamily="18" charset="0"/>
                          <a:ea typeface="思源黑体" panose="020B0500000000000000" charset="-122"/>
                          <a:cs typeface="Times New Roman" panose="02020603050405020304" pitchFamily="18" charset="0"/>
                        </a:rPr>
                        <a:t>￥2,000-12,000</a:t>
                      </a:r>
                      <a:endParaRPr lang="en-CN" sz="15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9107913"/>
                  </a:ext>
                </a:extLst>
              </a:tr>
            </a:tbl>
          </a:graphicData>
        </a:graphic>
      </p:graphicFrame>
      <p:graphicFrame>
        <p:nvGraphicFramePr>
          <p:cNvPr id="3" name="Table 2">
            <a:extLst>
              <a:ext uri="{FF2B5EF4-FFF2-40B4-BE49-F238E27FC236}">
                <a16:creationId xmlns:a16="http://schemas.microsoft.com/office/drawing/2014/main" id="{05264FAE-26BC-35AB-CD0B-69D0DC2DA783}"/>
              </a:ext>
            </a:extLst>
          </p:cNvPr>
          <p:cNvGraphicFramePr>
            <a:graphicFrameLocks noGrp="1"/>
          </p:cNvGraphicFramePr>
          <p:nvPr>
            <p:extLst>
              <p:ext uri="{D42A27DB-BD31-4B8C-83A1-F6EECF244321}">
                <p14:modId xmlns:p14="http://schemas.microsoft.com/office/powerpoint/2010/main" val="1414406259"/>
              </p:ext>
            </p:extLst>
          </p:nvPr>
        </p:nvGraphicFramePr>
        <p:xfrm>
          <a:off x="907140" y="4041564"/>
          <a:ext cx="8604849" cy="2214269"/>
        </p:xfrm>
        <a:graphic>
          <a:graphicData uri="http://schemas.openxmlformats.org/drawingml/2006/table">
            <a:tbl>
              <a:tblPr firstRow="1" bandRow="1">
                <a:tableStyleId>{5C22544A-7EE6-4342-B048-85BDC9FD1C3A}</a:tableStyleId>
              </a:tblPr>
              <a:tblGrid>
                <a:gridCol w="2868283">
                  <a:extLst>
                    <a:ext uri="{9D8B030D-6E8A-4147-A177-3AD203B41FA5}">
                      <a16:colId xmlns:a16="http://schemas.microsoft.com/office/drawing/2014/main" val="2175230744"/>
                    </a:ext>
                  </a:extLst>
                </a:gridCol>
                <a:gridCol w="2868283">
                  <a:extLst>
                    <a:ext uri="{9D8B030D-6E8A-4147-A177-3AD203B41FA5}">
                      <a16:colId xmlns:a16="http://schemas.microsoft.com/office/drawing/2014/main" val="4257991704"/>
                    </a:ext>
                  </a:extLst>
                </a:gridCol>
                <a:gridCol w="2868283">
                  <a:extLst>
                    <a:ext uri="{9D8B030D-6E8A-4147-A177-3AD203B41FA5}">
                      <a16:colId xmlns:a16="http://schemas.microsoft.com/office/drawing/2014/main" val="2187713263"/>
                    </a:ext>
                  </a:extLst>
                </a:gridCol>
              </a:tblGrid>
              <a:tr h="709080">
                <a:tc>
                  <a:txBody>
                    <a:bodyPr/>
                    <a:lstStyle/>
                    <a:p>
                      <a:r>
                        <a:rPr lang="en-CN" sz="1500" dirty="0">
                          <a:latin typeface="Times New Roman" panose="02020603050405020304" pitchFamily="18" charset="0"/>
                          <a:cs typeface="Times New Roman" panose="02020603050405020304" pitchFamily="18" charset="0"/>
                        </a:rPr>
                        <a:t>Licensing </a:t>
                      </a:r>
                    </a:p>
                  </a:txBody>
                  <a:tcPr/>
                </a:tc>
                <a:tc>
                  <a:txBody>
                    <a:bodyPr/>
                    <a:lstStyle/>
                    <a:p>
                      <a:r>
                        <a:rPr lang="en-CN" sz="1500" dirty="0">
                          <a:latin typeface="Times New Roman" panose="02020603050405020304" pitchFamily="18" charset="0"/>
                          <a:cs typeface="Times New Roman" panose="02020603050405020304" pitchFamily="18" charset="0"/>
                        </a:rPr>
                        <a:t>Upfront Payment</a:t>
                      </a:r>
                    </a:p>
                  </a:txBody>
                  <a:tcPr/>
                </a:tc>
                <a:tc>
                  <a:txBody>
                    <a:bodyPr/>
                    <a:lstStyle/>
                    <a:p>
                      <a:r>
                        <a:rPr lang="en-CN" sz="1500" dirty="0">
                          <a:latin typeface="Times New Roman" panose="02020603050405020304" pitchFamily="18" charset="0"/>
                          <a:cs typeface="Times New Roman" panose="02020603050405020304" pitchFamily="18" charset="0"/>
                        </a:rPr>
                        <a:t>Royalty</a:t>
                      </a:r>
                    </a:p>
                  </a:txBody>
                  <a:tcPr/>
                </a:tc>
                <a:extLst>
                  <a:ext uri="{0D108BD9-81ED-4DB2-BD59-A6C34878D82A}">
                    <a16:rowId xmlns:a16="http://schemas.microsoft.com/office/drawing/2014/main" val="2901338002"/>
                  </a:ext>
                </a:extLst>
              </a:tr>
              <a:tr h="40594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N" sz="1500" dirty="0">
                          <a:latin typeface="Times New Roman" panose="02020603050405020304" pitchFamily="18" charset="0"/>
                          <a:cs typeface="Times New Roman" panose="02020603050405020304" pitchFamily="18" charset="0"/>
                        </a:rPr>
                        <a:t>Single-Use License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i="0" dirty="0">
                          <a:solidFill>
                            <a:schemeClr val="tx1"/>
                          </a:solidFill>
                          <a:latin typeface="Times New Roman" panose="02020603050405020304" pitchFamily="18" charset="0"/>
                          <a:ea typeface="思源黑体" panose="020B0500000000000000" charset="-122"/>
                          <a:cs typeface="Times New Roman" panose="02020603050405020304" pitchFamily="18" charset="0"/>
                        </a:rPr>
                        <a:t>￥</a:t>
                      </a:r>
                      <a:r>
                        <a:rPr lang="en-US" sz="1500" i="0" dirty="0">
                          <a:latin typeface="Times New Roman" panose="02020603050405020304" pitchFamily="18" charset="0"/>
                          <a:cs typeface="Times New Roman" panose="02020603050405020304" pitchFamily="18" charset="0"/>
                        </a:rPr>
                        <a:t>100,000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i="0" dirty="0">
                          <a:latin typeface="Times New Roman" panose="02020603050405020304" pitchFamily="18" charset="0"/>
                          <a:cs typeface="Times New Roman" panose="02020603050405020304" pitchFamily="18" charset="0"/>
                        </a:rPr>
                        <a:t>0-5%</a:t>
                      </a:r>
                    </a:p>
                  </a:txBody>
                  <a:tcPr/>
                </a:tc>
                <a:extLst>
                  <a:ext uri="{0D108BD9-81ED-4DB2-BD59-A6C34878D82A}">
                    <a16:rowId xmlns:a16="http://schemas.microsoft.com/office/drawing/2014/main" val="374981855"/>
                  </a:ext>
                </a:extLst>
              </a:tr>
              <a:tr h="40594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i="0" dirty="0">
                          <a:latin typeface="Times New Roman" panose="02020603050405020304" pitchFamily="18" charset="0"/>
                          <a:cs typeface="Times New Roman" panose="02020603050405020304" pitchFamily="18" charset="0"/>
                        </a:rPr>
                        <a:t>Multi-Use License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i="0" dirty="0">
                          <a:solidFill>
                            <a:schemeClr val="tx1"/>
                          </a:solidFill>
                          <a:latin typeface="Times New Roman" panose="02020603050405020304" pitchFamily="18" charset="0"/>
                          <a:ea typeface="思源黑体" panose="020B0500000000000000" charset="-122"/>
                          <a:cs typeface="Times New Roman" panose="02020603050405020304" pitchFamily="18" charset="0"/>
                        </a:rPr>
                        <a:t>￥</a:t>
                      </a:r>
                      <a:r>
                        <a:rPr lang="en-US" sz="1500" i="0" dirty="0">
                          <a:latin typeface="Times New Roman" panose="02020603050405020304" pitchFamily="18" charset="0"/>
                          <a:cs typeface="Times New Roman" panose="02020603050405020304" pitchFamily="18" charset="0"/>
                        </a:rPr>
                        <a:t>200,000-300,000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i="0" dirty="0">
                          <a:latin typeface="Times New Roman" panose="02020603050405020304" pitchFamily="18" charset="0"/>
                          <a:cs typeface="Times New Roman" panose="02020603050405020304" pitchFamily="18" charset="0"/>
                        </a:rPr>
                        <a:t>5-7%</a:t>
                      </a:r>
                    </a:p>
                  </a:txBody>
                  <a:tcPr/>
                </a:tc>
                <a:extLst>
                  <a:ext uri="{0D108BD9-81ED-4DB2-BD59-A6C34878D82A}">
                    <a16:rowId xmlns:a16="http://schemas.microsoft.com/office/drawing/2014/main" val="3694498032"/>
                  </a:ext>
                </a:extLst>
              </a:tr>
              <a:tr h="69330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i="0" dirty="0">
                          <a:latin typeface="Times New Roman" panose="02020603050405020304" pitchFamily="18" charset="0"/>
                          <a:cs typeface="Times New Roman" panose="02020603050405020304" pitchFamily="18" charset="0"/>
                        </a:rPr>
                        <a:t>Exclusive License (Time Dependent)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i="0" dirty="0">
                          <a:solidFill>
                            <a:schemeClr val="tx1"/>
                          </a:solidFill>
                          <a:latin typeface="Times New Roman" panose="02020603050405020304" pitchFamily="18" charset="0"/>
                          <a:ea typeface="思源黑体" panose="020B0500000000000000" charset="-122"/>
                          <a:cs typeface="Times New Roman" panose="02020603050405020304" pitchFamily="18" charset="0"/>
                        </a:rPr>
                        <a:t>￥500,000-1,000,000+</a:t>
                      </a:r>
                      <a:endParaRPr lang="en-CN" sz="15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i="0" dirty="0">
                          <a:solidFill>
                            <a:schemeClr val="tx1"/>
                          </a:solidFill>
                          <a:latin typeface="Times New Roman" panose="02020603050405020304" pitchFamily="18" charset="0"/>
                          <a:ea typeface="思源黑体" panose="020B0500000000000000" charset="-122"/>
                          <a:cs typeface="Times New Roman" panose="02020603050405020304" pitchFamily="18" charset="0"/>
                        </a:rPr>
                        <a:t>7-10%</a:t>
                      </a:r>
                      <a:endParaRPr lang="en-CN" sz="15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9107913"/>
                  </a:ext>
                </a:extLst>
              </a:tr>
            </a:tbl>
          </a:graphicData>
        </a:graphic>
      </p:graphicFrame>
    </p:spTree>
    <p:extLst>
      <p:ext uri="{BB962C8B-B14F-4D97-AF65-F5344CB8AC3E}">
        <p14:creationId xmlns:p14="http://schemas.microsoft.com/office/powerpoint/2010/main" val="601689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89B72-36ED-BBA6-6DEC-7183480AF8D2}"/>
              </a:ext>
            </a:extLst>
          </p:cNvPr>
          <p:cNvSpPr>
            <a:spLocks noGrp="1"/>
          </p:cNvSpPr>
          <p:nvPr>
            <p:ph type="title"/>
          </p:nvPr>
        </p:nvSpPr>
        <p:spPr>
          <a:xfrm>
            <a:off x="3792704" y="241610"/>
            <a:ext cx="4606591" cy="690858"/>
          </a:xfrm>
        </p:spPr>
        <p:txBody>
          <a:bodyPr vert="horz" lIns="91440" tIns="45720" rIns="91440" bIns="45720" rtlCol="0">
            <a:normAutofit/>
          </a:bodyPr>
          <a:lstStyle/>
          <a:p>
            <a:r>
              <a:rPr lang="en-US" dirty="0">
                <a:latin typeface="Times New Roman" panose="02020603050405020304" pitchFamily="18" charset="0"/>
                <a:cs typeface="Times New Roman" panose="02020603050405020304" pitchFamily="18" charset="0"/>
              </a:rPr>
              <a:t>SWOT ANALYSIS</a:t>
            </a:r>
          </a:p>
        </p:txBody>
      </p:sp>
      <p:graphicFrame>
        <p:nvGraphicFramePr>
          <p:cNvPr id="6" name="Table 5">
            <a:extLst>
              <a:ext uri="{FF2B5EF4-FFF2-40B4-BE49-F238E27FC236}">
                <a16:creationId xmlns:a16="http://schemas.microsoft.com/office/drawing/2014/main" id="{1C3E967B-B69F-91C7-85BD-5890B92D5467}"/>
              </a:ext>
            </a:extLst>
          </p:cNvPr>
          <p:cNvGraphicFramePr>
            <a:graphicFrameLocks noGrp="1"/>
          </p:cNvGraphicFramePr>
          <p:nvPr/>
        </p:nvGraphicFramePr>
        <p:xfrm>
          <a:off x="1806498" y="1248936"/>
          <a:ext cx="9122936" cy="5003279"/>
        </p:xfrm>
        <a:graphic>
          <a:graphicData uri="http://schemas.openxmlformats.org/drawingml/2006/table">
            <a:tbl>
              <a:tblPr firstRow="1" bandRow="1">
                <a:tableStyleId>{5C22544A-7EE6-4342-B048-85BDC9FD1C3A}</a:tableStyleId>
              </a:tblPr>
              <a:tblGrid>
                <a:gridCol w="4561468">
                  <a:extLst>
                    <a:ext uri="{9D8B030D-6E8A-4147-A177-3AD203B41FA5}">
                      <a16:colId xmlns:a16="http://schemas.microsoft.com/office/drawing/2014/main" val="2977275869"/>
                    </a:ext>
                  </a:extLst>
                </a:gridCol>
                <a:gridCol w="4561468">
                  <a:extLst>
                    <a:ext uri="{9D8B030D-6E8A-4147-A177-3AD203B41FA5}">
                      <a16:colId xmlns:a16="http://schemas.microsoft.com/office/drawing/2014/main" val="2028663776"/>
                    </a:ext>
                  </a:extLst>
                </a:gridCol>
              </a:tblGrid>
              <a:tr h="2492298">
                <a:tc>
                  <a:txBody>
                    <a:bodyPr/>
                    <a:lstStyle/>
                    <a:p>
                      <a:pPr marL="0" indent="0" algn="ctr">
                        <a:lnSpc>
                          <a:spcPct val="150000"/>
                        </a:lnSpc>
                        <a:buFont typeface="Arial" panose="020B0604020202020204" pitchFamily="34" charset="0"/>
                        <a:buNone/>
                      </a:pPr>
                      <a:r>
                        <a:rPr lang="en-CN" b="1" dirty="0">
                          <a:latin typeface="Times New Roman" panose="02020603050405020304" pitchFamily="18" charset="0"/>
                          <a:cs typeface="Times New Roman" panose="02020603050405020304" pitchFamily="18" charset="0"/>
                        </a:rPr>
                        <a:t>STRENGTH</a:t>
                      </a:r>
                    </a:p>
                    <a:p>
                      <a:pPr marL="285750" indent="-285750" algn="l">
                        <a:lnSpc>
                          <a:spcPct val="150000"/>
                        </a:lnSpc>
                        <a:buFont typeface="Arial" panose="020B0604020202020204" pitchFamily="34" charset="0"/>
                        <a:buChar char="•"/>
                      </a:pPr>
                      <a:r>
                        <a:rPr lang="en-CN" b="0" dirty="0">
                          <a:latin typeface="Times New Roman" panose="02020603050405020304" pitchFamily="18" charset="0"/>
                          <a:cs typeface="Times New Roman" panose="02020603050405020304" pitchFamily="18" charset="0"/>
                        </a:rPr>
                        <a:t>Two DoF</a:t>
                      </a:r>
                    </a:p>
                    <a:p>
                      <a:pPr marL="285750" indent="-285750" algn="l">
                        <a:lnSpc>
                          <a:spcPct val="150000"/>
                        </a:lnSpc>
                        <a:buFont typeface="Arial" panose="020B0604020202020204" pitchFamily="34" charset="0"/>
                        <a:buChar char="•"/>
                      </a:pPr>
                      <a:r>
                        <a:rPr lang="en-CN" b="0" dirty="0">
                          <a:latin typeface="Times New Roman" panose="02020603050405020304" pitchFamily="18" charset="0"/>
                          <a:cs typeface="Times New Roman" panose="02020603050405020304" pitchFamily="18" charset="0"/>
                        </a:rPr>
                        <a:t>Self Adaptive Program for rough Terrains</a:t>
                      </a:r>
                    </a:p>
                    <a:p>
                      <a:pPr marL="285750" indent="-285750" algn="l">
                        <a:lnSpc>
                          <a:spcPct val="150000"/>
                        </a:lnSpc>
                        <a:buFont typeface="Arial" panose="020B0604020202020204" pitchFamily="34" charset="0"/>
                        <a:buChar char="•"/>
                      </a:pPr>
                      <a:r>
                        <a:rPr lang="en-CN" b="0" dirty="0">
                          <a:latin typeface="Times New Roman" panose="02020603050405020304" pitchFamily="18" charset="0"/>
                          <a:cs typeface="Times New Roman" panose="02020603050405020304" pitchFamily="18" charset="0"/>
                        </a:rPr>
                        <a:t>Able to absorb shock</a:t>
                      </a:r>
                    </a:p>
                  </a:txBody>
                  <a:tcPr/>
                </a:tc>
                <a:tc>
                  <a:txBody>
                    <a:bodyPr/>
                    <a:lstStyle/>
                    <a:p>
                      <a:pPr marL="0" indent="0" algn="ctr">
                        <a:lnSpc>
                          <a:spcPct val="150000"/>
                        </a:lnSpc>
                        <a:buFont typeface="Arial" panose="020B0604020202020204" pitchFamily="34" charset="0"/>
                        <a:buNone/>
                      </a:pPr>
                      <a:r>
                        <a:rPr lang="en-CN" b="1" dirty="0">
                          <a:latin typeface="Times New Roman" panose="02020603050405020304" pitchFamily="18" charset="0"/>
                          <a:cs typeface="Times New Roman" panose="02020603050405020304" pitchFamily="18" charset="0"/>
                        </a:rPr>
                        <a:t>WEAKNESS</a:t>
                      </a:r>
                    </a:p>
                    <a:p>
                      <a:pPr marL="285750" indent="-285750" algn="l">
                        <a:lnSpc>
                          <a:spcPct val="150000"/>
                        </a:lnSpc>
                        <a:buFont typeface="Arial" panose="020B0604020202020204" pitchFamily="34" charset="0"/>
                        <a:buChar char="•"/>
                      </a:pPr>
                      <a:r>
                        <a:rPr lang="en-CN" b="0" dirty="0">
                          <a:latin typeface="Times New Roman" panose="02020603050405020304" pitchFamily="18" charset="0"/>
                          <a:cs typeface="Times New Roman" panose="02020603050405020304" pitchFamily="18" charset="0"/>
                        </a:rPr>
                        <a:t>Heavy Motor</a:t>
                      </a:r>
                    </a:p>
                    <a:p>
                      <a:pPr marL="285750" indent="-285750" algn="l">
                        <a:lnSpc>
                          <a:spcPct val="150000"/>
                        </a:lnSpc>
                        <a:buFont typeface="Arial" panose="020B0604020202020204" pitchFamily="34" charset="0"/>
                        <a:buChar char="•"/>
                      </a:pPr>
                      <a:r>
                        <a:rPr lang="en-CN" b="0" dirty="0">
                          <a:latin typeface="Times New Roman" panose="02020603050405020304" pitchFamily="18" charset="0"/>
                          <a:cs typeface="Times New Roman" panose="02020603050405020304" pitchFamily="18" charset="0"/>
                        </a:rPr>
                        <a:t>Unstable PID Control system</a:t>
                      </a:r>
                    </a:p>
                    <a:p>
                      <a:pPr marL="285750" indent="-285750" algn="l">
                        <a:lnSpc>
                          <a:spcPct val="150000"/>
                        </a:lnSpc>
                        <a:buFont typeface="Arial" panose="020B0604020202020204" pitchFamily="34" charset="0"/>
                        <a:buChar char="•"/>
                      </a:pPr>
                      <a:r>
                        <a:rPr lang="en-CN" b="0" dirty="0">
                          <a:latin typeface="Times New Roman" panose="02020603050405020304" pitchFamily="18" charset="0"/>
                          <a:cs typeface="Times New Roman" panose="02020603050405020304" pitchFamily="18" charset="0"/>
                        </a:rPr>
                        <a:t>Small degree of freedom</a:t>
                      </a:r>
                    </a:p>
                    <a:p>
                      <a:pPr marL="285750" indent="-285750" algn="l">
                        <a:lnSpc>
                          <a:spcPct val="150000"/>
                        </a:lnSpc>
                        <a:buFont typeface="Arial" panose="020B0604020202020204" pitchFamily="34" charset="0"/>
                        <a:buChar char="•"/>
                      </a:pPr>
                      <a:r>
                        <a:rPr lang="en-CN" b="0" dirty="0">
                          <a:latin typeface="Times New Roman" panose="02020603050405020304" pitchFamily="18" charset="0"/>
                          <a:cs typeface="Times New Roman" panose="02020603050405020304" pitchFamily="18" charset="0"/>
                        </a:rPr>
                        <a:t>Limited Market</a:t>
                      </a:r>
                    </a:p>
                  </a:txBody>
                  <a:tcPr/>
                </a:tc>
                <a:extLst>
                  <a:ext uri="{0D108BD9-81ED-4DB2-BD59-A6C34878D82A}">
                    <a16:rowId xmlns:a16="http://schemas.microsoft.com/office/drawing/2014/main" val="1880269949"/>
                  </a:ext>
                </a:extLst>
              </a:tr>
              <a:tr h="2496532">
                <a:tc>
                  <a:txBody>
                    <a:bodyPr/>
                    <a:lstStyle/>
                    <a:p>
                      <a:pPr marL="0" indent="0" algn="ctr">
                        <a:lnSpc>
                          <a:spcPct val="150000"/>
                        </a:lnSpc>
                        <a:buFont typeface="Arial" panose="020B0604020202020204" pitchFamily="34" charset="0"/>
                        <a:buNone/>
                      </a:pPr>
                      <a:r>
                        <a:rPr lang="en-CN" b="0" dirty="0">
                          <a:latin typeface="Times New Roman" panose="02020603050405020304" pitchFamily="18" charset="0"/>
                          <a:cs typeface="Times New Roman" panose="02020603050405020304" pitchFamily="18" charset="0"/>
                        </a:rPr>
                        <a:t>OPPORTUNITIES</a:t>
                      </a:r>
                    </a:p>
                    <a:p>
                      <a:pPr marL="285750" indent="-285750" algn="l">
                        <a:lnSpc>
                          <a:spcPct val="150000"/>
                        </a:lnSpc>
                        <a:buFont typeface="Arial" panose="020B0604020202020204" pitchFamily="34" charset="0"/>
                        <a:buChar char="•"/>
                      </a:pPr>
                      <a:r>
                        <a:rPr lang="en-CN" b="0" dirty="0">
                          <a:latin typeface="Times New Roman" panose="02020603050405020304" pitchFamily="18" charset="0"/>
                          <a:cs typeface="Times New Roman" panose="02020603050405020304" pitchFamily="18" charset="0"/>
                        </a:rPr>
                        <a:t>Experiments in different gravity</a:t>
                      </a:r>
                    </a:p>
                    <a:p>
                      <a:pPr marL="285750" indent="-285750" algn="l">
                        <a:lnSpc>
                          <a:spcPct val="150000"/>
                        </a:lnSpc>
                        <a:buFont typeface="Arial" panose="020B0604020202020204" pitchFamily="34" charset="0"/>
                        <a:buChar char="•"/>
                      </a:pPr>
                      <a:r>
                        <a:rPr lang="en-CN" b="0" dirty="0">
                          <a:latin typeface="Times New Roman" panose="02020603050405020304" pitchFamily="18" charset="0"/>
                          <a:cs typeface="Times New Roman" panose="02020603050405020304" pitchFamily="18" charset="0"/>
                        </a:rPr>
                        <a:t>Rising demand in Space Exploration</a:t>
                      </a:r>
                    </a:p>
                    <a:p>
                      <a:pPr marL="285750" indent="-285750" algn="l">
                        <a:lnSpc>
                          <a:spcPct val="150000"/>
                        </a:lnSpc>
                        <a:buFont typeface="Arial" panose="020B0604020202020204" pitchFamily="34" charset="0"/>
                        <a:buChar char="•"/>
                      </a:pPr>
                      <a:r>
                        <a:rPr lang="en-CN" b="0" dirty="0">
                          <a:latin typeface="Times New Roman" panose="02020603050405020304" pitchFamily="18" charset="0"/>
                          <a:cs typeface="Times New Roman" panose="02020603050405020304" pitchFamily="18" charset="0"/>
                        </a:rPr>
                        <a:t>Partnerships with Space companies / Agencies</a:t>
                      </a:r>
                    </a:p>
                    <a:p>
                      <a:pPr marL="285750" indent="-285750" algn="l">
                        <a:lnSpc>
                          <a:spcPct val="150000"/>
                        </a:lnSpc>
                        <a:buFont typeface="Arial" panose="020B0604020202020204" pitchFamily="34" charset="0"/>
                        <a:buChar char="•"/>
                      </a:pPr>
                      <a:endParaRPr lang="en-CN" b="0" dirty="0">
                        <a:latin typeface="Times New Roman" panose="02020603050405020304" pitchFamily="18" charset="0"/>
                        <a:cs typeface="Times New Roman" panose="02020603050405020304" pitchFamily="18" charset="0"/>
                      </a:endParaRPr>
                    </a:p>
                  </a:txBody>
                  <a:tcPr/>
                </a:tc>
                <a:tc>
                  <a:txBody>
                    <a:bodyPr/>
                    <a:lstStyle/>
                    <a:p>
                      <a:pPr marL="0" indent="0" algn="ctr">
                        <a:lnSpc>
                          <a:spcPct val="150000"/>
                        </a:lnSpc>
                        <a:buFont typeface="Arial" panose="020B0604020202020204" pitchFamily="34" charset="0"/>
                        <a:buNone/>
                      </a:pPr>
                      <a:r>
                        <a:rPr lang="en-CN" b="0" dirty="0">
                          <a:latin typeface="Times New Roman" panose="02020603050405020304" pitchFamily="18" charset="0"/>
                          <a:cs typeface="Times New Roman" panose="02020603050405020304" pitchFamily="18" charset="0"/>
                        </a:rPr>
                        <a:t>THREATS</a:t>
                      </a:r>
                    </a:p>
                    <a:p>
                      <a:pPr marL="285750" indent="-285750" algn="l">
                        <a:lnSpc>
                          <a:spcPct val="150000"/>
                        </a:lnSpc>
                        <a:buFont typeface="Arial" panose="020B0604020202020204" pitchFamily="34" charset="0"/>
                        <a:buChar char="•"/>
                      </a:pPr>
                      <a:r>
                        <a:rPr lang="en-CN" b="0" dirty="0">
                          <a:latin typeface="Times New Roman" panose="02020603050405020304" pitchFamily="18" charset="0"/>
                          <a:cs typeface="Times New Roman" panose="02020603050405020304" pitchFamily="18" charset="0"/>
                        </a:rPr>
                        <a:t>Competition from other robot designs</a:t>
                      </a:r>
                    </a:p>
                    <a:p>
                      <a:pPr marL="285750" indent="-285750" algn="l">
                        <a:lnSpc>
                          <a:spcPct val="150000"/>
                        </a:lnSpc>
                        <a:buFont typeface="Arial" panose="020B0604020202020204" pitchFamily="34" charset="0"/>
                        <a:buChar char="•"/>
                      </a:pPr>
                      <a:r>
                        <a:rPr lang="en-CN" b="0" dirty="0">
                          <a:latin typeface="Times New Roman" panose="02020603050405020304" pitchFamily="18" charset="0"/>
                          <a:cs typeface="Times New Roman" panose="02020603050405020304" pitchFamily="18" charset="0"/>
                        </a:rPr>
                        <a:t>Funding and Market Uncertainty</a:t>
                      </a:r>
                    </a:p>
                  </a:txBody>
                  <a:tcPr/>
                </a:tc>
                <a:extLst>
                  <a:ext uri="{0D108BD9-81ED-4DB2-BD59-A6C34878D82A}">
                    <a16:rowId xmlns:a16="http://schemas.microsoft.com/office/drawing/2014/main" val="1115763181"/>
                  </a:ext>
                </a:extLst>
              </a:tr>
            </a:tbl>
          </a:graphicData>
        </a:graphic>
      </p:graphicFrame>
    </p:spTree>
    <p:extLst>
      <p:ext uri="{BB962C8B-B14F-4D97-AF65-F5344CB8AC3E}">
        <p14:creationId xmlns:p14="http://schemas.microsoft.com/office/powerpoint/2010/main" val="23241788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89B72-36ED-BBA6-6DEC-7183480AF8D2}"/>
              </a:ext>
            </a:extLst>
          </p:cNvPr>
          <p:cNvSpPr>
            <a:spLocks noGrp="1"/>
          </p:cNvSpPr>
          <p:nvPr>
            <p:ph type="title"/>
          </p:nvPr>
        </p:nvSpPr>
        <p:spPr>
          <a:xfrm>
            <a:off x="640790" y="214745"/>
            <a:ext cx="5793475" cy="1485900"/>
          </a:xfrm>
        </p:spPr>
        <p:txBody>
          <a:bodyPr vert="horz" lIns="91440" tIns="45720" rIns="91440" bIns="45720" rtlCol="0">
            <a:normAutofit/>
          </a:bodyPr>
          <a:lstStyle/>
          <a:p>
            <a:r>
              <a:rPr lang="en-US" dirty="0">
                <a:latin typeface="Times New Roman" panose="02020603050405020304" pitchFamily="18" charset="0"/>
                <a:cs typeface="Times New Roman" panose="02020603050405020304" pitchFamily="18" charset="0"/>
              </a:rPr>
              <a:t>Future Business Plans</a:t>
            </a:r>
          </a:p>
        </p:txBody>
      </p:sp>
      <p:sp>
        <p:nvSpPr>
          <p:cNvPr id="11" name="Content Placeholder 3">
            <a:extLst>
              <a:ext uri="{FF2B5EF4-FFF2-40B4-BE49-F238E27FC236}">
                <a16:creationId xmlns:a16="http://schemas.microsoft.com/office/drawing/2014/main" id="{03499FA2-C999-8DF8-B097-8C9DE181B3C5}"/>
              </a:ext>
            </a:extLst>
          </p:cNvPr>
          <p:cNvSpPr>
            <a:spLocks noGrp="1"/>
          </p:cNvSpPr>
          <p:nvPr>
            <p:ph idx="1"/>
          </p:nvPr>
        </p:nvSpPr>
        <p:spPr>
          <a:xfrm>
            <a:off x="903249" y="992459"/>
            <a:ext cx="6326110" cy="5241778"/>
          </a:xfrm>
        </p:spPr>
        <p:txBody>
          <a:bodyPr>
            <a:noAutofit/>
          </a:bodyPr>
          <a:lstStyle/>
          <a:p>
            <a:pPr>
              <a:lnSpc>
                <a:spcPct val="150000"/>
              </a:lnSpc>
              <a:buFont typeface="Arial" panose="020B0604020202020204" pitchFamily="34" charset="0"/>
              <a:buChar char="•"/>
            </a:pPr>
            <a:r>
              <a:rPr lang="en-CN" sz="1200" b="1" dirty="0">
                <a:latin typeface="Times New Roman" panose="02020603050405020304" pitchFamily="18" charset="0"/>
                <a:cs typeface="Times New Roman" panose="02020603050405020304" pitchFamily="18" charset="0"/>
              </a:rPr>
              <a:t>1. </a:t>
            </a:r>
            <a:r>
              <a:rPr lang="en-US" sz="1200" b="1" dirty="0">
                <a:latin typeface="Times New Roman" panose="02020603050405020304" pitchFamily="18" charset="0"/>
                <a:cs typeface="Times New Roman" panose="02020603050405020304" pitchFamily="18" charset="0"/>
              </a:rPr>
              <a:t>Branding &amp; Thought Leadership</a:t>
            </a:r>
            <a:endParaRPr lang="en-US" sz="1200" dirty="0">
              <a:latin typeface="Times New Roman" panose="02020603050405020304" pitchFamily="18" charset="0"/>
              <a:cs typeface="Times New Roman" panose="02020603050405020304" pitchFamily="18" charset="0"/>
            </a:endParaRPr>
          </a:p>
          <a:p>
            <a:pPr lvl="1">
              <a:lnSpc>
                <a:spcPct val="150000"/>
              </a:lnSpc>
              <a:buFont typeface="Arial" panose="020B0604020202020204" pitchFamily="34" charset="0"/>
              <a:buChar char="•"/>
            </a:pPr>
            <a:r>
              <a:rPr lang="en-US" sz="1200" i="0" dirty="0">
                <a:latin typeface="Times New Roman" panose="02020603050405020304" pitchFamily="18" charset="0"/>
                <a:cs typeface="Times New Roman" panose="02020603050405020304" pitchFamily="18" charset="0"/>
              </a:rPr>
              <a:t>Present at major space and robotics conferences, such as </a:t>
            </a:r>
            <a:r>
              <a:rPr lang="en-US" sz="1200" b="1" i="0" dirty="0">
                <a:latin typeface="Times New Roman" panose="02020603050405020304" pitchFamily="18" charset="0"/>
                <a:cs typeface="Times New Roman" panose="02020603050405020304" pitchFamily="18" charset="0"/>
              </a:rPr>
              <a:t>IAC (International Astronautical Congress), IEEE Robotics Conferences, and CES</a:t>
            </a:r>
            <a:r>
              <a:rPr lang="en-US" sz="1200" i="0" dirty="0">
                <a:latin typeface="Times New Roman" panose="02020603050405020304" pitchFamily="18" charset="0"/>
                <a:cs typeface="Times New Roman" panose="02020603050405020304" pitchFamily="18" charset="0"/>
              </a:rPr>
              <a:t>.</a:t>
            </a:r>
          </a:p>
          <a:p>
            <a:pPr>
              <a:lnSpc>
                <a:spcPct val="150000"/>
              </a:lnSpc>
              <a:buFont typeface="Arial" panose="020B0604020202020204" pitchFamily="34" charset="0"/>
              <a:buChar char="•"/>
            </a:pPr>
            <a:r>
              <a:rPr lang="en-CN" sz="1200" b="1" dirty="0">
                <a:latin typeface="Times New Roman" panose="02020603050405020304" pitchFamily="18" charset="0"/>
                <a:cs typeface="Times New Roman" panose="02020603050405020304" pitchFamily="18" charset="0"/>
              </a:rPr>
              <a:t>2. </a:t>
            </a:r>
            <a:r>
              <a:rPr lang="en-US" sz="1200" b="1" dirty="0">
                <a:latin typeface="Times New Roman" panose="02020603050405020304" pitchFamily="18" charset="0"/>
                <a:cs typeface="Times New Roman" panose="02020603050405020304" pitchFamily="18" charset="0"/>
              </a:rPr>
              <a:t>Pilot Programs &amp; Early Adoption</a:t>
            </a:r>
            <a:endParaRPr lang="en-US" sz="1200" dirty="0">
              <a:latin typeface="Times New Roman" panose="02020603050405020304" pitchFamily="18" charset="0"/>
              <a:cs typeface="Times New Roman" panose="02020603050405020304" pitchFamily="18" charset="0"/>
            </a:endParaRPr>
          </a:p>
          <a:p>
            <a:pPr lvl="1">
              <a:lnSpc>
                <a:spcPct val="150000"/>
              </a:lnSpc>
              <a:buFont typeface="Arial" panose="020B0604020202020204" pitchFamily="34" charset="0"/>
              <a:buChar char="•"/>
            </a:pPr>
            <a:r>
              <a:rPr lang="en-US" sz="1200" i="0" dirty="0">
                <a:latin typeface="Times New Roman" panose="02020603050405020304" pitchFamily="18" charset="0"/>
                <a:cs typeface="Times New Roman" panose="02020603050405020304" pitchFamily="18" charset="0"/>
              </a:rPr>
              <a:t>Offer </a:t>
            </a:r>
            <a:r>
              <a:rPr lang="en-US" sz="1200" b="1" i="0" dirty="0">
                <a:latin typeface="Times New Roman" panose="02020603050405020304" pitchFamily="18" charset="0"/>
                <a:cs typeface="Times New Roman" panose="02020603050405020304" pitchFamily="18" charset="0"/>
              </a:rPr>
              <a:t>limited prototypes</a:t>
            </a:r>
            <a:r>
              <a:rPr lang="en-US" sz="1200" i="0" dirty="0">
                <a:latin typeface="Times New Roman" panose="02020603050405020304" pitchFamily="18" charset="0"/>
                <a:cs typeface="Times New Roman" panose="02020603050405020304" pitchFamily="18" charset="0"/>
              </a:rPr>
              <a:t> to key stakeholders for </a:t>
            </a:r>
            <a:r>
              <a:rPr lang="en-US" sz="1200" b="1" i="0" dirty="0">
                <a:latin typeface="Times New Roman" panose="02020603050405020304" pitchFamily="18" charset="0"/>
                <a:cs typeface="Times New Roman" panose="02020603050405020304" pitchFamily="18" charset="0"/>
              </a:rPr>
              <a:t>real-world testing</a:t>
            </a:r>
            <a:r>
              <a:rPr lang="en-US" sz="1200" i="0" dirty="0">
                <a:latin typeface="Times New Roman" panose="02020603050405020304" pitchFamily="18" charset="0"/>
                <a:cs typeface="Times New Roman" panose="02020603050405020304" pitchFamily="18" charset="0"/>
              </a:rPr>
              <a:t> on robotic systems in analog space missions.</a:t>
            </a:r>
          </a:p>
          <a:p>
            <a:pPr lvl="1">
              <a:lnSpc>
                <a:spcPct val="150000"/>
              </a:lnSpc>
              <a:buFont typeface="Arial" panose="020B0604020202020204" pitchFamily="34" charset="0"/>
              <a:buChar char="•"/>
            </a:pPr>
            <a:r>
              <a:rPr lang="en-US" sz="1200" i="0" dirty="0">
                <a:latin typeface="Times New Roman" panose="02020603050405020304" pitchFamily="18" charset="0"/>
                <a:cs typeface="Times New Roman" panose="02020603050405020304" pitchFamily="18" charset="0"/>
              </a:rPr>
              <a:t>Create </a:t>
            </a:r>
            <a:r>
              <a:rPr lang="en-US" sz="1200" b="1" i="0" dirty="0">
                <a:latin typeface="Times New Roman" panose="02020603050405020304" pitchFamily="18" charset="0"/>
                <a:cs typeface="Times New Roman" panose="02020603050405020304" pitchFamily="18" charset="0"/>
              </a:rPr>
              <a:t>subscription-based licensing models</a:t>
            </a:r>
            <a:r>
              <a:rPr lang="en-US" sz="1200" i="0" dirty="0">
                <a:latin typeface="Times New Roman" panose="02020603050405020304" pitchFamily="18" charset="0"/>
                <a:cs typeface="Times New Roman" panose="02020603050405020304" pitchFamily="18" charset="0"/>
              </a:rPr>
              <a:t> for research institutions, allowing early adopters to use and refine the technology.</a:t>
            </a:r>
          </a:p>
          <a:p>
            <a:pPr>
              <a:lnSpc>
                <a:spcPct val="150000"/>
              </a:lnSpc>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Product Line Expansion:</a:t>
            </a:r>
            <a:r>
              <a:rPr lang="en-US" sz="1200" dirty="0">
                <a:latin typeface="Times New Roman" panose="02020603050405020304" pitchFamily="18" charset="0"/>
                <a:cs typeface="Times New Roman" panose="02020603050405020304" pitchFamily="18" charset="0"/>
              </a:rPr>
              <a:t> Developing specialized models to meet different customer needs.</a:t>
            </a:r>
          </a:p>
          <a:p>
            <a:pPr lvl="1">
              <a:lnSpc>
                <a:spcPct val="150000"/>
              </a:lnSpc>
              <a:buFont typeface="Arial" panose="020B0604020202020204" pitchFamily="34" charset="0"/>
              <a:buChar char="•"/>
            </a:pPr>
            <a:r>
              <a:rPr lang="en-US" sz="1200" b="1" i="0" dirty="0">
                <a:latin typeface="Times New Roman" panose="02020603050405020304" pitchFamily="18" charset="0"/>
                <a:cs typeface="Times New Roman" panose="02020603050405020304" pitchFamily="18" charset="0"/>
              </a:rPr>
              <a:t>High-Performance Model:</a:t>
            </a:r>
            <a:r>
              <a:rPr lang="en-US" sz="1200" i="0" dirty="0">
                <a:latin typeface="Times New Roman" panose="02020603050405020304" pitchFamily="18" charset="0"/>
                <a:cs typeface="Times New Roman" panose="02020603050405020304" pitchFamily="18" charset="0"/>
              </a:rPr>
              <a:t> Optimized for space exploration with durable, lightweight materials.</a:t>
            </a:r>
          </a:p>
          <a:p>
            <a:pPr lvl="1">
              <a:lnSpc>
                <a:spcPct val="150000"/>
              </a:lnSpc>
              <a:buFont typeface="Arial" panose="020B0604020202020204" pitchFamily="34" charset="0"/>
              <a:buChar char="•"/>
            </a:pPr>
            <a:r>
              <a:rPr lang="en-US" sz="1200" b="1" i="0" dirty="0">
                <a:latin typeface="Times New Roman" panose="02020603050405020304" pitchFamily="18" charset="0"/>
                <a:cs typeface="Times New Roman" panose="02020603050405020304" pitchFamily="18" charset="0"/>
              </a:rPr>
              <a:t>Cost-Effective Model:</a:t>
            </a:r>
            <a:r>
              <a:rPr lang="en-US" sz="1200" i="0" dirty="0">
                <a:latin typeface="Times New Roman" panose="02020603050405020304" pitchFamily="18" charset="0"/>
                <a:cs typeface="Times New Roman" panose="02020603050405020304" pitchFamily="18" charset="0"/>
              </a:rPr>
              <a:t> Affordable version for research and commercial use with standardized design.</a:t>
            </a:r>
          </a:p>
          <a:p>
            <a:pPr lvl="1">
              <a:lnSpc>
                <a:spcPct val="150000"/>
              </a:lnSpc>
              <a:buFont typeface="Arial" panose="020B0604020202020204" pitchFamily="34" charset="0"/>
              <a:buChar char="•"/>
            </a:pPr>
            <a:r>
              <a:rPr lang="en-US" sz="1200" b="1" i="0" dirty="0">
                <a:latin typeface="Times New Roman" panose="02020603050405020304" pitchFamily="18" charset="0"/>
                <a:cs typeface="Times New Roman" panose="02020603050405020304" pitchFamily="18" charset="0"/>
              </a:rPr>
              <a:t>Sustainable Model:</a:t>
            </a:r>
            <a:r>
              <a:rPr lang="en-US" sz="1200" i="0" dirty="0">
                <a:latin typeface="Times New Roman" panose="02020603050405020304" pitchFamily="18" charset="0"/>
                <a:cs typeface="Times New Roman" panose="02020603050405020304" pitchFamily="18" charset="0"/>
              </a:rPr>
              <a:t> Made with eco-friendly materials and low-emission manufacturing.</a:t>
            </a:r>
          </a:p>
          <a:p>
            <a:pPr marL="530352" lvl="1" indent="0">
              <a:lnSpc>
                <a:spcPct val="150000"/>
              </a:lnSpc>
              <a:buNone/>
            </a:pPr>
            <a:endParaRPr lang="en-US" sz="1200" i="0" dirty="0">
              <a:latin typeface="Times New Roman" panose="02020603050405020304" pitchFamily="18" charset="0"/>
              <a:cs typeface="Times New Roman" panose="02020603050405020304" pitchFamily="18" charset="0"/>
            </a:endParaRPr>
          </a:p>
        </p:txBody>
      </p:sp>
      <p:pic>
        <p:nvPicPr>
          <p:cNvPr id="14" name="Picture 13" descr="Metal pendulum">
            <a:extLst>
              <a:ext uri="{FF2B5EF4-FFF2-40B4-BE49-F238E27FC236}">
                <a16:creationId xmlns:a16="http://schemas.microsoft.com/office/drawing/2014/main" id="{DED4694A-E240-867D-B3C0-652CE0ECD364}"/>
              </a:ext>
            </a:extLst>
          </p:cNvPr>
          <p:cNvPicPr>
            <a:picLocks noChangeAspect="1"/>
          </p:cNvPicPr>
          <p:nvPr/>
        </p:nvPicPr>
        <p:blipFill>
          <a:blip r:embed="rId2"/>
          <a:srcRect l="33338" r="24925"/>
          <a:stretch/>
        </p:blipFill>
        <p:spPr>
          <a:xfrm>
            <a:off x="7612260" y="10"/>
            <a:ext cx="4579739" cy="6857990"/>
          </a:xfrm>
          <a:prstGeom prst="rect">
            <a:avLst/>
          </a:prstGeom>
        </p:spPr>
      </p:pic>
    </p:spTree>
    <p:extLst>
      <p:ext uri="{BB962C8B-B14F-4D97-AF65-F5344CB8AC3E}">
        <p14:creationId xmlns:p14="http://schemas.microsoft.com/office/powerpoint/2010/main" val="30413043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89B72-36ED-BBA6-6DEC-7183480AF8D2}"/>
              </a:ext>
            </a:extLst>
          </p:cNvPr>
          <p:cNvSpPr>
            <a:spLocks noGrp="1"/>
          </p:cNvSpPr>
          <p:nvPr>
            <p:ph type="title"/>
          </p:nvPr>
        </p:nvSpPr>
        <p:spPr>
          <a:xfrm>
            <a:off x="914399" y="225896"/>
            <a:ext cx="5793475" cy="1485900"/>
          </a:xfrm>
        </p:spPr>
        <p:txBody>
          <a:bodyPr vert="horz" lIns="91440" tIns="45720" rIns="91440" bIns="45720" rtlCol="0">
            <a:normAutofit/>
          </a:bodyPr>
          <a:lstStyle/>
          <a:p>
            <a:r>
              <a:rPr lang="en-US" dirty="0">
                <a:latin typeface="Times New Roman" panose="02020603050405020304" pitchFamily="18" charset="0"/>
                <a:cs typeface="Times New Roman" panose="02020603050405020304" pitchFamily="18" charset="0"/>
              </a:rPr>
              <a:t>Future Business Plans</a:t>
            </a:r>
          </a:p>
        </p:txBody>
      </p:sp>
      <p:sp>
        <p:nvSpPr>
          <p:cNvPr id="11" name="Content Placeholder 3">
            <a:extLst>
              <a:ext uri="{FF2B5EF4-FFF2-40B4-BE49-F238E27FC236}">
                <a16:creationId xmlns:a16="http://schemas.microsoft.com/office/drawing/2014/main" id="{03499FA2-C999-8DF8-B097-8C9DE181B3C5}"/>
              </a:ext>
            </a:extLst>
          </p:cNvPr>
          <p:cNvSpPr>
            <a:spLocks noGrp="1"/>
          </p:cNvSpPr>
          <p:nvPr>
            <p:ph idx="1"/>
          </p:nvPr>
        </p:nvSpPr>
        <p:spPr>
          <a:xfrm>
            <a:off x="914399" y="1115123"/>
            <a:ext cx="10359483" cy="6594720"/>
          </a:xfrm>
        </p:spPr>
        <p:txBody>
          <a:bodyPr>
            <a:noAutofit/>
          </a:bodyPr>
          <a:lstStyle/>
          <a:p>
            <a:pPr>
              <a:lnSpc>
                <a:spcPct val="100000"/>
              </a:lnSpc>
              <a:buFont typeface="Arial" panose="020B0604020202020204" pitchFamily="34" charset="0"/>
              <a:buChar char="•"/>
            </a:pPr>
            <a:r>
              <a:rPr lang="en-US" b="1" i="1" dirty="0"/>
              <a:t>Branding &amp; Thought Leadership</a:t>
            </a:r>
            <a:br>
              <a:rPr lang="en-US" dirty="0"/>
            </a:br>
            <a:r>
              <a:rPr lang="en-US" dirty="0"/>
              <a:t>Present at major conferences such as IAC (International Astronautical Congress), IEEE Robotics Conferences, and CES to showcase our technology and establish credibility.</a:t>
            </a:r>
          </a:p>
          <a:p>
            <a:pPr>
              <a:lnSpc>
                <a:spcPct val="100000"/>
              </a:lnSpc>
              <a:buFont typeface="Arial" panose="020B0604020202020204" pitchFamily="34" charset="0"/>
              <a:buChar char="•"/>
            </a:pPr>
            <a:r>
              <a:rPr lang="en-US" b="1" i="1" dirty="0"/>
              <a:t>Pilot Programs &amp; Early Adoption</a:t>
            </a:r>
            <a:br>
              <a:rPr lang="en-US" i="1" dirty="0"/>
            </a:br>
            <a:r>
              <a:rPr lang="en-US" dirty="0"/>
              <a:t>Offer limited prototypes to key stakeholders for real-world testing in analog space missions. Develop a subscription-based licensing model for research institutions, allowing early adopters to use and refine the technology.</a:t>
            </a:r>
          </a:p>
          <a:p>
            <a:pPr>
              <a:lnSpc>
                <a:spcPct val="100000"/>
              </a:lnSpc>
              <a:buFont typeface="Arial" panose="020B0604020202020204" pitchFamily="34" charset="0"/>
              <a:buChar char="•"/>
            </a:pPr>
            <a:r>
              <a:rPr lang="en-US" b="1" i="1" dirty="0"/>
              <a:t>Product Line Expansion</a:t>
            </a:r>
            <a:endParaRPr lang="en-US" i="1" dirty="0"/>
          </a:p>
          <a:p>
            <a:pPr lvl="1">
              <a:lnSpc>
                <a:spcPct val="100000"/>
              </a:lnSpc>
              <a:buFont typeface="Arial" panose="020B0604020202020204" pitchFamily="34" charset="0"/>
              <a:buChar char="•"/>
            </a:pPr>
            <a:r>
              <a:rPr lang="en-US" b="1" dirty="0"/>
              <a:t>High-Performance Model:</a:t>
            </a:r>
            <a:r>
              <a:rPr lang="en-US" dirty="0"/>
              <a:t> Built with durable, lightweight materials for space exploration.</a:t>
            </a:r>
          </a:p>
          <a:p>
            <a:pPr lvl="1">
              <a:lnSpc>
                <a:spcPct val="100000"/>
              </a:lnSpc>
              <a:buFont typeface="Arial" panose="020B0604020202020204" pitchFamily="34" charset="0"/>
              <a:buChar char="•"/>
            </a:pPr>
            <a:r>
              <a:rPr lang="en-US" b="1" dirty="0"/>
              <a:t>Cost-Effective Model:</a:t>
            </a:r>
            <a:r>
              <a:rPr lang="en-US" dirty="0"/>
              <a:t> Standardized design for affordability in research and commercial use.</a:t>
            </a:r>
          </a:p>
          <a:p>
            <a:pPr lvl="1">
              <a:lnSpc>
                <a:spcPct val="100000"/>
              </a:lnSpc>
              <a:buFont typeface="Arial" panose="020B0604020202020204" pitchFamily="34" charset="0"/>
              <a:buChar char="•"/>
            </a:pPr>
            <a:r>
              <a:rPr lang="en-US" b="1" dirty="0"/>
              <a:t>Sustainable Model:</a:t>
            </a:r>
            <a:r>
              <a:rPr lang="en-US" dirty="0"/>
              <a:t> Uses eco-friendly materials and low-emission manufacturing.</a:t>
            </a:r>
          </a:p>
        </p:txBody>
      </p:sp>
    </p:spTree>
    <p:extLst>
      <p:ext uri="{BB962C8B-B14F-4D97-AF65-F5344CB8AC3E}">
        <p14:creationId xmlns:p14="http://schemas.microsoft.com/office/powerpoint/2010/main" val="1000962178"/>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{D7266DEF-B306-F248-B2C7-F955E1044753}tf10001072</Template>
  <TotalTime>3319</TotalTime>
  <Words>1113</Words>
  <Application>Microsoft Macintosh PowerPoint</Application>
  <PresentationFormat>Widescreen</PresentationFormat>
  <Paragraphs>174</Paragraphs>
  <Slides>16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Arial</vt:lpstr>
      <vt:lpstr>Franklin Gothic Book</vt:lpstr>
      <vt:lpstr>Times New Roman</vt:lpstr>
      <vt:lpstr>Crop</vt:lpstr>
      <vt:lpstr>A Two DoF Self Adaptive Bionic Ankle</vt:lpstr>
      <vt:lpstr>Space Exploration</vt:lpstr>
      <vt:lpstr>Background Signficance and Proposal</vt:lpstr>
      <vt:lpstr>Why Human Ankle?</vt:lpstr>
      <vt:lpstr>Innovation and Challenges</vt:lpstr>
      <vt:lpstr>Structural Design</vt:lpstr>
      <vt:lpstr>Software Programming</vt:lpstr>
      <vt:lpstr>First and Second Model</vt:lpstr>
      <vt:lpstr>Maximum Angle and Self-adaptive Experiments</vt:lpstr>
      <vt:lpstr>Future Improvements</vt:lpstr>
      <vt:lpstr>Market and Target Customers</vt:lpstr>
      <vt:lpstr>Financial modeling</vt:lpstr>
      <vt:lpstr>Business Model</vt:lpstr>
      <vt:lpstr>SWOT ANALYSIS</vt:lpstr>
      <vt:lpstr>Future Business Plans</vt:lpstr>
      <vt:lpstr>Future Business Plans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Two DoF Self Adaptive Bionic Ankle</dc:title>
  <dc:creator>Zhaohua Guo</dc:creator>
  <cp:lastModifiedBy>Zhaohua Guo</cp:lastModifiedBy>
  <cp:revision>49</cp:revision>
  <dcterms:created xsi:type="dcterms:W3CDTF">2024-08-10T03:12:19Z</dcterms:created>
  <dcterms:modified xsi:type="dcterms:W3CDTF">2025-03-26T13:31:09Z</dcterms:modified>
</cp:coreProperties>
</file>